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_ti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731520"/>
            <a:ext cx="5303520" cy="53949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731520"/>
            <a:ext cx="5120640" cy="5394960"/>
          </a:xfrm>
          <a:prstGeom prst="roundRect">
            <a:avLst/>
          </a:prstGeom>
          <a:solidFill>
            <a:srgbClr val="121826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6B900"/>
                </a:solidFill>
              </a:defRPr>
            </a:pPr>
            <a:r>
              <a:t>ТЕХНОЛОГІЇ ВЕБРОЗРОБКИ ТА ДИЗАЙНУ · КАФЕДРА САПР</a:t>
            </a:r>
          </a:p>
          <a:p>
            <a:br/>
            <a:pPr>
              <a:defRPr sz="3600" b="1">
                <a:solidFill>
                  <a:srgbClr val="76B900"/>
                </a:solidFill>
              </a:defRPr>
            </a:pPr>
            <a:r>
              <a:t>NVIDIA DLSS 5: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3D-Guided Neural Rendering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Прорив нейронного світла та жовтневе оновлення продуктивності 2026 року</a:t>
            </a:r>
          </a:p>
          <a:p>
            <a:br/>
            <a:br/>
            <a:pPr>
              <a:defRPr sz="1400" b="1">
                <a:solidFill>
                  <a:srgbClr val="FFFFFF"/>
                </a:solidFill>
              </a:defRPr>
            </a:pPr>
            <a:r>
              <a:t>Доповідач: Лемішка Андрій (ПП-24)</a:t>
            </a:r>
          </a:p>
          <a:p>
            <a:pPr>
              <a:defRPr sz="1100">
                <a:solidFill>
                  <a:srgbClr val="22D3EE"/>
                </a:solidFill>
              </a:defRPr>
            </a:pPr>
            <a:r>
              <a:t>Національний університет «Львівська політехніка»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9184"/>
          </a:xfrm>
          <a:prstGeom prst="roundRect">
            <a:avLst/>
          </a:prstGeom>
          <a:solidFill>
            <a:srgbClr val="14240C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76B900"/>
                </a:solidFill>
                <a:latin typeface="Arial"/>
              </a:defRPr>
            </a:pPr>
            <a:r>
              <a:t>●  ВСТУПНИЙ КОНТЕКСТ   |   СЛАЙД 02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Еволюція технології за 8 років: від простого масштабування до нейронного світла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572000"/>
          </a:xfrm>
          <a:prstGeom prst="roundRect">
            <a:avLst/>
          </a:prstGeom>
          <a:solidFill>
            <a:srgbClr val="121826"/>
          </a:solidFill>
          <a:ln>
            <a:solidFill>
              <a:srgbClr val="22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9CA3AF"/>
                </a:solidFill>
              </a:defRPr>
            </a:pPr>
            <a:r>
              <a:t>2018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DLSS 1.0</a:t>
            </a:r>
          </a:p>
          <a:p>
            <a:pPr>
              <a:defRPr sz="1200" b="1">
                <a:solidFill>
                  <a:srgbClr val="76B900"/>
                </a:solidFill>
              </a:defRPr>
            </a:pPr>
            <a:r>
              <a:t>Окремі моделі</a:t>
            </a:r>
          </a:p>
          <a:p>
            <a:br/>
            <a:pPr>
              <a:defRPr sz="1100">
                <a:solidFill>
                  <a:srgbClr val="D1D5DB"/>
                </a:solidFill>
              </a:defRPr>
            </a:pPr>
            <a:r>
              <a:t>Тренування для кожної гри окремо. Відсутність історії кадрів, часті артефакти й мило.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60320" cy="4572000"/>
          </a:xfrm>
          <a:prstGeom prst="roundRect">
            <a:avLst/>
          </a:prstGeom>
          <a:solidFill>
            <a:srgbClr val="121826"/>
          </a:solidFill>
          <a:ln>
            <a:solidFill>
              <a:srgbClr val="22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9CA3AF"/>
                </a:solidFill>
              </a:defRPr>
            </a:pPr>
            <a:r>
              <a:t>2020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DLSS 2.0</a:t>
            </a:r>
          </a:p>
          <a:p>
            <a:pPr>
              <a:defRPr sz="1200" b="1">
                <a:solidFill>
                  <a:srgbClr val="76B900"/>
                </a:solidFill>
              </a:defRPr>
            </a:pPr>
            <a:r>
              <a:t>Super Resolution</a:t>
            </a:r>
          </a:p>
          <a:p>
            <a:br/>
            <a:pPr>
              <a:defRPr sz="1100">
                <a:solidFill>
                  <a:srgbClr val="D1D5DB"/>
                </a:solidFill>
              </a:defRPr>
            </a:pPr>
            <a:r>
              <a:t>Просторово-часова історія (Temporal) + вектори руху. Домальовує 4K із 1080p у 4 рази швидше.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560320" cy="4572000"/>
          </a:xfrm>
          <a:prstGeom prst="roundRect">
            <a:avLst/>
          </a:prstGeom>
          <a:solidFill>
            <a:srgbClr val="121826"/>
          </a:solidFill>
          <a:ln>
            <a:solidFill>
              <a:srgbClr val="22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9CA3AF"/>
                </a:solidFill>
              </a:defRPr>
            </a:pPr>
            <a:r>
              <a:t>2022–25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DLSS 3 &amp; 4</a:t>
            </a:r>
          </a:p>
          <a:p>
            <a:pPr>
              <a:defRPr sz="1200" b="1">
                <a:solidFill>
                  <a:srgbClr val="76B900"/>
                </a:solidFill>
              </a:defRPr>
            </a:pPr>
            <a:r>
              <a:t>Frame Generation</a:t>
            </a:r>
          </a:p>
          <a:p>
            <a:br/>
            <a:pPr>
              <a:defRPr sz="1100">
                <a:solidFill>
                  <a:srgbClr val="D1D5DB"/>
                </a:solidFill>
              </a:defRPr>
            </a:pPr>
            <a:r>
              <a:t>ШІ генерує проміжні штучні кадри за допомогою Optical Flow. Множники плавності 2x та 4x MFG.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645920"/>
            <a:ext cx="2560320" cy="4572000"/>
          </a:xfrm>
          <a:prstGeom prst="roundRect">
            <a:avLst/>
          </a:prstGeom>
          <a:solidFill>
            <a:srgbClr val="121826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76B900"/>
                </a:solidFill>
              </a:defRPr>
            </a:pPr>
            <a:r>
              <a:t>Жовтень 2026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DLSS 5</a:t>
            </a:r>
          </a:p>
          <a:p>
            <a:pPr>
              <a:defRPr sz="1200" b="1">
                <a:solidFill>
                  <a:srgbClr val="22D3EE"/>
                </a:solidFill>
              </a:defRPr>
            </a:pPr>
            <a:r>
              <a:t>Neural Rendering</a:t>
            </a:r>
          </a:p>
          <a:p>
            <a:br/>
            <a:pPr>
              <a:defRPr sz="1100">
                <a:solidFill>
                  <a:srgbClr val="D1D5DB"/>
                </a:solidFill>
              </a:defRPr>
            </a:pPr>
            <a:r>
              <a:t>ШІ прораховує світло та матеріали замість Path Tracing. Жовтневий стрибок швидкості у 2 рази.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9184"/>
          </a:xfrm>
          <a:prstGeom prst="roundRect">
            <a:avLst/>
          </a:prstGeom>
          <a:solidFill>
            <a:srgbClr val="14240C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76B900"/>
                </a:solidFill>
                <a:latin typeface="Arial"/>
              </a:defRPr>
            </a:pPr>
            <a:r>
              <a:t>●  РЕГЛАМЕНТ: ПУНКТ 1   |   СЛАЙД 03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1. Мета новинки: навіщо створено DLSS 5</a:t>
            </a:r>
          </a:p>
        </p:txBody>
      </p:sp>
      <p:pic>
        <p:nvPicPr>
          <p:cNvPr id="5" name="Picture 4" descr="pipeline_drag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26480" y="1645920"/>
            <a:ext cx="5303520" cy="4480560"/>
          </a:xfrm>
          <a:prstGeom prst="roundRect">
            <a:avLst/>
          </a:prstGeom>
          <a:solidFill>
            <a:srgbClr val="121826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76B900"/>
                </a:solidFill>
              </a:defRPr>
            </a:pPr>
            <a:r>
              <a:t>🎯 ГОЛОВНА МЕТА РОЗРОБКИ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Заміна математичного Path Tracing генеративним ШІ світла</a:t>
            </a:r>
          </a:p>
          <a:p>
            <a:br/>
            <a:pPr>
              <a:defRPr sz="1200" b="1">
                <a:solidFill>
                  <a:srgbClr val="22D3EE"/>
                </a:solidFill>
              </a:defRPr>
            </a:pPr>
            <a:r>
              <a:t>✦ Подолання обчислювального бар'єру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Чесне трасування мільярдів променів світла фізично неможливе в 4K при 60 FPS навіть на найкращому залізі.</a:t>
            </a:r>
          </a:p>
          <a:p>
            <a:br/>
            <a:pPr>
              <a:defRPr sz="1200" b="1">
                <a:solidFill>
                  <a:srgbClr val="22D3EE"/>
                </a:solidFill>
              </a:defRPr>
            </a:pPr>
            <a:r>
              <a:t>✦ Від математики до інтелекту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Замість прорахунку траєкторії кожного фотона, нейромережа генерує фотореалістичний стан світла на основі навчених фізичних патернів.</a:t>
            </a:r>
          </a:p>
          <a:p>
            <a:br/>
            <a:pPr>
              <a:defRPr sz="1200" b="1">
                <a:solidFill>
                  <a:srgbClr val="22D3EE"/>
                </a:solidFill>
              </a:defRPr>
            </a:pPr>
            <a:r>
              <a:t>✦ Збереження інтерактивності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Досягти кінематографічного рівня фільмів Pixar у реальному часі без затримок відгуку.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9184"/>
          </a:xfrm>
          <a:prstGeom prst="roundRect">
            <a:avLst/>
          </a:prstGeom>
          <a:solidFill>
            <a:srgbClr val="14240C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76B900"/>
                </a:solidFill>
                <a:latin typeface="Arial"/>
              </a:defRPr>
            </a:pPr>
            <a:r>
              <a:t>●  РЕГЛАМЕНТ: ПУНКТ 2   |   СЛАЙД 04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2. Актуальність розробки: виклики сучасного рендерингу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480560"/>
          </a:xfrm>
          <a:prstGeom prst="roundRect">
            <a:avLst/>
          </a:prstGeom>
          <a:solidFill>
            <a:srgbClr val="121826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⏱️ Виклик 16,7 мілісекунди</a:t>
            </a:r>
          </a:p>
          <a:p>
            <a:pPr>
              <a:defRPr sz="1100" b="1">
                <a:solidFill>
                  <a:srgbClr val="76B900"/>
                </a:solidFill>
              </a:defRPr>
            </a:pPr>
            <a:r>
              <a:t>Часовий ліміт для 60 FPS</a:t>
            </a:r>
          </a:p>
          <a:p>
            <a:br/>
            <a:pPr>
              <a:defRPr sz="1150">
                <a:solidFill>
                  <a:srgbClr val="D1D5DB"/>
                </a:solidFill>
              </a:defRPr>
            </a:pPr>
            <a:r>
              <a:t>Для плавності в 60 FPS на повний конвеєр є 16,7 мс. У нативному 4K потрібно щомиті рахувати 8,3 мільйона пікселів. Відеокарта задихається без ШІ.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474720" cy="4480560"/>
          </a:xfrm>
          <a:prstGeom prst="roundRect">
            <a:avLst/>
          </a:prstGeom>
          <a:solidFill>
            <a:srgbClr val="121826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⚡ Глухий кут кремнію</a:t>
            </a:r>
          </a:p>
          <a:p>
            <a:pPr>
              <a:defRPr sz="1100" b="1">
                <a:solidFill>
                  <a:srgbClr val="76B900"/>
                </a:solidFill>
              </a:defRPr>
            </a:pPr>
            <a:r>
              <a:t>Сповільнення закону Мура</a:t>
            </a:r>
          </a:p>
          <a:p>
            <a:br/>
            <a:pPr>
              <a:defRPr sz="1150">
                <a:solidFill>
                  <a:srgbClr val="D1D5DB"/>
                </a:solidFill>
              </a:defRPr>
            </a:pPr>
            <a:r>
              <a:t>Неможливо безкінечно збільшувати кількість транзисторів: сучасні флагмани вже споживають по 500-600 Вт і виділяють шалене тепло. Потрібен архітектурний стрибок.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645920"/>
            <a:ext cx="3474720" cy="4480560"/>
          </a:xfrm>
          <a:prstGeom prst="roundRect">
            <a:avLst/>
          </a:prstGeom>
          <a:solidFill>
            <a:srgbClr val="121826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🎭 Проблема «воскової шкіри»</a:t>
            </a:r>
          </a:p>
          <a:p>
            <a:pPr>
              <a:defRPr sz="1100" b="1">
                <a:solidFill>
                  <a:srgbClr val="76B900"/>
                </a:solidFill>
              </a:defRPr>
            </a:pPr>
            <a:r>
              <a:t>Межі класичних шейдерів</a:t>
            </a:r>
          </a:p>
          <a:p>
            <a:br/>
            <a:pPr>
              <a:defRPr sz="1150">
                <a:solidFill>
                  <a:srgbClr val="D1D5DB"/>
                </a:solidFill>
              </a:defRPr>
            </a:pPr>
            <a:r>
              <a:t>Звичайні растеризатори не вміють реалістично симулювати проникнення світла під шкіру людини. Персонажі виглядали як пластикові манекени без життя.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9184"/>
          </a:xfrm>
          <a:prstGeom prst="roundRect">
            <a:avLst/>
          </a:prstGeom>
          <a:solidFill>
            <a:srgbClr val="14240C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76B900"/>
                </a:solidFill>
                <a:latin typeface="Arial"/>
              </a:defRPr>
            </a:pPr>
            <a:r>
              <a:t>●  АРХІТЕКТУРА ТЕХНОЛОГІЇ   |   СЛАЙД 05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Конвеєр DLSS 5: 3D-буфери рушія та нейронний синтез світла</a:t>
            </a:r>
          </a:p>
        </p:txBody>
      </p:sp>
      <p:pic>
        <p:nvPicPr>
          <p:cNvPr id="5" name="Picture 4" descr="image-8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698480" cy="2377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206240"/>
            <a:ext cx="3474720" cy="2011680"/>
          </a:xfrm>
          <a:prstGeom prst="roundRect">
            <a:avLst/>
          </a:prstGeom>
          <a:solidFill>
            <a:srgbClr val="121826"/>
          </a:solidFill>
          <a:ln>
            <a:solidFill>
              <a:srgbClr val="22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76B900"/>
                </a:solidFill>
              </a:defRPr>
            </a:pPr>
            <a:r>
              <a:t>1. 3D-контекст рушія</a:t>
            </a:r>
          </a:p>
          <a:p>
            <a:pPr>
              <a:defRPr sz="1050">
                <a:solidFill>
                  <a:srgbClr val="D1D5DB"/>
                </a:solidFill>
              </a:defRPr>
            </a:pPr>
            <a:r>
              <a:t>Гра передає буфери глибини (Depth), нормалей поверхонь та вектори руху. ШІ знає просторове розташування кожного пікселя.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4206240"/>
            <a:ext cx="3474720" cy="2011680"/>
          </a:xfrm>
          <a:prstGeom prst="roundRect">
            <a:avLst/>
          </a:prstGeom>
          <a:solidFill>
            <a:srgbClr val="121826"/>
          </a:solidFill>
          <a:ln>
            <a:solidFill>
              <a:srgbClr val="22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76B900"/>
                </a:solidFill>
              </a:defRPr>
            </a:pPr>
            <a:r>
              <a:t>2. Семантична сегментація</a:t>
            </a:r>
          </a:p>
          <a:p>
            <a:pPr>
              <a:defRPr sz="1050">
                <a:solidFill>
                  <a:srgbClr val="D1D5DB"/>
                </a:solidFill>
              </a:defRPr>
            </a:pPr>
            <a:r>
              <a:t>Модель розпізнає матеріали: біологічні тканини (шкіру), тканину одягу, скло, волосся та тип джерела світла.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4206240"/>
            <a:ext cx="3474720" cy="2011680"/>
          </a:xfrm>
          <a:prstGeom prst="roundRect">
            <a:avLst/>
          </a:prstGeom>
          <a:solidFill>
            <a:srgbClr val="121826"/>
          </a:solidFill>
          <a:ln>
            <a:solidFill>
              <a:srgbClr val="22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76B900"/>
                </a:solidFill>
              </a:defRPr>
            </a:pPr>
            <a:r>
              <a:t>3. Творчий контроль</a:t>
            </a:r>
          </a:p>
          <a:p>
            <a:pPr>
              <a:defRPr sz="1050">
                <a:solidFill>
                  <a:srgbClr val="D1D5DB"/>
                </a:solidFill>
              </a:defRPr>
            </a:pPr>
            <a:r>
              <a:t>Розробники керують параметрами Structure, Tone Intensity та масками, зберігаючи задум режисера.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9184"/>
          </a:xfrm>
          <a:prstGeom prst="roundRect">
            <a:avLst/>
          </a:prstGeom>
          <a:solidFill>
            <a:srgbClr val="14240C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76B900"/>
                </a:solidFill>
                <a:latin typeface="Arial"/>
              </a:defRPr>
            </a:pPr>
            <a:r>
              <a:t>●  ВІЗУАЛЬНЕ ПОРІВНЯННЯ   |   СЛАЙД 06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Subsurface Scattering: як DLSS 5 оживляє персонажів</a:t>
            </a:r>
          </a:p>
        </p:txBody>
      </p:sp>
      <p:pic>
        <p:nvPicPr>
          <p:cNvPr id="5" name="Picture 4" descr="dlss5_neural_sk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943600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49440" y="1645920"/>
            <a:ext cx="4480560" cy="4480560"/>
          </a:xfrm>
          <a:prstGeom prst="roundRect">
            <a:avLst/>
          </a:prstGeom>
          <a:solidFill>
            <a:srgbClr val="121826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76B900"/>
                </a:solidFill>
              </a:defRPr>
            </a:pPr>
            <a:r>
              <a:t>ЩО ЗМІНЮЄ НЕЙРОННЕ СВІТЛО:</a:t>
            </a:r>
          </a:p>
          <a:p>
            <a:br/>
            <a:pPr>
              <a:defRPr sz="1150" b="1">
                <a:solidFill>
                  <a:srgbClr val="FFFFFF"/>
                </a:solidFill>
              </a:defRPr>
            </a:pPr>
            <a:r>
              <a:t>✦ Жива шкіра (Subsurface Scattering)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Світло проникає крізь епідерміс і розсіюється зсередини. Обличчя втрачає восковий блиск, видно природний тон і мікротіні.</a:t>
            </a:r>
          </a:p>
          <a:p>
            <a:br/>
            <a:pPr>
              <a:defRPr sz="1150" b="1">
                <a:solidFill>
                  <a:srgbClr val="FFFFFF"/>
                </a:solidFill>
              </a:defRPr>
            </a:pPr>
            <a:r>
              <a:t>✦ Волосся та вії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ШІ формує індивідуальні відблиски на окремих пасмах замість однорідної пласкої плашки шейдера.</a:t>
            </a:r>
          </a:p>
          <a:p>
            <a:br/>
            <a:pPr>
              <a:defRPr sz="1150" b="1">
                <a:solidFill>
                  <a:srgbClr val="FFFFFF"/>
                </a:solidFill>
              </a:defRPr>
            </a:pPr>
            <a:r>
              <a:t>✦ Тканини та шовк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Фізично точний відблиск і матовість матеріалів одягу залежно від кута падіння променя.</a:t>
            </a:r>
          </a:p>
          <a:p>
            <a:br/>
            <a:pPr>
              <a:defRPr sz="1150" b="1">
                <a:solidFill>
                  <a:srgbClr val="FFFFFF"/>
                </a:solidFill>
              </a:defRPr>
            </a:pPr>
            <a:r>
              <a:t>✦ Незмінна 3D-геометрія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Полігональна сітка моделі не змінюється ні на міліметр — перетворюється виключно світло.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9184"/>
          </a:xfrm>
          <a:prstGeom prst="roundRect">
            <a:avLst/>
          </a:prstGeom>
          <a:solidFill>
            <a:srgbClr val="14240C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76B900"/>
                </a:solidFill>
                <a:latin typeface="Arial"/>
              </a:defRPr>
            </a:pPr>
            <a:r>
              <a:t>●  ГОЛОВНА НОВИНКА ОСЕНІ 2026   |   СЛАЙД 07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Оновлення від 16 жовтня 2026 року: подолання кризи продуктивності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822960"/>
          </a:xfrm>
          <a:prstGeom prst="roundRect">
            <a:avLst/>
          </a:prstGeom>
          <a:solidFill>
            <a:srgbClr val="23190C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BBF24"/>
                </a:solidFill>
              </a:defRPr>
            </a:pPr>
            <a:r>
              <a:t>⚠️ Початковий виклик: у вересневому релізі важка модель знижувала FPS на 50–60%. Жовтневий драйвер перевернув ситуацію: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2560320" cy="3474720"/>
          </a:xfrm>
          <a:prstGeom prst="roundRect">
            <a:avLst/>
          </a:prstGeom>
          <a:solidFill>
            <a:srgbClr val="121826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76B900"/>
                </a:solidFill>
              </a:defRPr>
            </a:pPr>
            <a:r>
              <a:t>У 2x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Швидша модель</a:t>
            </a:r>
          </a:p>
          <a:p>
            <a:br/>
            <a:pPr>
              <a:defRPr sz="1100">
                <a:solidFill>
                  <a:srgbClr val="D1D5DB"/>
                </a:solidFill>
              </a:defRPr>
            </a:pPr>
            <a:r>
              <a:t>Оптимізація інференсу вдвічі скоротила час генерації кадру на тензорних ядрах.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697480"/>
            <a:ext cx="2560320" cy="3474720"/>
          </a:xfrm>
          <a:prstGeom prst="roundRect">
            <a:avLst/>
          </a:prstGeom>
          <a:solidFill>
            <a:srgbClr val="121826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76B900"/>
                </a:solidFill>
              </a:defRPr>
            </a:pPr>
            <a:r>
              <a:t>-24%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Розмір мережі</a:t>
            </a:r>
          </a:p>
          <a:p>
            <a:br/>
            <a:pPr>
              <a:defRPr sz="1100">
                <a:solidFill>
                  <a:srgbClr val="D1D5DB"/>
                </a:solidFill>
              </a:defRPr>
            </a:pPr>
            <a:r>
              <a:t>Архітектурне стиснення ваг дозволило завантажувати модель у кеш без затримок.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697480"/>
            <a:ext cx="2560320" cy="3474720"/>
          </a:xfrm>
          <a:prstGeom prst="roundRect">
            <a:avLst/>
          </a:prstGeom>
          <a:solidFill>
            <a:srgbClr val="121826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76B900"/>
                </a:solidFill>
              </a:defRPr>
            </a:pPr>
            <a:r>
              <a:t>-20%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VRAM у 4K</a:t>
            </a:r>
          </a:p>
          <a:p>
            <a:br/>
            <a:pPr>
              <a:defRPr sz="1100">
                <a:solidFill>
                  <a:srgbClr val="D1D5DB"/>
                </a:solidFill>
              </a:defRPr>
            </a:pPr>
            <a:r>
              <a:t>Звільнено понад 3 ГБ відеопам'яті в роздільності 4K для текстур надвисокої чіткості.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2697480"/>
            <a:ext cx="2560320" cy="3474720"/>
          </a:xfrm>
          <a:prstGeom prst="roundRect">
            <a:avLst/>
          </a:prstGeom>
          <a:solidFill>
            <a:srgbClr val="121826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76B900"/>
                </a:solidFill>
              </a:defRPr>
            </a:pPr>
            <a:r>
              <a:t>+35%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Preset C</a:t>
            </a:r>
          </a:p>
          <a:p>
            <a:br/>
            <a:pPr>
              <a:defRPr sz="1100">
                <a:solidFill>
                  <a:srgbClr val="D1D5DB"/>
                </a:solidFill>
              </a:defRPr>
            </a:pPr>
            <a:r>
              <a:t>Спеціальний легкий режим, що дав змогу запускати нейронне світло на масових картах RTX 5060.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9184"/>
          </a:xfrm>
          <a:prstGeom prst="roundRect">
            <a:avLst/>
          </a:prstGeom>
          <a:solidFill>
            <a:srgbClr val="14240C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76B900"/>
                </a:solidFill>
                <a:latin typeface="Arial"/>
              </a:defRPr>
            </a:pPr>
            <a:r>
              <a:t>●  РЕГЛАМЕНТ: ПУНКТ 3   |   СЛАЙД 08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3. Сфера застосування: від геймінгу до віртуального кіновиробництва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2057400"/>
          </a:xfrm>
          <a:prstGeom prst="roundRect">
            <a:avLst/>
          </a:prstGeom>
          <a:solidFill>
            <a:srgbClr val="121826"/>
          </a:solidFill>
          <a:ln>
            <a:solidFill>
              <a:srgbClr val="22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76B900"/>
                </a:solidFill>
              </a:defRPr>
            </a:pPr>
            <a:r>
              <a:t>🎮 AAA-геймінг нового покоління</a:t>
            </a:r>
          </a:p>
          <a:p>
            <a:br/>
            <a:pPr>
              <a:defRPr sz="1150">
                <a:solidFill>
                  <a:srgbClr val="D1D5DB"/>
                </a:solidFill>
              </a:defRPr>
            </a:pPr>
            <a:r>
              <a:t>Флагманські проекти (NBA 2K27, Cyberpunk Next). Гравці отримують кінематографічний фотореалізм без лагів.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5257800" cy="2057400"/>
          </a:xfrm>
          <a:prstGeom prst="roundRect">
            <a:avLst/>
          </a:prstGeom>
          <a:solidFill>
            <a:srgbClr val="121826"/>
          </a:solidFill>
          <a:ln>
            <a:solidFill>
              <a:srgbClr val="22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2D3EE"/>
                </a:solidFill>
              </a:defRPr>
            </a:pPr>
            <a:r>
              <a:t>🛠️ Графічні веб-рушії та Unreal Engine</a:t>
            </a:r>
          </a:p>
          <a:p>
            <a:br/>
            <a:pPr>
              <a:defRPr sz="1150">
                <a:solidFill>
                  <a:srgbClr val="D1D5DB"/>
                </a:solidFill>
              </a:defRPr>
            </a:pPr>
            <a:r>
              <a:t>Офіційні плагіни для Unreal Engine 5.5 / 6 та Unity дозволяють студіям вмикати нейронне світло одним перемикачем.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57800" cy="2057400"/>
          </a:xfrm>
          <a:prstGeom prst="roundRect">
            <a:avLst/>
          </a:prstGeom>
          <a:solidFill>
            <a:srgbClr val="121826"/>
          </a:solidFill>
          <a:ln>
            <a:solidFill>
              <a:srgbClr val="22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76B900"/>
                </a:solidFill>
              </a:defRPr>
            </a:pPr>
            <a:r>
              <a:t>🎬 Віртуальне кіно (Virtual Production)</a:t>
            </a:r>
          </a:p>
          <a:p>
            <a:br/>
            <a:pPr>
              <a:defRPr sz="1150">
                <a:solidFill>
                  <a:srgbClr val="D1D5DB"/>
                </a:solidFill>
              </a:defRPr>
            </a:pPr>
            <a:r>
              <a:t>Зйомки фільмів на світлодіодних LED-стінах у реальному часі без необхідності місяцями рендерити сцени на серверах.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931920"/>
            <a:ext cx="5257800" cy="2057400"/>
          </a:xfrm>
          <a:prstGeom prst="roundRect">
            <a:avLst/>
          </a:prstGeom>
          <a:solidFill>
            <a:srgbClr val="121826"/>
          </a:solidFill>
          <a:ln>
            <a:solidFill>
              <a:srgbClr val="22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2D3EE"/>
                </a:solidFill>
              </a:defRPr>
            </a:pPr>
            <a:r>
              <a:t>🌐 Хмарний геймінг (GeForce NOW у Web)</a:t>
            </a:r>
          </a:p>
          <a:p>
            <a:br/>
            <a:pPr>
              <a:defRPr sz="1150">
                <a:solidFill>
                  <a:srgbClr val="D1D5DB"/>
                </a:solidFill>
              </a:defRPr>
            </a:pPr>
            <a:r>
              <a:t>Трансляція ігор наступного покоління через браузер Chrome/Edge на слабкі ноутбуки та смартфони.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9184"/>
          </a:xfrm>
          <a:prstGeom prst="roundRect">
            <a:avLst/>
          </a:prstGeom>
          <a:solidFill>
            <a:srgbClr val="14240C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76B900"/>
                </a:solidFill>
                <a:latin typeface="Arial"/>
              </a:defRPr>
            </a:pPr>
            <a:r>
              <a:t>●  РЕГЛАМЕНТ: ПУНКТ 4   |   СЛАЙД 09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4. Доступність для споживачів: вимоги, ліцензія та підтримка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005840"/>
          </a:xfrm>
          <a:prstGeom prst="roundRect">
            <a:avLst/>
          </a:prstGeom>
          <a:solidFill>
            <a:srgbClr val="121826"/>
          </a:solidFill>
          <a:ln>
            <a:solidFill>
              <a:srgbClr val="22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76B900"/>
                </a:solidFill>
              </a:defRPr>
            </a:pPr>
            <a:r>
              <a:t>💻 Апаратні вимоги  ➔  </a:t>
            </a:r>
            <a:r>
              <a:rPr sz="1200" b="0">
                <a:solidFill>
                  <a:srgbClr val="FFFFFF"/>
                </a:solidFill>
              </a:rPr>
              <a:t>Відеокарти серії GeForce RTX 50 (Blackwell) та RTX 40 з оновленими тензорними ядрами.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88920"/>
            <a:ext cx="10698480" cy="1005840"/>
          </a:xfrm>
          <a:prstGeom prst="roundRect">
            <a:avLst/>
          </a:prstGeom>
          <a:solidFill>
            <a:srgbClr val="121826"/>
          </a:solidFill>
          <a:ln>
            <a:solidFill>
              <a:srgbClr val="22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76B900"/>
                </a:solidFill>
              </a:defRPr>
            </a:pPr>
            <a:r>
              <a:t>📦 Безкоштовність для гравців  ➔  </a:t>
            </a:r>
            <a:r>
              <a:rPr sz="1200" b="0">
                <a:solidFill>
                  <a:srgbClr val="FFFFFF"/>
                </a:solidFill>
              </a:rPr>
              <a:t>Технологія активується в налаштуваннях гри без додаткової плати; потрібен лише свіжий драйвер від жовтня 2026.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698480" cy="1005840"/>
          </a:xfrm>
          <a:prstGeom prst="roundRect">
            <a:avLst/>
          </a:prstGeom>
          <a:solidFill>
            <a:srgbClr val="121826"/>
          </a:solidFill>
          <a:ln>
            <a:solidFill>
              <a:srgbClr val="22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76B900"/>
                </a:solidFill>
              </a:defRPr>
            </a:pPr>
            <a:r>
              <a:t>👨‍💻 Відкритий SDK розробника  ➔  </a:t>
            </a:r>
            <a:r>
              <a:rPr sz="1200" b="0">
                <a:solidFill>
                  <a:srgbClr val="FFFFFF"/>
                </a:solidFill>
              </a:rPr>
              <a:t>NVIDIA надає відкритий DLSS 5 SDK без роялті та ліцензійних платежів для авторів ігор і веб-сервісів.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698480" cy="1005840"/>
          </a:xfrm>
          <a:prstGeom prst="roundRect">
            <a:avLst/>
          </a:prstGeom>
          <a:solidFill>
            <a:srgbClr val="121826"/>
          </a:solidFill>
          <a:ln>
            <a:solidFill>
              <a:srgbClr val="22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76B900"/>
                </a:solidFill>
              </a:defRPr>
            </a:pPr>
            <a:r>
              <a:t>🎯 Демократизація через Preset C  ➔  </a:t>
            </a:r>
            <a:r>
              <a:rPr sz="1200" b="0">
                <a:solidFill>
                  <a:srgbClr val="FFFFFF"/>
                </a:solidFill>
              </a:rPr>
              <a:t>Полегшений режим роботи дозволяє запустити нейронний рендеринг навіть на народних відеокартах класу RTX 5060.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9184"/>
          </a:xfrm>
          <a:prstGeom prst="roundRect">
            <a:avLst/>
          </a:prstGeom>
          <a:solidFill>
            <a:srgbClr val="14240C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76B900"/>
                </a:solidFill>
                <a:latin typeface="Arial"/>
              </a:defRPr>
            </a:pPr>
            <a:r>
              <a:t>●  РЕГЛАМЕНТ: ПУНКТ 5   |   СЛАЙД 10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5. Ефект від використання: тести у 4K Ultra RT (NBA 2K27, RTX 5090)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486400" cy="4480560"/>
          </a:xfrm>
          <a:prstGeom prst="roundRect">
            <a:avLst/>
          </a:prstGeom>
          <a:solidFill>
            <a:srgbClr val="121826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76B900"/>
                </a:solidFill>
              </a:defRPr>
            </a:pPr>
            <a:r>
              <a:t>РЕЗУЛЬТАТИ ТЕСТУВАННЯ У 4K ULTRA RT</a:t>
            </a:r>
          </a:p>
          <a:p>
            <a:br/>
            <a:pPr>
              <a:defRPr sz="1500" b="1">
                <a:solidFill>
                  <a:srgbClr val="9CA3AF"/>
                </a:solidFill>
              </a:defRPr>
            </a:pPr>
            <a:r>
              <a:t>Без DLSS 5 (Базовий RT): 128 FPS</a:t>
            </a:r>
          </a:p>
          <a:p>
            <a:pPr>
              <a:defRPr sz="1050">
                <a:solidFill>
                  <a:srgbClr val="D1D5DB"/>
                </a:solidFill>
              </a:defRPr>
            </a:pPr>
            <a:r>
              <a:t>Традиційне трасування: висока частота, але пластикова шкіра.</a:t>
            </a:r>
          </a:p>
          <a:p>
            <a:br/>
            <a:pPr>
              <a:defRPr sz="1500" b="1">
                <a:solidFill>
                  <a:srgbClr val="FBBF24"/>
                </a:solidFill>
              </a:defRPr>
            </a:pPr>
            <a:r>
              <a:t>DLSS 5 (До оптимізації): 63 FPS</a:t>
            </a:r>
          </a:p>
          <a:p>
            <a:pPr>
              <a:defRPr sz="1050">
                <a:solidFill>
                  <a:srgbClr val="D1D5DB"/>
                </a:solidFill>
              </a:defRPr>
            </a:pPr>
            <a:r>
              <a:t>Початкова модель: падіння на 51% через складність розрахунку.</a:t>
            </a:r>
          </a:p>
          <a:p>
            <a:br/>
            <a:pPr>
              <a:defRPr sz="1500" b="1">
                <a:solidFill>
                  <a:srgbClr val="76B900"/>
                </a:solidFill>
              </a:defRPr>
            </a:pPr>
            <a:r>
              <a:t>DLSS 5 (Після 16 жовтня): 105+ FPS</a:t>
            </a:r>
          </a:p>
          <a:p>
            <a:pPr>
              <a:defRPr sz="1050">
                <a:solidFill>
                  <a:srgbClr val="D1D5DB"/>
                </a:solidFill>
              </a:defRPr>
            </a:pPr>
            <a:r>
              <a:t>Жовтневий прорив: повний фотореалізм шкіри з комфортним FPS!</a:t>
            </a:r>
          </a:p>
        </p:txBody>
      </p:sp>
      <p:pic>
        <p:nvPicPr>
          <p:cNvPr id="6" name="Picture 5" descr="dlss5_beauty_artifa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9184"/>
          </a:xfrm>
          <a:prstGeom prst="roundRect">
            <a:avLst/>
          </a:prstGeom>
          <a:solidFill>
            <a:srgbClr val="14240C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76B900"/>
                </a:solidFill>
                <a:latin typeface="Arial"/>
              </a:defRPr>
            </a:pPr>
            <a:r>
              <a:t>●  РЕГЛАМЕНТ: ПУНКТ 6   |   СЛАЙД 11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6. Перспективи розвитку: майбутнє комп'ютерної графіки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280160"/>
          </a:xfrm>
          <a:prstGeom prst="roundRect">
            <a:avLst/>
          </a:prstGeom>
          <a:solidFill>
            <a:srgbClr val="121826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76B900"/>
                </a:solidFill>
              </a:defRPr>
            </a:pPr>
            <a:r>
              <a:t>1. Neural World Models (Світоглядний ШІ)</a:t>
            </a:r>
          </a:p>
          <a:p>
            <a:pPr>
              <a:defRPr sz="1150">
                <a:solidFill>
                  <a:srgbClr val="D1D5DB"/>
                </a:solidFill>
              </a:defRPr>
            </a:pPr>
            <a:r>
              <a:t>Повний відхід від класичної растеризації. ШІ генеруватиме цілі віртуальні світи безпосередньо з фізичних законів і текстових промптів.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1280160"/>
          </a:xfrm>
          <a:prstGeom prst="roundRect">
            <a:avLst/>
          </a:prstGeom>
          <a:solidFill>
            <a:srgbClr val="121826"/>
          </a:solidFill>
          <a:ln>
            <a:solidFill>
              <a:srgbClr val="22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2. Єдина генеративна нейромодель</a:t>
            </a:r>
          </a:p>
          <a:p>
            <a:pPr>
              <a:defRPr sz="1150">
                <a:solidFill>
                  <a:srgbClr val="D1D5DB"/>
                </a:solidFill>
              </a:defRPr>
            </a:pPr>
            <a:r>
              <a:t>Об'єднання масштабування (Super Resolution), генерації кадрів, світла й звуку в одну уніфіковану мультимодальну модель реального часу.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10698480" cy="1280160"/>
          </a:xfrm>
          <a:prstGeom prst="roundRect">
            <a:avLst/>
          </a:prstGeom>
          <a:solidFill>
            <a:srgbClr val="121826"/>
          </a:solidFill>
          <a:ln>
            <a:solidFill>
              <a:srgbClr val="22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3. Портування на портативні пристрої та NPU</a:t>
            </a:r>
          </a:p>
          <a:p>
            <a:pPr>
              <a:defRPr sz="1150">
                <a:solidFill>
                  <a:srgbClr val="D1D5DB"/>
                </a:solidFill>
              </a:defRPr>
            </a:pPr>
            <a:r>
              <a:t>Спеціалізована квантизація дозволить запускати нейронний рендеринг на смартфонах, планшетах і портативних консолях майбутнього.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011680" y="1371600"/>
            <a:ext cx="8138160" cy="4114800"/>
          </a:xfrm>
          <a:prstGeom prst="roundRect">
            <a:avLst/>
          </a:prstGeom>
          <a:solidFill>
            <a:srgbClr val="121826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76B900"/>
                </a:solidFill>
              </a:defRPr>
            </a:pPr>
            <a:r>
              <a:t>ДЯКУЮ ЗА УВАГУ!</a:t>
            </a:r>
          </a:p>
          <a:p>
            <a:br/>
            <a:pPr algn="ctr">
              <a:defRPr sz="2000" b="1">
                <a:solidFill>
                  <a:srgbClr val="FFFFFF"/>
                </a:solidFill>
              </a:defRPr>
            </a:pPr>
            <a:r>
              <a:t>Готовий відповісти на ваші запитання (Q&amp;A)</a:t>
            </a:r>
          </a:p>
          <a:p>
            <a:br/>
            <a:pPr algn="ctr">
              <a:defRPr sz="1300">
                <a:solidFill>
                  <a:srgbClr val="22D3EE"/>
                </a:solidFill>
              </a:defRPr>
            </a:pPr>
            <a:r>
              <a:t>Доповідач: Лемішка Андрій · ПП-24 · Кафедра САПР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