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4846320" cy="466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1371600"/>
            <a:ext cx="5303520" cy="411480"/>
          </a:xfrm>
          <a:prstGeom prst="roundRect">
            <a:avLst/>
          </a:prstGeom>
          <a:solidFill>
            <a:srgbClr val="12280A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76B900"/>
                </a:solidFill>
              </a:defRPr>
            </a:pPr>
            <a:r>
              <a:t>ТЕХНОЛОГІЇ ВЕБРОЗРОБКИ ТА ДИЗАЙНУ · ШІ-НОВИНКИ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76B900"/>
                </a:solidFill>
              </a:defRPr>
            </a:pPr>
            <a:r>
              <a:t>NVIDIA DLSS 5: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3D-Guided Neural Rendering</a:t>
            </a:r>
          </a:p>
          <a:p>
            <a:pPr>
              <a:defRPr sz="1400">
                <a:solidFill>
                  <a:srgbClr val="9CA3AF"/>
                </a:solidFill>
              </a:defRPr>
            </a:pPr>
            <a:r>
              <a:t>Прорив нейронного світла та жовтневе оновлення 2026 року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5303520" cy="146304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Доповідач: Лемішка Андрій</a:t>
            </a:r>
          </a:p>
          <a:p>
            <a:pPr>
              <a:defRPr sz="1200">
                <a:solidFill>
                  <a:srgbClr val="76B900"/>
                </a:solidFill>
              </a:defRPr>
            </a:pPr>
            <a:r>
              <a:t>Група: ПП-24 · Кафедра САПР</a:t>
            </a:r>
          </a:p>
          <a:p>
            <a:pPr>
              <a:defRPr sz="1100">
                <a:solidFill>
                  <a:srgbClr val="9CA3AF"/>
                </a:solidFill>
              </a:defRPr>
            </a:pPr>
            <a:r>
              <a:t>Національний університет «Львівська політехніка»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ВСТУПНИЙ КОНТЕКСТ   |   СЛАЙД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Еволюція технології: від апскейлу до нейронного рендерингу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9CA3AF"/>
                </a:solidFill>
              </a:defRPr>
            </a:pPr>
            <a:r>
              <a:t>DLSS 1.0 (2018)</a:t>
            </a:r>
          </a:p>
          <a:p>
            <a:pPr>
              <a:defRPr b="1" sz="1500">
                <a:solidFill>
                  <a:srgbClr val="FFFFFF"/>
                </a:solidFill>
              </a:defRPr>
            </a:pPr>
            <a:r>
              <a:t>Окремі мережі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Тренувалася індивідуально для кожної гри. Часто створювала мильну картинку й артефакти.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9CA3AF"/>
                </a:solidFill>
              </a:defRPr>
            </a:pPr>
            <a:r>
              <a:t>DLSS 2.0 (2020)</a:t>
            </a:r>
          </a:p>
          <a:p>
            <a:pPr>
              <a:defRPr b="1" sz="1500">
                <a:solidFill>
                  <a:srgbClr val="FFFFFF"/>
                </a:solidFill>
              </a:defRPr>
            </a:pPr>
            <a:r>
              <a:t>Super Resolution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Універсальна модель: просторово-часова історія (temporal) + вектори руху. Домальовує 4K з 1080p.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9CA3AF"/>
                </a:solidFill>
              </a:defRPr>
            </a:pPr>
            <a:r>
              <a:t>DLSS 3 &amp; 4 (2022-2025)</a:t>
            </a:r>
          </a:p>
          <a:p>
            <a:pPr>
              <a:defRPr b="1" sz="1500">
                <a:solidFill>
                  <a:srgbClr val="FFFFFF"/>
                </a:solidFill>
              </a:defRPr>
            </a:pPr>
            <a:r>
              <a:t>Frame Generation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Генерація проміжних кадрів за допомогою Optical Flow. Множники кадрів від 2x до 4x MFG.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DLSS 5 (Осінь 2026)</a:t>
            </a:r>
          </a:p>
          <a:p>
            <a:pPr>
              <a:defRPr b="1" sz="1500">
                <a:solidFill>
                  <a:srgbClr val="FFFFFF"/>
                </a:solidFill>
              </a:defRPr>
            </a:pPr>
            <a:r>
              <a:t>Neural Rendering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ШІ бере на себе повний розрахунок освітлення, шкіри та матеріалів замість Path Tracing.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1   |   СЛАЙД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1. Мета новинки: для чого створено DLSS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6B900"/>
                </a:solidFill>
              </a:defRPr>
            </a:pPr>
            <a:r>
              <a:t>🎯 ГОЛОВНА МЕТА</a:t>
            </a:r>
          </a:p>
          <a:p>
            <a:pPr>
              <a:defRPr b="1" sz="1800">
                <a:solidFill>
                  <a:srgbClr val="FFFFFF"/>
                </a:solidFill>
              </a:defRPr>
            </a:pPr>
            <a:r>
              <a:t>Заміна математичного трасування променів генеративним ШІ</a:t>
            </a:r>
          </a:p>
          <a:p>
            <a:br/>
            <a:pPr>
              <a:defRPr sz="1200">
                <a:solidFill>
                  <a:srgbClr val="9CA3AF"/>
                </a:solidFill>
              </a:defRPr>
            </a:pPr>
            <a:r>
              <a:t>• Подолати межу класичного рендерингу: фізичний розрахунок світла (Path Tracing) вимагає нереальних обчислювальних ресурсів.</a:t>
            </a:r>
          </a:p>
          <a:p>
            <a:br/>
            <a:pPr>
              <a:defRPr sz="1200">
                <a:solidFill>
                  <a:srgbClr val="9CA3AF"/>
                </a:solidFill>
              </a:defRPr>
            </a:pPr>
            <a:r>
              <a:t>• Замість мільярдів математичних променів використати нейромережу, навчену на законах оптики.</a:t>
            </a:r>
          </a:p>
          <a:p>
            <a:br/>
            <a:pPr>
              <a:defRPr sz="1200">
                <a:solidFill>
                  <a:srgbClr val="9CA3AF"/>
                </a:solidFill>
              </a:defRPr>
            </a:pPr>
            <a:r>
              <a:t>• Забезпечити кінематографічний фотореалізм без втрати інтерактивності в реальному часі.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lss_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846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805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Ключова зміна парадигми:</a:t>
            </a:r>
          </a:p>
          <a:p>
            <a:pPr>
              <a:defRPr sz="1100">
                <a:solidFill>
                  <a:srgbClr val="9CA3AF"/>
                </a:solidFill>
              </a:defRPr>
            </a:pPr>
            <a:r>
              <a:t>Раніше ШІ допомагав рендерити швидше (апскейл). У DLSS 5 нейромережа безпосередньо створює світло, матеріали та атмосферу сцени.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2   |   СЛАЙД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2. Актуальність розробки: чому це потрібно саме зараз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6B900"/>
                </a:solidFill>
              </a:defRPr>
            </a:pPr>
            <a:r>
              <a:t>Проблема 1: Виклик 16,7 мілісекунди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Для плавності 60 FPS на повний кадр є менше ніж 17 мс. У нативному 4K це понад 8 мільйонів пікселів — кремній не встигає.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59E0B"/>
                </a:solidFill>
              </a:defRPr>
            </a:pPr>
            <a:r>
              <a:t>Проблема 2: Глухий кут «грубої сили»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Закон Мура сповільнився. Збільшення кількості транзисторів призводить до шаленого енергоспоживання (до 500-600 Вт).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Проблема 3: Ефект «воскової шкіри»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Класичні шейдери не можуть правдоподібно передати проникнення світла крізь шкіру та волосся без катастрофічного падіння FPS.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АРХІТЕКТУРА ТЕХНОЛОГІЇ   |   СЛАЙД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Як працює 3D-Guided Neural Rendering під капотом</a:t>
            </a:r>
          </a:p>
        </p:txBody>
      </p:sp>
      <p:pic>
        <p:nvPicPr>
          <p:cNvPr id="5" name="Picture 4" descr="dlss5_neural_s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КЛЮЧОВІ МЕХАНІЗМИ ТЕХНОЛОГІЇ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✦ Семантичне розуміння сцени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Модель бачить не просто пікселі, а розпізнає матеріали: біологічну тканину (шкіру), шовк, метал, пасма волосся.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✦ Підповерхневе розсіювання (Subsurface Scattering)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Імітація проходження світла під шкіру — зникає ефект пластикового мерця, з'являються живі пори та капілярний тон.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✦ Збереження 3D-геометрії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ШІ не змінює форму персонажа. Геометрія і текстури контролюються рушієм гри, а нейромережа відповідає суто за світло.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✦ Повний контроль розробника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Художники мають маски та колірні коефіцієнти, щоб режисерське бачення гри не спотворювалося.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ЖОВТНЕВИЙ ПРОРИВ 2026   |   СЛАЙД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Оновлення від 16 жовтня 2026: подолання кризи продуктивності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E140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59E0B"/>
                </a:solidFill>
              </a:defRPr>
            </a:pPr>
            <a:r>
              <a:t>⚠️ Початкова проблема: DLSS 5 на першому релізі знижував FPS на 50–60% через складність моделі.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2560320" cy="320040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76B900"/>
                </a:solidFill>
              </a:defRPr>
            </a:pPr>
            <a:r>
              <a:t>У 2 рази швидша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Швидкість моделі</a:t>
            </a:r>
          </a:p>
          <a:p>
            <a:br/>
            <a:pPr>
              <a:defRPr sz="1050">
                <a:solidFill>
                  <a:srgbClr val="9CA3AF"/>
                </a:solidFill>
              </a:defRPr>
            </a:pPr>
            <a:r>
              <a:t>Оптимізація архітектури нейромережі подвоїла швидкість генерації світла.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926080"/>
            <a:ext cx="2560320" cy="320040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76B900"/>
                </a:solidFill>
              </a:defRPr>
            </a:pPr>
            <a:r>
              <a:t>-24% розмір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Стиснення ваг</a:t>
            </a:r>
          </a:p>
          <a:p>
            <a:br/>
            <a:pPr>
              <a:defRPr sz="1050">
                <a:solidFill>
                  <a:srgbClr val="9CA3AF"/>
                </a:solidFill>
              </a:defRPr>
            </a:pPr>
            <a:r>
              <a:t>Зменшено обсяг мережі без втрати візуальної точності.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926080"/>
            <a:ext cx="2560320" cy="320040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76B900"/>
                </a:solidFill>
              </a:defRPr>
            </a:pPr>
            <a:r>
              <a:t>-20% VRAM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Відеопам'ять у 4K</a:t>
            </a:r>
          </a:p>
          <a:p>
            <a:br/>
            <a:pPr>
              <a:defRPr sz="1050">
                <a:solidFill>
                  <a:srgbClr val="9CA3AF"/>
                </a:solidFill>
              </a:defRPr>
            </a:pPr>
            <a:r>
              <a:t>Звільнено критичні гігабайти пам'яті для текстур ультра-високої роздільності.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926080"/>
            <a:ext cx="2560320" cy="320040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76B900"/>
                </a:solidFill>
              </a:defRPr>
            </a:pPr>
            <a:r>
              <a:t>Preset C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Для RTX 5060</a:t>
            </a:r>
          </a:p>
          <a:p>
            <a:br/>
            <a:pPr>
              <a:defRPr sz="1050">
                <a:solidFill>
                  <a:srgbClr val="9CA3AF"/>
                </a:solidFill>
              </a:defRPr>
            </a:pPr>
            <a:r>
              <a:t>Полегшений режим для народних карт: до +35% приросту швидкості обробки.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3   |   СЛАЙД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3. Сфера застосування: де впроваджується технологія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01168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6B900"/>
                </a:solidFill>
              </a:defRPr>
            </a:pPr>
            <a:r>
              <a:t>🎮 AAA-геймінг наступного покоління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Провідні ігрові студії інтегрують DLSS 5 для досягнення фотореалістичної графіки у відкритих світах (NBA 2K27, Cyberpunk 2077 Next).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01168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🛠️ Графічні рушії (Unreal Engine 5.5 / 6)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Вбудований плагін дозволяє розробникам ігор в 1 клік підключати нейронний рендеринг матеріалів без переписування коду гри.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01168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6B900"/>
                </a:solidFill>
              </a:defRPr>
            </a:pPr>
            <a:r>
              <a:t>🎬 Віртуальне кіновиробництво (Virtual Production)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Створення кінодекорацій у реальному часі на світлодіодних екранах (LED volumes) для голлівудських студій.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31920"/>
            <a:ext cx="5257800" cy="201168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🌐 Хмарний веб-геймінг (GeForce NOW у браузері)</a:t>
            </a:r>
          </a:p>
          <a:p>
            <a:br/>
            <a:pPr>
              <a:defRPr sz="1100">
                <a:solidFill>
                  <a:srgbClr val="9CA3AF"/>
                </a:solidFill>
              </a:defRPr>
            </a:pPr>
            <a:r>
              <a:t>Трансляція ігор кінематографічного рівня через WebRTC прямо у вікно браузера Chrome без потреби мати суперкомп'ютер вдома.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4   |   СЛАЙД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4. Доступність для споживачів: залізо, софт та ціна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💻 Апаратні вимоги  ➔  </a:t>
            </a:r>
            <a:r>
              <a:rPr b="0" sz="1200">
                <a:solidFill>
                  <a:srgbClr val="FFFFFF"/>
                </a:solidFill>
              </a:rPr>
              <a:t>Відеокарти серії GeForce RTX 50 (Blackwell) та RTX 40 з оновленими тензорними ядрами 5-го покоління.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📦 Безкоштовність для гравця  ➔  </a:t>
            </a:r>
            <a:r>
              <a:rPr b="0" sz="1200">
                <a:solidFill>
                  <a:srgbClr val="FFFFFF"/>
                </a:solidFill>
              </a:rPr>
              <a:t>Технологія безкоштовно активується в налаштуваннях гри; потрібен лише драйвер NVIDIA Game Ready від жовтня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👨‍💻 Відкритий SDK розробника  ➔  </a:t>
            </a:r>
            <a:r>
              <a:rPr b="0" sz="1200">
                <a:solidFill>
                  <a:srgbClr val="FFFFFF"/>
                </a:solidFill>
              </a:rPr>
              <a:t>NVIDIA надає безкоштовний DLSS 5 SDK та плагіни для ігрових рушіїв без роялті.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⚙️ Демократизація через Preset C  ➔  </a:t>
            </a:r>
            <a:r>
              <a:rPr b="0" sz="1200">
                <a:solidFill>
                  <a:srgbClr val="FFFFFF"/>
                </a:solidFill>
              </a:rPr>
              <a:t>Оптимізований режим дозволяє запускати технологію навіть на масових картах класу RTX 5060.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5   |   СЛАЙД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5. Ефект від використання: реальні тести у 4K (NBA 2K27, RTX 5090)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8778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Параметр сцени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Без DLSS 5 (Класика)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76B900"/>
                          </a:solidFill>
                        </a:defRPr>
                      </a:pPr>
                      <a:r>
                        <a:t>З DLSS 5 (Оновлення 16 жовтня)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Шкіра персонажа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Гладка, пластикова, без розсіювання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76B900"/>
                          </a:solidFill>
                        </a:defRPr>
                      </a:pPr>
                      <a:r>
                        <a:t>Живе розсіювання (Subsurface), пори, мікротіні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Тканини та волосся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Спрощені однорідні відблиски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76B900"/>
                          </a:solidFill>
                        </a:defRPr>
                      </a:pPr>
                      <a:r>
                        <a:t>Шовковий блиск тканин, світло на пасмах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4K Ultra RT (RTX 5090)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128 FPS (базовий)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76B900"/>
                          </a:solidFill>
                        </a:defRPr>
                      </a:pPr>
                      <a:r>
                        <a:t>105+ FPS (після оптимізації драйвера)</a:t>
                      </a:r>
                    </a:p>
                  </a:txBody>
                  <a:tcPr anchor="ctr">
                    <a:solidFill>
                      <a:srgbClr val="12192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1080p Ultra RT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180 FPS (упор у CPU)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76B900"/>
                          </a:solidFill>
                        </a:defRPr>
                      </a:pPr>
                      <a:r>
                        <a:t>134 FPS (стабільний фреймрейт)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РЕГЛАМЕНТ: ПУНКТ 6   |   СЛАЙД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6. Перспективи розвитку: майбутнє комп'ютерної графіки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6B900"/>
                </a:solidFill>
              </a:defRPr>
            </a:pPr>
            <a:r>
              <a:t>1. Neural World Models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Повний відхід від класичної растеризації. ШІ генеруватиме цілі віртуальні світи безпосередньо з текстових промптів або фізичних моделей.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2. Єдина генеративна модель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Об'єднання апскейлу, генерації кадрів, світла і звуку в одну уніфіковану мультимодальну мережу реального часу.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3. Енергоефективність на NPU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Портування полегшених моделей DLSS на мобільні чіпи та портативні консолі наступного покоління (Switch 2, смартфони).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6B900"/>
                </a:solidFill>
                <a:latin typeface="Arial"/>
              </a:defRPr>
            </a:pPr>
            <a:r>
              <a:t>●  ПІДСУМКИ   |   СЛАЙД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Зведене резюме доповіді за встановленим регламентом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1. Мета: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Заміна важкої фізики трасування променів нейронним розрахунком світла.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2. Актуальність: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Подолання кризи 16,7 мс у роздільності 4K та ліквідація пластикової графіки.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3. Сфера: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AAA-ігри (NBA 2K27), Unreal Engine 5.5/6, віртуальне кіновиробництво.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15468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4. Доступність: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Безкоштовно для гравців з картами RTX через Game Ready Driver (жовтень 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5. Ефект: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Кінематографічне світло шкіри та тканин; +35% швидкості в Preset 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663440"/>
            <a:ext cx="5257800" cy="1280160"/>
          </a:xfrm>
          <a:prstGeom prst="roundRect">
            <a:avLst/>
          </a:prstGeom>
          <a:solidFill>
            <a:srgbClr val="161E31"/>
          </a:solidFill>
          <a:ln>
            <a:solidFill>
              <a:srgbClr val="28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76B900"/>
                </a:solidFill>
              </a:defRPr>
            </a:pPr>
            <a:r>
              <a:t>6. Перспективи: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Перехід до Neural World Models — повної генерації світів нейромережами.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011680" y="1371600"/>
            <a:ext cx="8138160" cy="4114800"/>
          </a:xfrm>
          <a:prstGeom prst="roundRect">
            <a:avLst/>
          </a:prstGeom>
          <a:solidFill>
            <a:srgbClr val="161E31"/>
          </a:solidFill>
          <a:ln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600">
                <a:solidFill>
                  <a:srgbClr val="76B900"/>
                </a:solidFill>
              </a:defRPr>
            </a:pPr>
            <a:r>
              <a:t>ДЯКУЮ ЗА УВАГУ!</a:t>
            </a:r>
          </a:p>
          <a:p>
            <a:br/>
            <a:pPr algn="ctr">
              <a:defRPr b="1" sz="2000">
                <a:solidFill>
                  <a:srgbClr val="FFFFFF"/>
                </a:solidFill>
              </a:defRPr>
            </a:pPr>
            <a:r>
              <a:t>Готовий відповісти на ваші запитання (Q&amp;A)</a:t>
            </a:r>
          </a:p>
          <a:p>
            <a:br/>
            <a:pPr algn="ctr">
              <a:defRPr sz="1400">
                <a:solidFill>
                  <a:srgbClr val="9CA3AF"/>
                </a:solidFill>
              </a:defRPr>
            </a:pPr>
            <a:r>
              <a:t>Доповідач: Лемішка Андрій · ПП-24 · Кафедра САПР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