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402" y="1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175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Вектори руху пояснюють, куди рухається об'єкт. Без них мережа не знає, як зшивати кадри.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Пояснити, що 4K це 8 294 400 пікселів, а 16,7 мс це бюджет одного кадру при 60 FPS.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29" y="812729"/>
            <a:ext cx="10566542" cy="50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C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29" y="1620410"/>
            <a:ext cx="10566471" cy="44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29" y="812729"/>
            <a:ext cx="10566542" cy="50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C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29" y="1620410"/>
            <a:ext cx="10566471" cy="44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9" y="2432714"/>
            <a:ext cx="10883538" cy="274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200" dirty="0">
                <a:solidFill>
                  <a:srgbClr val="5FD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ТЕХНОЛОГІЇ ГРАФІКИ · NVIDIA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29" y="2935595"/>
            <a:ext cx="10883538" cy="905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30"/>
              </a:lnSpc>
              <a:buNone/>
            </a:pPr>
            <a:r>
              <a:rPr lang="en-US" sz="6600" b="0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DLSS: що це і як працює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812729" y="4069691"/>
            <a:ext cx="10883538" cy="380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B9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Апскейл, генерація кадрів і DLSS 5 по кроках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729" y="6238303"/>
            <a:ext cx="2242770" cy="238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студентів і викладачів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29" y="812729"/>
            <a:ext cx="10883538" cy="528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Що таке DLSS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729" y="1569583"/>
            <a:ext cx="10883538" cy="85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DLSS (Deep Learning Super Sampling) — набір технологій NVIDIA, у яких нейромережа допомагає грі працювати швидше або виглядати краще. Вона виконується на тензорних ядрах RTX-карт, тобто спеціальних блоках для обчислень зі штучним інтелектом.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5904" y="2655308"/>
            <a:ext cx="3380335" cy="1853067"/>
          </a:xfrm>
          <a:prstGeom prst="roundRect">
            <a:avLst>
              <a:gd name="adj" fmla="val 5311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525" y="2885928"/>
            <a:ext cx="3006667" cy="284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Resolution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46525" y="3246506"/>
            <a:ext cx="3006667" cy="1056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Збільшує зображення з нижчої роздільності до цільової. Це апскейл, який знають як DLSS 2, 3, 4.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5751" y="2655308"/>
            <a:ext cx="3380417" cy="1853067"/>
          </a:xfrm>
          <a:prstGeom prst="roundRect">
            <a:avLst>
              <a:gd name="adj" fmla="val 5311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6372" y="2885928"/>
            <a:ext cx="3006751" cy="284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Generation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36372" y="3246506"/>
            <a:ext cx="3006751" cy="798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Додає нові кадри між тими, які порахувала гра. Так FPS на екрані зростає.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5679" y="2655308"/>
            <a:ext cx="3380417" cy="1853067"/>
          </a:xfrm>
          <a:prstGeom prst="roundRect">
            <a:avLst>
              <a:gd name="adj" fmla="val 5311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6300" y="2885928"/>
            <a:ext cx="3006751" cy="284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 Reconstruction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6300" y="3246506"/>
            <a:ext cx="3006751" cy="798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Прибирає «шум» від трасування променів, щоб відблиски і тіні були чистішими.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729" y="4765523"/>
            <a:ext cx="10883538" cy="577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Цифра в назві (DLSS 2, 3, 4) означає покоління технології. Окремі функції можна вмикати незалежно, тому в налаштуваннях гри їх бачимо як окремі перемикачі.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729" y="6238304"/>
            <a:ext cx="2763884" cy="238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Спрощений огляд: функції DLSS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29" y="812730"/>
            <a:ext cx="10883538" cy="528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Як гра малює один кадр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729" y="1569583"/>
            <a:ext cx="10883538" cy="577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показати один кадр, рушій проходить ланцюжок етапів. Якщо ціль 60 кадрів на секунду, на весь кадр є приблизно 16,7 мс.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5904" y="2379117"/>
            <a:ext cx="2216259" cy="1398220"/>
          </a:xfrm>
          <a:prstGeom prst="roundRect">
            <a:avLst>
              <a:gd name="adj" fmla="val 7039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714" y="2558926"/>
            <a:ext cx="1912339" cy="269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Геометрія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5714" y="2904227"/>
            <a:ext cx="1912339" cy="718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 з трикутників: персонажі, будівлі, ландшафт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62284" y="2864853"/>
            <a:ext cx="365740" cy="45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597188" y="2379117"/>
            <a:ext cx="2216341" cy="1398220"/>
          </a:xfrm>
          <a:prstGeom prst="roundRect">
            <a:avLst>
              <a:gd name="adj" fmla="val 7039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76998" y="2558926"/>
            <a:ext cx="1912423" cy="269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Матеріали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76998" y="2904227"/>
            <a:ext cx="1912423" cy="718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Текстури, метал, шкіра: як поверхня відбиває світло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49" y="2864853"/>
            <a:ext cx="365740" cy="45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78554" y="2379117"/>
            <a:ext cx="2216259" cy="1398220"/>
          </a:xfrm>
          <a:prstGeom prst="roundRect">
            <a:avLst>
              <a:gd name="adj" fmla="val 7039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8363" y="2558926"/>
            <a:ext cx="1912339" cy="269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Освітлення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58363" y="2904227"/>
            <a:ext cx="1912339" cy="718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Тіні, відблиски, промені світла, часто трасування променів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24933" y="2864853"/>
            <a:ext cx="365740" cy="45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59837" y="2379117"/>
            <a:ext cx="2216259" cy="1398220"/>
          </a:xfrm>
          <a:prstGeom prst="roundRect">
            <a:avLst>
              <a:gd name="adj" fmla="val 7039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39647" y="2558926"/>
            <a:ext cx="1912339" cy="269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Постобробка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39647" y="2904227"/>
            <a:ext cx="1912339" cy="718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Згладжування, розмиття, кольорокорекція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729" y="4034484"/>
            <a:ext cx="10883538" cy="577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Найдорожчі етапи — освітлення і висока роздільність, бо кількість обчислень росте разом із кількістю пікселів. Саме тут DLSS працює: рахує менше пікселів, а решту відновлює.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2729" y="6238304"/>
            <a:ext cx="3302839" cy="238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29" y="812729"/>
            <a:ext cx="11379271" cy="528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DLSS 2: апскейл, тобто домальовування пікселів</a:t>
            </a:r>
            <a:endParaRPr lang="en-US" sz="3600" dirty="0"/>
          </a:p>
        </p:txBody>
      </p:sp>
      <p:pic>
        <p:nvPicPr>
          <p:cNvPr id="3" name="Image 0" descr="сітка пікселів, апскейл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812729" y="1569582"/>
            <a:ext cx="4571919" cy="24764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40242" y="1569582"/>
            <a:ext cx="5808200" cy="577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 рендериться в нижчій роздільності, наприклад 1080p. Це в чотири рази менше пікселів, ніж у 4K.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740242" y="2274319"/>
            <a:ext cx="5808200" cy="1130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Нейромережа отримує колір кадру, вектори руху і дані з минулих кадрів. Для кожного пікселя цільової роздільності вона визначає колір: частину бере з поточного кадру, частину відновлює з історії.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740242" y="3531439"/>
            <a:ext cx="5808200" cy="85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DLSS 2 не створює нову інформацію з нічого, на відміну від класичних нейронних апскейлерів. Він переважно збирає дані, які вже є в попередніх кадрах.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2729" y="6238303"/>
            <a:ext cx="5703041" cy="238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29" y="812732"/>
            <a:ext cx="10883538" cy="50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24"/>
              </a:lnSpc>
              <a:buNone/>
            </a:pPr>
            <a:r>
              <a:rPr lang="en-US" sz="3476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Звідки беруться дані: зсув камери і історія кадрів</a:t>
            </a:r>
            <a:endParaRPr lang="en-US" sz="3476" dirty="0"/>
          </a:p>
        </p:txBody>
      </p:sp>
      <p:pic>
        <p:nvPicPr>
          <p:cNvPr id="3" name="Image 0" descr="зсув камери між кадрами"/>
          <p:cNvPicPr>
            <a:picLocks noChangeAspect="1"/>
          </p:cNvPicPr>
          <p:nvPr/>
        </p:nvPicPr>
        <p:blipFill>
          <a:blip r:embed="rId3"/>
          <a:srcRect l="-2169" r="-2169"/>
          <a:stretch/>
        </p:blipFill>
        <p:spPr>
          <a:xfrm>
            <a:off x="812729" y="1548426"/>
            <a:ext cx="10159974" cy="29811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729" y="4783578"/>
            <a:ext cx="5310931" cy="1083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кадр камера трохи зсувається на частку пікселя (так званий jitter). Тому за кілька кадрів одна й та сама ділянка «побачена» з різних точок.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222946" y="4783578"/>
            <a:ext cx="5311015" cy="1083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Нейромережа об’єднує ці зразки в один детальний піксель. Вектори руху показують, куди перенести старі дані, коли об’єкт рухається. Неточні значення відкидаються, щоб не було шлейфів (ghosting).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729" y="6238304"/>
            <a:ext cx="6163476" cy="238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29" y="812729"/>
            <a:ext cx="10883538" cy="1031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Frame Generation: як з’являється проміжний кадр</a:t>
            </a:r>
            <a:endParaRPr lang="en-US" sz="3600" dirty="0"/>
          </a:p>
        </p:txBody>
      </p:sp>
      <p:pic>
        <p:nvPicPr>
          <p:cNvPr id="3" name="Image 0" descr="таймлайн кадрів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812729" y="2072463"/>
            <a:ext cx="10159974" cy="19049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729" y="4231354"/>
            <a:ext cx="10883538" cy="256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A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— кадр, який порахувала гра. AI — кадр, який домалювала </a:t>
            </a:r>
            <a:r>
              <a:rPr lang="en-US" sz="1300" dirty="0" err="1">
                <a:solidFill>
                  <a:srgbClr val="3A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нейромережа</a:t>
            </a:r>
            <a:r>
              <a:rPr lang="en-US" sz="1300" dirty="0">
                <a:solidFill>
                  <a:srgbClr val="3A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2729" y="4716425"/>
            <a:ext cx="5310931" cy="1130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Рушій малює два реальні кадри. Оптичний потік і вектори руху показують, як зсунулися об’єкти між ними. Нейромережа будує проміжний кадр, який DLSS показує між двома реальними. FPS на екрані подвоюється.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222946" y="4716425"/>
            <a:ext cx="5311015" cy="1130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Ціна: другий реальний кадр затримується, бо його треба показати після AI-кадру. Тому відгук керування лишається ближчим до реального FPS, а не до подвійного. 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29" y="812729"/>
            <a:ext cx="10883538" cy="50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24"/>
              </a:lnSpc>
              <a:buNone/>
            </a:pPr>
            <a:r>
              <a:rPr lang="en-US" sz="3476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Multi Frame Generation: 2x, 4x, 6x</a:t>
            </a:r>
            <a:endParaRPr lang="en-US" sz="3476" dirty="0"/>
          </a:p>
        </p:txBody>
      </p:sp>
      <p:pic>
        <p:nvPicPr>
          <p:cNvPr id="3" name="Image 0" descr="таймлайн кадрів"/>
          <p:cNvPicPr>
            <a:picLocks noChangeAspect="1"/>
          </p:cNvPicPr>
          <p:nvPr/>
        </p:nvPicPr>
        <p:blipFill>
          <a:blip r:embed="rId3"/>
          <a:srcRect l="-2069" r="-2069"/>
          <a:stretch/>
        </p:blipFill>
        <p:spPr>
          <a:xfrm>
            <a:off x="812729" y="1549732"/>
            <a:ext cx="10159974" cy="25010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729" y="4304711"/>
            <a:ext cx="10883538" cy="247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74"/>
              </a:lnSpc>
              <a:buNone/>
            </a:pPr>
            <a:endParaRPr lang="en-US" sz="1268" dirty="0"/>
          </a:p>
        </p:txBody>
      </p:sp>
      <p:sp>
        <p:nvSpPr>
          <p:cNvPr id="5" name="Text 2"/>
          <p:cNvSpPr/>
          <p:nvPr/>
        </p:nvSpPr>
        <p:spPr>
          <a:xfrm>
            <a:off x="812729" y="4780716"/>
            <a:ext cx="5310931" cy="1086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DLSS 4 дає до 4x: на кожен реальний кадр до трьох AI-кадрів. DLSS 4.5 додає 6x, тобто до п’яти AI-кадрів, і динамічний режим, який сам підбирає множник під потрібний FPS.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222946" y="4780716"/>
            <a:ext cx="5311015" cy="1086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Чим більше AI-кадрів, тим вищий FPS на екрані. Але кадрів, яких гра не рахувала, стає більше, і помилки на швидких рухах трапляються частіше. Відгук при цьому залежить від справжніх 60 FPS, а не від цифри на екрані.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29" y="812729"/>
            <a:ext cx="10883538" cy="528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DLSS 5: нейромережа додає світло і матеріали</a:t>
            </a:r>
            <a:endParaRPr lang="en-US" sz="3600" dirty="0"/>
          </a:p>
        </p:txBody>
      </p:sp>
      <p:pic>
        <p:nvPicPr>
          <p:cNvPr id="3" name="Image 0" descr="схема DLSS 5"/>
          <p:cNvPicPr>
            <a:picLocks noChangeAspect="1"/>
          </p:cNvPicPr>
          <p:nvPr/>
        </p:nvPicPr>
        <p:blipFill>
          <a:blip r:embed="rId3"/>
          <a:srcRect t="-22" b="-22"/>
          <a:stretch/>
        </p:blipFill>
        <p:spPr>
          <a:xfrm>
            <a:off x="812729" y="1569582"/>
            <a:ext cx="10159974" cy="2158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729" y="3982529"/>
            <a:ext cx="5310931" cy="1314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E6E9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DLSS 2–4.5 змінювали роздільність або додавали кадри. DLSS 5 (вихід у вересні 2026) додає ще один етап: модель розпізнає на кадрі шкіру, волосся, тканину, метал і тип світла, а потім домальовує фотореалістичне освітлення та матеріали.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22946" y="3982529"/>
            <a:ext cx="5311015" cy="1314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E6E9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Ефект: розсіювання світла під шкірою, блиск тканин, відблиски на волоссі, м’якші тіні. NVIDIA каже, що геометрія і текстури не змінюються. Розробник керує інтенсивністю, колірним градуванням і масками.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729" y="6238301"/>
            <a:ext cx="8326843" cy="238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Офіційні порівняння DLSS off / on — у статті NVIDIA «DLSS 5 Delivers AI-Powered Breakthrough…»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29" y="812732"/>
            <a:ext cx="10883538" cy="528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DLSS 5: що змінює світло</a:t>
            </a:r>
            <a:endParaRPr lang="en-US" sz="3600" dirty="0"/>
          </a:p>
        </p:txBody>
      </p:sp>
      <p:pic>
        <p:nvPicPr>
          <p:cNvPr id="3" name="Image 0" descr="порівняння освітлення без і з DLSS 5 (схема)"/>
          <p:cNvPicPr>
            <a:picLocks noChangeAspect="1"/>
          </p:cNvPicPr>
          <p:nvPr/>
        </p:nvPicPr>
        <p:blipFill>
          <a:blip r:embed="rId3"/>
          <a:srcRect l="-34" r="-34"/>
          <a:stretch/>
        </p:blipFill>
        <p:spPr>
          <a:xfrm>
            <a:off x="812729" y="1544179"/>
            <a:ext cx="10159974" cy="29844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729" y="4757192"/>
            <a:ext cx="10883538" cy="577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Спрощено: DLSS 5 не переробляє модель персонажа. Він додає освітлення, яке імітує, як світло проходить крізь шкіру, як м’якнуть тіні і як блищать пасма волосся.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12729" y="6238304"/>
            <a:ext cx="7815042" cy="238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Порівняння офіційних скріншотів NVIDIA DLSS off / on можна вставити на цей слайд окремо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29" y="812726"/>
            <a:ext cx="10883538" cy="528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Що саме змінює DLSS 5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186" y="1580035"/>
          <a:ext cx="10556085" cy="3803466"/>
        </p:xfrm>
        <a:graphic>
          <a:graphicData uri="http://schemas.openxmlformats.org/drawingml/2006/table">
            <a:tbl>
              <a:tblPr/>
              <a:tblGrid>
                <a:gridCol w="3518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8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8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062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Елемент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Без DLSS 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 DLSS 5 (NVIDIA і тести)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676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Шкіра і обличчя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гладка, без видимого розсіювання світла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підповерхневе розсіювання, видно дрібні зморшки й щетину; у критиків обличчя можуть виглядати інакше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91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Волосся і тканини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спрощені відблиски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природніше світло на пасмах, шовковистий блиск тканин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91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Тіні і світло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м’які, менш деталізовані контактні тіні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чіткіші тіні від предметів і листя (за оглядами Witcher 3, Digital Foundry)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91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Настрій сцени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задуманий художником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може стати яскравішим і холоднішим (приклад Oblivion Remastered у тестах)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91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Продуктивність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базовий FPS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 старті падіння 50–60% у NBA 2K27; у жовтні модель вдвічі швидша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729" y="6238298"/>
            <a:ext cx="8042466" cy="238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Джерела: NVIDIA (березень 2026), Digital Foundry, Notebookcheck, GameGPU, оцінки спільноти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29" y="812726"/>
            <a:ext cx="10883538" cy="438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67"/>
              </a:lnSpc>
              <a:buNone/>
            </a:pPr>
            <a:r>
              <a:rPr lang="en-US" sz="2970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Підсумок: від DLSS 1 до DLSS 5</a:t>
            </a:r>
            <a:endParaRPr lang="en-US" sz="297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186" y="1490099"/>
          <a:ext cx="10556085" cy="3644333"/>
        </p:xfrm>
        <a:graphic>
          <a:graphicData uri="http://schemas.openxmlformats.org/drawingml/2006/table">
            <a:tbl>
              <a:tblPr/>
              <a:tblGrid>
                <a:gridCol w="3518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8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8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2470">
                <a:tc>
                  <a:txBody>
                    <a:bodyPr/>
                    <a:lstStyle/>
                    <a:p>
                      <a:pPr marL="0" indent="0">
                        <a:lnSpc>
                          <a:spcPts val="1586"/>
                        </a:lnSpc>
                        <a:buNone/>
                      </a:pPr>
                      <a:r>
                        <a:rPr lang="en-US" sz="1133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Версія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86"/>
                        </a:lnSpc>
                        <a:buNone/>
                      </a:pPr>
                      <a:r>
                        <a:rPr lang="en-US" sz="1133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Рік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86"/>
                        </a:lnSpc>
                        <a:buNone/>
                      </a:pPr>
                      <a:r>
                        <a:rPr lang="en-US" sz="1133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Що додала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470">
                <a:tc>
                  <a:txBody>
                    <a:bodyPr/>
                    <a:lstStyle/>
                    <a:p>
                      <a:pPr marL="0" indent="0">
                        <a:lnSpc>
                          <a:spcPts val="1586"/>
                        </a:lnSpc>
                        <a:buNone/>
                      </a:pPr>
                      <a:r>
                        <a:rPr lang="en-US" sz="1133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DLSS 1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86"/>
                        </a:lnSpc>
                        <a:buNone/>
                      </a:pPr>
                      <a:r>
                        <a:rPr lang="en-US" sz="1133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2018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86"/>
                        </a:lnSpc>
                        <a:buNone/>
                      </a:pPr>
                      <a:r>
                        <a:rPr lang="en-US" sz="1133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апскейл окремою мережею для кожної гри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830">
                <a:tc>
                  <a:txBody>
                    <a:bodyPr/>
                    <a:lstStyle/>
                    <a:p>
                      <a:pPr marL="0" indent="0">
                        <a:lnSpc>
                          <a:spcPts val="1586"/>
                        </a:lnSpc>
                        <a:buNone/>
                      </a:pPr>
                      <a:r>
                        <a:rPr lang="en-US" sz="1133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DLSS 2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86"/>
                        </a:lnSpc>
                        <a:buNone/>
                      </a:pPr>
                      <a:r>
                        <a:rPr lang="en-US" sz="1133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86"/>
                        </a:lnSpc>
                        <a:buNone/>
                      </a:pPr>
                      <a:r>
                        <a:rPr lang="en-US" sz="1133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універсальна temporal-модель, збирає пікселі з минулих кадрів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830">
                <a:tc>
                  <a:txBody>
                    <a:bodyPr/>
                    <a:lstStyle/>
                    <a:p>
                      <a:pPr marL="0" indent="0">
                        <a:lnSpc>
                          <a:spcPts val="1586"/>
                        </a:lnSpc>
                        <a:buNone/>
                      </a:pPr>
                      <a:r>
                        <a:rPr lang="en-US" sz="1133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DLSS 3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86"/>
                        </a:lnSpc>
                        <a:buNone/>
                      </a:pPr>
                      <a:r>
                        <a:rPr lang="en-US" sz="1133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86"/>
                        </a:lnSpc>
                        <a:buNone/>
                      </a:pPr>
                      <a:r>
                        <a:rPr lang="en-US" sz="1133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 Generation: AI-кадри між реальними (RTX 40)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911">
                <a:tc>
                  <a:txBody>
                    <a:bodyPr/>
                    <a:lstStyle/>
                    <a:p>
                      <a:pPr marL="0" indent="0">
                        <a:lnSpc>
                          <a:spcPts val="1586"/>
                        </a:lnSpc>
                        <a:buNone/>
                      </a:pPr>
                      <a:r>
                        <a:rPr lang="en-US" sz="1133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DLSS 4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86"/>
                        </a:lnSpc>
                        <a:buNone/>
                      </a:pPr>
                      <a:r>
                        <a:rPr lang="en-US" sz="1133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86"/>
                        </a:lnSpc>
                        <a:buNone/>
                      </a:pPr>
                      <a:r>
                        <a:rPr lang="en-US" sz="1133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transformer-модель, Multi Frame Generation до 4x (RTX 50)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5911">
                <a:tc>
                  <a:txBody>
                    <a:bodyPr/>
                    <a:lstStyle/>
                    <a:p>
                      <a:pPr marL="0" indent="0">
                        <a:lnSpc>
                          <a:spcPts val="1586"/>
                        </a:lnSpc>
                        <a:buNone/>
                      </a:pPr>
                      <a:r>
                        <a:rPr lang="en-US" sz="1133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DLSS 4.5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86"/>
                        </a:lnSpc>
                        <a:buNone/>
                      </a:pPr>
                      <a:r>
                        <a:rPr lang="en-US" sz="1133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86"/>
                        </a:lnSpc>
                        <a:buNone/>
                      </a:pPr>
                      <a:r>
                        <a:rPr lang="en-US" sz="1133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друге покоління transformer, 6x і динамічний режим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5911">
                <a:tc>
                  <a:txBody>
                    <a:bodyPr/>
                    <a:lstStyle/>
                    <a:p>
                      <a:pPr marL="0" indent="0">
                        <a:lnSpc>
                          <a:spcPts val="1586"/>
                        </a:lnSpc>
                        <a:buNone/>
                      </a:pPr>
                      <a:r>
                        <a:rPr lang="en-US" sz="1133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DLSS 5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86"/>
                        </a:lnSpc>
                        <a:buNone/>
                      </a:pPr>
                      <a:r>
                        <a:rPr lang="en-US" sz="1133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86"/>
                        </a:lnSpc>
                        <a:buNone/>
                      </a:pPr>
                      <a:r>
                        <a:rPr lang="en-US" sz="1133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нейромережа додає фотореалістичне світло і матеріали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729" y="5388403"/>
            <a:ext cx="10883538" cy="479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1"/>
              </a:lnSpc>
              <a:buNone/>
            </a:pPr>
            <a:r>
              <a:rPr lang="en-US" sz="1228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Ключові терміни:</a:t>
            </a:r>
            <a:r>
              <a:rPr lang="en-US" sz="1228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апскейл (збільшення роздільності), temporal (використання минулих кадрів), Frame Generation (вставка AI-кадрів), neural rendering (нейромережа дорисовує частину зображення).</a:t>
            </a:r>
            <a:endParaRPr lang="en-US" sz="1228" dirty="0"/>
          </a:p>
        </p:txBody>
      </p:sp>
      <p:sp>
        <p:nvSpPr>
          <p:cNvPr id="5" name="Text 2"/>
          <p:cNvSpPr/>
          <p:nvPr/>
        </p:nvSpPr>
        <p:spPr>
          <a:xfrm>
            <a:off x="812729" y="6238298"/>
            <a:ext cx="6744779" cy="238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Джерела: NVIDIA, CGChannel, Wikipedia (DLSS), Digital Foundry, Notebookcheck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29" y="812726"/>
            <a:ext cx="10883538" cy="528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Питання для обговорення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3311" y="1620391"/>
            <a:ext cx="10823812" cy="1053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218" indent="-254218" algn="l">
              <a:lnSpc>
                <a:spcPts val="2700"/>
              </a:lnSpc>
              <a:buSzPct val="100000"/>
              <a:buFontTx/>
              <a:buAutoNum type="arabicPeriod"/>
            </a:pPr>
            <a:r>
              <a:rPr lang="en-US" sz="18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варта втрата FPS заради кращого освітлення в грі?</a:t>
            </a:r>
            <a:endParaRPr lang="en-US" sz="1800" dirty="0"/>
          </a:p>
          <a:p>
            <a:pPr marL="254218" indent="-254218" algn="l">
              <a:lnSpc>
                <a:spcPts val="2700"/>
              </a:lnSpc>
              <a:buSzPct val="100000"/>
              <a:buFontTx/>
              <a:buAutoNum type="arabicPeriod"/>
            </a:pPr>
            <a:r>
              <a:rPr lang="en-US" sz="18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межа між покращенням картинки і зміною задуму художника?</a:t>
            </a:r>
            <a:endParaRPr lang="en-US" sz="1800" dirty="0"/>
          </a:p>
          <a:p>
            <a:pPr marL="254218" indent="-254218" algn="l">
              <a:lnSpc>
                <a:spcPts val="2700"/>
              </a:lnSpc>
              <a:buSzPct val="100000"/>
              <a:buFontTx/>
              <a:buAutoNum type="arabicPeriod"/>
            </a:pPr>
            <a:r>
              <a:rPr lang="en-US" sz="18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для вас важливіше: більше кадрів чи точніша картинка?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31779" y="2953730"/>
            <a:ext cx="0" cy="639956"/>
          </a:xfrm>
          <a:prstGeom prst="line">
            <a:avLst/>
          </a:prstGeom>
          <a:noFill/>
          <a:ln w="38100">
            <a:solidFill>
              <a:srgbClr val="0F7B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526" y="2953730"/>
            <a:ext cx="10636547" cy="665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3A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DLSS починався як інструмент продуктивності. DLSS 5 пробує стати інструментом візуального стилю.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729" y="6238304"/>
            <a:ext cx="5938895" cy="238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Джерела: NVIDIA, Digital Foundry, Guru3D, TweakTown, Notebookcheck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9" y="812726"/>
            <a:ext cx="10883538" cy="274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200" dirty="0">
                <a:solidFill>
                  <a:srgbClr val="F0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НОВИЙ ЕТАП · 3 ВЕРЕСНЯ 2026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29" y="2336974"/>
            <a:ext cx="10883538" cy="1366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0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DLSS 5: ШІ змінює освітлення і матеріали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729" y="4953242"/>
            <a:ext cx="3453451" cy="269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3D-Guided Neural Rendering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729" y="5298548"/>
            <a:ext cx="3453451" cy="772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9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не лише підвищує роздільність, а й додає фотореалістичне світло і матеріали, прив'язані до 3D-сцени.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19567" y="4953242"/>
            <a:ext cx="3453451" cy="269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Розуміє сцену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19567" y="5298548"/>
            <a:ext cx="3453451" cy="772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9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Розпізнає персонажів, волосся, тканину й напівпрозору шкіру, а також тип освітлення.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26406" y="4953242"/>
            <a:ext cx="3453451" cy="269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розробника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26406" y="5298548"/>
            <a:ext cx="3453451" cy="772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9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Інтенсивність, колірне градуювання і маски: художник вирішує, де ефект застосовується.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729" y="6238304"/>
            <a:ext cx="3951389" cy="238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Джерело: анонс NVIDIA, GTC 16 березня 2026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29" y="812726"/>
            <a:ext cx="10883538" cy="528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Еволюція за сім років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186" y="1630847"/>
          <a:ext cx="10556085" cy="3833853"/>
        </p:xfrm>
        <a:graphic>
          <a:graphicData uri="http://schemas.openxmlformats.org/drawingml/2006/table">
            <a:tbl>
              <a:tblPr/>
              <a:tblGrid>
                <a:gridCol w="3518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8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8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565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Версія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Рік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Головна ідея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65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DLSS 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окрема мережа для кожної гри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293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DLSS 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універсальна модель, temporal-підхід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2293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DLSS 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 Generation: ШІ малює нові кадри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2293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DLSS 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transformer-модель, до 4x Multi Frame Generation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565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DLSS 4.5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друге покоління transformer, 6x MFG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729" y="6238304"/>
            <a:ext cx="3519872" cy="238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Джерело: NVIDIA, CES 2025 та CES 2026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29" y="812726"/>
            <a:ext cx="10883538" cy="528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Що бачить нейромережа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186" y="1630847"/>
          <a:ext cx="10556086" cy="2743545"/>
        </p:xfrm>
        <a:graphic>
          <a:graphicData uri="http://schemas.openxmlformats.org/drawingml/2006/table">
            <a:tbl>
              <a:tblPr/>
              <a:tblGrid>
                <a:gridCol w="52780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80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709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Вхідні дані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Навіщо потрібні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709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Колір кадру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базове зображення, з якого починаємо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709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Вектори руху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показують, куди рухався кожен піксель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709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Глибина сцени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відстань до об'єктів, важлива для геометрії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709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Попередні кадри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дають стабільність і допомагають заповнити деталі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729" y="4679175"/>
            <a:ext cx="10883538" cy="345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3A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Ключове слово: </a:t>
            </a:r>
            <a:r>
              <a:rPr lang="en-US" sz="1800" b="1" dirty="0">
                <a:solidFill>
                  <a:srgbClr val="3A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</a:t>
            </a:r>
            <a:r>
              <a:rPr lang="en-US" sz="1800" dirty="0">
                <a:solidFill>
                  <a:srgbClr val="3A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DLSS бере інформацію з кількох кадрів, а не з одного.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12729" y="6238304"/>
            <a:ext cx="3595647" cy="238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Спрощений опис, без деталей архітектури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29" y="812726"/>
            <a:ext cx="10883538" cy="528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Ідея: малювати менше, відновлювати розумно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729" y="1855248"/>
            <a:ext cx="2912559" cy="1759838"/>
          </a:xfrm>
          <a:prstGeom prst="roundRect">
            <a:avLst>
              <a:gd name="adj" fmla="val 5773"/>
            </a:avLst>
          </a:prstGeom>
          <a:solidFill>
            <a:srgbClr val="222A34"/>
          </a:solidFill>
          <a:ln/>
        </p:spPr>
      </p:sp>
      <p:sp>
        <p:nvSpPr>
          <p:cNvPr id="4" name="Text 2"/>
          <p:cNvSpPr/>
          <p:nvPr/>
        </p:nvSpPr>
        <p:spPr>
          <a:xfrm>
            <a:off x="1117513" y="2160036"/>
            <a:ext cx="2372081" cy="299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5FD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Рендер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7513" y="2510402"/>
            <a:ext cx="2372081" cy="825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 малює кадр у нижчій роздільності, наприклад 1080p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79261" y="2450685"/>
            <a:ext cx="487687" cy="594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5FD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639639" y="1721935"/>
            <a:ext cx="2912641" cy="2026472"/>
          </a:xfrm>
          <a:prstGeom prst="roundRect">
            <a:avLst>
              <a:gd name="adj" fmla="val 5014"/>
            </a:avLst>
          </a:prstGeom>
          <a:solidFill>
            <a:srgbClr val="222A34"/>
          </a:solidFill>
          <a:ln/>
        </p:spPr>
      </p:sp>
      <p:sp>
        <p:nvSpPr>
          <p:cNvPr id="8" name="Text 6"/>
          <p:cNvSpPr/>
          <p:nvPr/>
        </p:nvSpPr>
        <p:spPr>
          <a:xfrm>
            <a:off x="4944423" y="2026723"/>
            <a:ext cx="2372165" cy="299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5FD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Нейромережа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44423" y="2377089"/>
            <a:ext cx="2372165" cy="1091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Тензорні ядра RTX дорисовують деталі, спираючись на історію кадрів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06252" y="2450685"/>
            <a:ext cx="487687" cy="594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5FD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8466630" y="1721935"/>
            <a:ext cx="2912641" cy="2026472"/>
          </a:xfrm>
          <a:prstGeom prst="roundRect">
            <a:avLst>
              <a:gd name="adj" fmla="val 5014"/>
            </a:avLst>
          </a:prstGeom>
          <a:solidFill>
            <a:srgbClr val="222A34"/>
          </a:solidFill>
          <a:ln/>
        </p:spPr>
      </p:sp>
      <p:sp>
        <p:nvSpPr>
          <p:cNvPr id="12" name="Text 10"/>
          <p:cNvSpPr/>
          <p:nvPr/>
        </p:nvSpPr>
        <p:spPr>
          <a:xfrm>
            <a:off x="8771414" y="2026723"/>
            <a:ext cx="2372165" cy="299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5FD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Вихід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71414" y="2377089"/>
            <a:ext cx="2372165" cy="1091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Зображення у 4K, яке виглядає майже як нативне і виходить швидше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729" y="4154729"/>
            <a:ext cx="10883538" cy="345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B9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працює апскейл: ми платимо за менше пікселів, а отримуємо більше FPS.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2729" y="6238298"/>
            <a:ext cx="3252159" cy="238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 для 4K у режимі 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29" y="812738"/>
            <a:ext cx="10883538" cy="528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Ціна у FPS: NBA 2K27, RTX 5090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729" y="1620403"/>
            <a:ext cx="10883538" cy="292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B9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4K, Ultra, трасування променів: без DLSS 5 і з ним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2729" y="2067322"/>
            <a:ext cx="2092904" cy="274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DLSS 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97026" y="2013979"/>
            <a:ext cx="7467895" cy="355595"/>
          </a:xfrm>
          <a:prstGeom prst="roundRect">
            <a:avLst>
              <a:gd name="adj" fmla="val 14286"/>
            </a:avLst>
          </a:prstGeom>
          <a:solidFill>
            <a:srgbClr val="5FD0B8"/>
          </a:solidFill>
          <a:ln/>
        </p:spPr>
      </p:sp>
      <p:sp>
        <p:nvSpPr>
          <p:cNvPr id="6" name="Text 4"/>
          <p:cNvSpPr/>
          <p:nvPr/>
        </p:nvSpPr>
        <p:spPr>
          <a:xfrm>
            <a:off x="10566471" y="2067322"/>
            <a:ext cx="812800" cy="274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729" y="2549860"/>
            <a:ext cx="2092904" cy="274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DLSS 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97026" y="2496517"/>
            <a:ext cx="7467895" cy="355595"/>
          </a:xfrm>
          <a:prstGeom prst="roundRect">
            <a:avLst>
              <a:gd name="adj" fmla="val 14286"/>
            </a:avLst>
          </a:prstGeom>
          <a:solidFill>
            <a:srgbClr val="F0A06B"/>
          </a:solidFill>
          <a:ln/>
        </p:spPr>
      </p:sp>
      <p:sp>
        <p:nvSpPr>
          <p:cNvPr id="9" name="Text 7"/>
          <p:cNvSpPr/>
          <p:nvPr/>
        </p:nvSpPr>
        <p:spPr>
          <a:xfrm>
            <a:off x="10566471" y="2549860"/>
            <a:ext cx="812800" cy="274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729" y="3156893"/>
            <a:ext cx="10883538" cy="292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B9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1080p, те саме налаштування: процесор стає вузьким місцем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729" y="3603823"/>
            <a:ext cx="2092904" cy="274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DLSS 5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97026" y="3550481"/>
            <a:ext cx="7467895" cy="355595"/>
          </a:xfrm>
          <a:prstGeom prst="roundRect">
            <a:avLst>
              <a:gd name="adj" fmla="val 14286"/>
            </a:avLst>
          </a:prstGeom>
          <a:solidFill>
            <a:srgbClr val="5FD0B8"/>
          </a:solidFill>
          <a:ln/>
        </p:spPr>
      </p:sp>
      <p:sp>
        <p:nvSpPr>
          <p:cNvPr id="13" name="Text 11"/>
          <p:cNvSpPr/>
          <p:nvPr/>
        </p:nvSpPr>
        <p:spPr>
          <a:xfrm>
            <a:off x="10566471" y="3603823"/>
            <a:ext cx="812800" cy="274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729" y="4086361"/>
            <a:ext cx="2092904" cy="274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DLSS 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97026" y="4033019"/>
            <a:ext cx="7467895" cy="355595"/>
          </a:xfrm>
          <a:prstGeom prst="roundRect">
            <a:avLst>
              <a:gd name="adj" fmla="val 14286"/>
            </a:avLst>
          </a:prstGeom>
          <a:solidFill>
            <a:srgbClr val="F0A06B"/>
          </a:solidFill>
          <a:ln/>
        </p:spPr>
      </p:sp>
      <p:sp>
        <p:nvSpPr>
          <p:cNvPr id="16" name="Text 14"/>
          <p:cNvSpPr/>
          <p:nvPr/>
        </p:nvSpPr>
        <p:spPr>
          <a:xfrm>
            <a:off x="10566471" y="4086361"/>
            <a:ext cx="812800" cy="274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729" y="6238304"/>
            <a:ext cx="7921795" cy="238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29" y="812726"/>
            <a:ext cx="10883538" cy="528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Проблема: пікселів забагато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04" y="1674378"/>
            <a:ext cx="3380335" cy="1604078"/>
          </a:xfrm>
          <a:prstGeom prst="roundRect">
            <a:avLst>
              <a:gd name="adj" fmla="val 6136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930" y="1930400"/>
            <a:ext cx="2954332" cy="269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8,3 млн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1930" y="2275706"/>
            <a:ext cx="2954332" cy="523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пікселів у кадрі 4K (3840 × 2160), і кожен треба обчислити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5751" y="1674378"/>
            <a:ext cx="3380417" cy="1604078"/>
          </a:xfrm>
          <a:prstGeom prst="roundRect">
            <a:avLst>
              <a:gd name="adj" fmla="val 6136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1777" y="1930400"/>
            <a:ext cx="2954416" cy="269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16,7 мс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1777" y="2275706"/>
            <a:ext cx="2954416" cy="772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 одного кадру при 60 FPS, на все: фізику, тіні, відбиття, ШІ персонажів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5679" y="1674378"/>
            <a:ext cx="3380417" cy="1604078"/>
          </a:xfrm>
          <a:prstGeom prst="roundRect">
            <a:avLst>
              <a:gd name="adj" fmla="val 6136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1706" y="1930400"/>
            <a:ext cx="2954416" cy="269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Трасування променів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51706" y="2275706"/>
            <a:ext cx="2954416" cy="772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реалістичне світло дорогий, бо промені треба пускати для кожного пікселя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729" y="3637223"/>
            <a:ext cx="10883538" cy="345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3A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Звідси питання: як отримати красиву картинку, не рахуючи все з нуля?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LSS: що це і як працює">
  <a:themeElements>
    <a:clrScheme name="DLSS: що це і як працює">
      <a:dk1>
        <a:srgbClr val="1C2430"/>
      </a:dk1>
      <a:lt1>
        <a:srgbClr val="F7F5F0"/>
      </a:lt1>
      <a:dk2>
        <a:srgbClr val="535860"/>
      </a:dk2>
      <a:lt2>
        <a:srgbClr val="E1E0DD"/>
      </a:lt2>
      <a:accent1>
        <a:srgbClr val="5FD0B8"/>
      </a:accent1>
      <a:accent2>
        <a:srgbClr val="F0A06B"/>
      </a:accent2>
      <a:accent3>
        <a:srgbClr val="0F7B6C"/>
      </a:accent3>
      <a:accent4>
        <a:srgbClr val="6A7179"/>
      </a:accent4>
      <a:accent5>
        <a:srgbClr val="B9C2CC"/>
      </a:accent5>
      <a:accent6>
        <a:srgbClr val="7D8793"/>
      </a:accent6>
      <a:hlink>
        <a:srgbClr val="0563C1"/>
      </a:hlink>
      <a:folHlink>
        <a:srgbClr val="954F72"/>
      </a:folHlink>
    </a:clrScheme>
    <a:fontScheme name="DLSS: що це і як працює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1512</Words>
  <Application>Microsoft Office PowerPoint</Application>
  <PresentationFormat>Широкий екран</PresentationFormat>
  <Paragraphs>191</Paragraphs>
  <Slides>18</Slides>
  <Notes>18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18</vt:i4>
      </vt:variant>
    </vt:vector>
  </HeadingPairs>
  <TitlesOfParts>
    <vt:vector size="21" baseType="lpstr">
      <vt:lpstr>Arial</vt:lpstr>
      <vt:lpstr>Georgia</vt:lpstr>
      <vt:lpstr>DLSS: що це і як працює</vt:lpstr>
      <vt:lpstr>DLSS: що це і як працює</vt:lpstr>
      <vt:lpstr>Що таке DLSS</vt:lpstr>
      <vt:lpstr>Як гра малює один кадр</vt:lpstr>
      <vt:lpstr>DLSS 2: апскейл, тобто домальовування пікселів</vt:lpstr>
      <vt:lpstr>Звідки беруться дані: зсув камери і історія кадрів</vt:lpstr>
      <vt:lpstr>Frame Generation: як з’являється проміжний кадр</vt:lpstr>
      <vt:lpstr>Multi Frame Generation: 2x, 4x, 6x</vt:lpstr>
      <vt:lpstr>DLSS 5: нейромережа додає світло і матеріали</vt:lpstr>
      <vt:lpstr>DLSS 5: що змінює світло</vt:lpstr>
      <vt:lpstr>Що саме змінює DLSS 5</vt:lpstr>
      <vt:lpstr>Підсумок: від DLSS 1 до DLSS 5</vt:lpstr>
      <vt:lpstr>Питання для обговорення</vt:lpstr>
      <vt:lpstr>DLSS 5: ШІ змінює освітлення і матеріали</vt:lpstr>
      <vt:lpstr>Еволюція за сім років</vt:lpstr>
      <vt:lpstr>Що бачить нейромережа</vt:lpstr>
      <vt:lpstr>Ідея: малювати менше, відновлювати розумно</vt:lpstr>
      <vt:lpstr>Ціна у FPS: NBA 2K27, RTX 5090</vt:lpstr>
      <vt:lpstr>Проблема: пікселів забагато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DLSS: що це і як працює</dc:title>
  <dc:subject/>
  <dc:creator/>
  <cp:lastModifiedBy>Andrii I</cp:lastModifiedBy>
  <cp:revision>2</cp:revision>
  <dcterms:created xsi:type="dcterms:W3CDTF">2026-10-15T12:51:26Z</dcterms:created>
  <dcterms:modified xsi:type="dcterms:W3CDTF">2026-10-15T14:25:20Z</dcterms:modified>
</cp:coreProperties>
</file>