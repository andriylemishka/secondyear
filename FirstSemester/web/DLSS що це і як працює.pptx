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для вступу:</a:t>
            </a:r>
          </a:p>
          <a:p>
            <a:r>
              <a:t>Привіт усім! Сьогодні ми поговоримо про технологію, яка за останні роки повністю змінила світ комп'ютерних ігор — NVIDIA DLSS. Майже кожен із нас стикався з тим, що сучасна гра вимагає надпотужного заліза, відеокарта перегрівається, а FPS падає. NVIDIA запропонувала революційне рішення: замість того, щоб змушувати відеокарту малювати кожен піксель «в лоб», долучити штучний інтелект. Ми пройдемо шлях від простого апскейлу до новітньої версії DLSS 5, яка вміє самостійно розраховувати фізику світла.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2:</a:t>
            </a:r>
          </a:p>
          <a:p>
            <a:r>
              <a:t>DLSS розшифровується як Deep Learning Super Sampling. Головне, що треба розуміти студентам: це не просто одна функція, а цілий стек технологій. Перша частина — Super Resolution — це розумний апскейл. Друга частина — Frame Generation — це генерація абсолютно нових кадрів. Третя — Ray Reconstruction, яка очищує шум від трасування променів. Усе це рахується на окремих апаратних блоках відеокарти — Tensor Cores, тому звичайні обчислювальні блоки шейдерів залишаються вільними.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3:</a:t>
            </a:r>
          </a:p>
          <a:p>
            <a:r>
              <a:t>Поясніть студентам просту математику: у 4K екрані 8,3 мільйона точок. Якщо ми хочемо плавні 60 кадрів/сек, у нас є всього 16,7 мілісекунди на весь кадр! Коли додається трасування променів, жодна сучасна відеокарта не може порахувати це «чесно». Закон Мура сповільнився, робити чіпи ще більшими надто дорого й гаряче. Саме тому індустрія перейшла до парадигми нейромережевої реконструкції.</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4:</a:t>
            </a:r>
          </a:p>
          <a:p>
            <a:r>
              <a:t>Головна фішка DLSS 2 — це слово Temporal (часовий). На відміну від звичайного білінійного збільшення картинки, DLSS не вигадує пікселі навмання. Оскільки камера гри кожен кадр злегка тремтить на частку пікселя, за 3–4 кадри ми отримуємо інформацію про всі ділянки сцени. Нейромережа збирає ці пазли докупи за допомогою векторів руху, видаючи якість 4K, яка інколи виглядає чіткіше за нативну завдяки розумному антиаліасингу.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5:</a:t>
            </a:r>
          </a:p>
          <a:p>
            <a:r>
              <a:t>Зверніть увагу аудиторії на різницю між FPS на лічильнику та відчуттям гри в руках. Frame Generation робить картинку надзвичайно плавною для очей. Але гра не рахує фізику для цих проміжних кадрів! Якщо реальний фреймрейт був 30 FPS, а генератор показує 120 FPS — очі бачать плавний рух, але затримка керування залишається як у 30 FPS. Саме тому в динамічних кіберспортивних шутерах професіонали часто вимикають генерацію кадрів або використовують Reflex.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6:</a:t>
            </a:r>
          </a:p>
          <a:p>
            <a:r>
              <a:t>Слайд 6 знаменує переломний момент: вересень 2026 року і вихід DLSS 5. Якщо раніше штучний інтелект лише «дотягував» розмиту картинку, то тепер він займається повноцінним рендерингом! Модель розпізнає семантику сцени. Вона бачить: «це обличчя героя, значить світло має м'яко пробиватися крізь шкіру; це тканина куртки — тут потрібен волокнистий відблиск». Це колосальний крок у бік кінематографічного реалізму.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7:</a:t>
            </a:r>
          </a:p>
          <a:p>
            <a:r>
              <a:t>Тут варто показати аудиторії порівняння. Зверніть увагу на людську шкіру: у класичному рендерингу вона часто виглядає пластмасовою або восковою. DLSS 5 прораховує, як світло розсіюється під шкірою, додаючи теплих відтінків. Волосся перестає мерехтіти окремими пікселями, а одяг набуває реалістичної шовковистості. Але виникає питання: чи не змінює нейромережа оригінальний стиль художників гри?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8:</a:t>
            </a:r>
          </a:p>
          <a:p>
            <a:r>
              <a:t>Це найцікавіший слайд для живої дискусії з аудиторією! Уявіть собі: 8 років нас вчили, що DLSS — це спосіб підняти FPS. І ось виходить DLSS 5, який ріже FPS удвічі! Замість 128 кадрів ми отримуємо 63. Чому? Бо модель запускає важкий трансформер прямо під час рендеру. Друга проблема — естетична. Коли люди увімкнули DLSS 5 у Resident Evil, похмурі страшні персонажі перетворилися на інстаграм-моделей з ідеально гладенькою шкірою. Це показало, що без суворого контролю з боку розробника ШІ може зруйнувати атмосферу гри.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до Слайда 9:</a:t>
            </a:r>
          </a:p>
          <a:p>
            <a:r>
              <a:t>Цей слайд підсумовує колосальний шлях графіки за останні 8 років. У 2018 році DLSS 1 був сирим і мало хто вірив, що нейромережі зможуть працювати в реальному часі зі швидкістю 60 кадрів на секунду. DLSS 2 довів життєздатність концепту. DLSS 3 навчився малювати кадри з нуля. А DLSS 5 перетворив NVIDIA з виробника «заліза» на розробника складної платформи нейронного рендерингу. Зверніть увагу, як зростали апаратні вимоги: від простих тензорних ядер до трансформерних блоків у картах RTX 50.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Спікерські нотатки для завершення доповіді:</a:t>
            </a:r>
          </a:p>
          <a:p>
            <a:r>
              <a:t>Підсумовуйте презентацію трьома запитаннями до зали: 1. Що оберете ви у налаштуваннях: 120 FPS без DLSS 5 чи 60 FPS з неймовірно реалістичним кінематографічним світлом? 2. Чи не боїтеся ви, що всі ігри стануть однаково «вилизаними» через один і той самий ШІ від NVIDIA? 3. І чи не перестануть розробники оптимізувати ігри під звичайні відеокарти? Дякую всім за увагу! Готовий відповісти на ваші запитання.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5F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97280"/>
            <a:ext cx="3474720" cy="292608"/>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5FD0B8"/>
                </a:solidFill>
                <a:latin typeface="Arial"/>
              </a:defRPr>
            </a:pPr>
            <a:r>
              <a:t>●  ТЕХНОЛОГІЇ ГРАФІКИ · NVIDIA</a:t>
            </a:r>
          </a:p>
        </p:txBody>
      </p:sp>
      <p:sp>
        <p:nvSpPr>
          <p:cNvPr id="5" name="TextBox 4"/>
          <p:cNvSpPr txBox="1"/>
          <p:nvPr/>
        </p:nvSpPr>
        <p:spPr>
          <a:xfrm>
            <a:off x="731520" y="1600200"/>
            <a:ext cx="5943600" cy="3108960"/>
          </a:xfrm>
          <a:prstGeom prst="rect">
            <a:avLst/>
          </a:prstGeom>
          <a:noFill/>
        </p:spPr>
        <p:txBody>
          <a:bodyPr wrap="square" lIns="0" tIns="0">
            <a:spAutoFit/>
          </a:bodyPr>
          <a:lstStyle/>
          <a:p>
            <a:pPr>
              <a:spcAft>
                <a:spcPts val="1200"/>
              </a:spcAft>
              <a:defRPr sz="4000" b="1">
                <a:solidFill>
                  <a:srgbClr val="F4F1EA"/>
                </a:solidFill>
                <a:latin typeface="Georgia"/>
              </a:defRPr>
            </a:pPr>
            <a:r>
              <a:t>DLSS: що це і як працює</a:t>
            </a:r>
          </a:p>
          <a:p>
            <a:pPr>
              <a:spcAft>
                <a:spcPts val="2000"/>
              </a:spcAft>
              <a:defRPr sz="1400">
                <a:solidFill>
                  <a:srgbClr val="A5B0C0"/>
                </a:solidFill>
                <a:latin typeface="Arial"/>
              </a:defRPr>
            </a:pPr>
            <a:r>
              <a:t>Апскейл, генерація кадрів і DLSS 5 по кроках: від порятунку слабких ПК до фотореалістичного нейронного освітлення.</a:t>
            </a:r>
          </a:p>
          <a:p>
            <a:pPr>
              <a:defRPr sz="1100" b="1">
                <a:solidFill>
                  <a:srgbClr val="00CCE6"/>
                </a:solidFill>
                <a:latin typeface="Arial"/>
              </a:defRPr>
            </a:pPr>
            <a:r>
              <a:t>Доповідь для студентів: повний розбір технології «на пальцях»</a:t>
            </a:r>
          </a:p>
        </p:txBody>
      </p:sp>
      <p:sp>
        <p:nvSpPr>
          <p:cNvPr id="6" name="Rounded Rectangle 5"/>
          <p:cNvSpPr/>
          <p:nvPr/>
        </p:nvSpPr>
        <p:spPr>
          <a:xfrm>
            <a:off x="6821424" y="1060704"/>
            <a:ext cx="4675327" cy="4005072"/>
          </a:xfrm>
          <a:prstGeom prst="roundRect">
            <a:avLst/>
          </a:prstGeom>
          <a:solidFill>
            <a:srgbClr val="1C2430"/>
          </a:solidFill>
          <a:ln w="1270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ro_title.jpg"/>
          <p:cNvPicPr>
            <a:picLocks noChangeAspect="1"/>
          </p:cNvPicPr>
          <p:nvPr/>
        </p:nvPicPr>
        <p:blipFill>
          <a:blip r:embed="rId2"/>
          <a:stretch>
            <a:fillRect/>
          </a:stretch>
        </p:blipFill>
        <p:spPr>
          <a:xfrm>
            <a:off x="6858000" y="1097280"/>
            <a:ext cx="4602175" cy="3931920"/>
          </a:xfrm>
          <a:prstGeom prst="rect">
            <a:avLst/>
          </a:prstGeom>
        </p:spPr>
      </p:pic>
      <p:sp>
        <p:nvSpPr>
          <p:cNvPr id="8" name="TextBox 7"/>
          <p:cNvSpPr txBox="1"/>
          <p:nvPr/>
        </p:nvSpPr>
        <p:spPr>
          <a:xfrm>
            <a:off x="6858000" y="5074920"/>
            <a:ext cx="4602175" cy="219456"/>
          </a:xfrm>
          <a:prstGeom prst="rect">
            <a:avLst/>
          </a:prstGeom>
          <a:noFill/>
        </p:spPr>
        <p:txBody>
          <a:bodyPr wrap="none" lIns="0" tIns="0" rIns="0" bIns="0">
            <a:spAutoFit/>
          </a:bodyPr>
          <a:lstStyle/>
          <a:p>
            <a:pPr algn="ctr">
              <a:defRPr sz="850">
                <a:solidFill>
                  <a:srgbClr val="A5B0C0"/>
                </a:solidFill>
                <a:latin typeface="Arial"/>
              </a:defRPr>
            </a:pPr>
            <a:r>
              <a:t>ШІ-рендеринг: від полігональної сітки до фотореалізму</a:t>
            </a:r>
          </a:p>
        </p:txBody>
      </p:sp>
      <p:sp>
        <p:nvSpPr>
          <p:cNvPr id="9" name="Rounded Rectangle 8"/>
          <p:cNvSpPr/>
          <p:nvPr/>
        </p:nvSpPr>
        <p:spPr>
          <a:xfrm>
            <a:off x="731520" y="5257800"/>
            <a:ext cx="3474720" cy="1097280"/>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spcAft>
                <a:spcPts val="200"/>
              </a:spcAft>
              <a:defRPr sz="850" b="1">
                <a:solidFill>
                  <a:srgbClr val="5FD0B8"/>
                </a:solidFill>
                <a:latin typeface="Arial"/>
              </a:defRPr>
            </a:pPr>
            <a:r>
              <a:t>ЕТАП 01</a:t>
            </a:r>
          </a:p>
          <a:p>
            <a:pPr>
              <a:spcAft>
                <a:spcPts val="200"/>
              </a:spcAft>
              <a:defRPr sz="1150" b="1">
                <a:solidFill>
                  <a:srgbClr val="F4F1EA"/>
                </a:solidFill>
                <a:latin typeface="Georgia"/>
              </a:defRPr>
            </a:pPr>
            <a:r>
              <a:t>Розумний апскейл</a:t>
            </a:r>
          </a:p>
          <a:p>
            <a:pPr>
              <a:defRPr sz="900">
                <a:solidFill>
                  <a:srgbClr val="A5B0C0"/>
                </a:solidFill>
                <a:latin typeface="Arial"/>
              </a:defRPr>
            </a:pPr>
            <a:r>
              <a:t>Як отримати 4K із 1080p без втрати чіткості</a:t>
            </a:r>
          </a:p>
        </p:txBody>
      </p:sp>
      <p:sp>
        <p:nvSpPr>
          <p:cNvPr id="10" name="Rounded Rectangle 9"/>
          <p:cNvSpPr/>
          <p:nvPr/>
        </p:nvSpPr>
        <p:spPr>
          <a:xfrm>
            <a:off x="4343400" y="5257800"/>
            <a:ext cx="3474720" cy="1097280"/>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spcAft>
                <a:spcPts val="200"/>
              </a:spcAft>
              <a:defRPr sz="850" b="1">
                <a:solidFill>
                  <a:srgbClr val="00CCE6"/>
                </a:solidFill>
                <a:latin typeface="Arial"/>
              </a:defRPr>
            </a:pPr>
            <a:r>
              <a:t>ЕТАП 02</a:t>
            </a:r>
          </a:p>
          <a:p>
            <a:pPr>
              <a:spcAft>
                <a:spcPts val="200"/>
              </a:spcAft>
              <a:defRPr sz="1150" b="1">
                <a:solidFill>
                  <a:srgbClr val="F4F1EA"/>
                </a:solidFill>
                <a:latin typeface="Georgia"/>
              </a:defRPr>
            </a:pPr>
            <a:r>
              <a:t>Генерація кадрів</a:t>
            </a:r>
          </a:p>
          <a:p>
            <a:pPr>
              <a:defRPr sz="900">
                <a:solidFill>
                  <a:srgbClr val="A5B0C0"/>
                </a:solidFill>
                <a:latin typeface="Arial"/>
              </a:defRPr>
            </a:pPr>
            <a:r>
              <a:t>ШІ малює цілі проміжні кадри (DLSS 3 &amp; 4)</a:t>
            </a:r>
          </a:p>
        </p:txBody>
      </p:sp>
      <p:sp>
        <p:nvSpPr>
          <p:cNvPr id="11" name="Rounded Rectangle 10"/>
          <p:cNvSpPr/>
          <p:nvPr/>
        </p:nvSpPr>
        <p:spPr>
          <a:xfrm>
            <a:off x="7955280" y="5257800"/>
            <a:ext cx="3474720" cy="1097280"/>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spcAft>
                <a:spcPts val="200"/>
              </a:spcAft>
              <a:defRPr sz="850" b="1">
                <a:solidFill>
                  <a:srgbClr val="76B900"/>
                </a:solidFill>
                <a:latin typeface="Arial"/>
              </a:defRPr>
            </a:pPr>
            <a:r>
              <a:t>ЕТАП 03</a:t>
            </a:r>
          </a:p>
          <a:p>
            <a:pPr>
              <a:spcAft>
                <a:spcPts val="200"/>
              </a:spcAft>
              <a:defRPr sz="1150" b="1">
                <a:solidFill>
                  <a:srgbClr val="F4F1EA"/>
                </a:solidFill>
                <a:latin typeface="Georgia"/>
              </a:defRPr>
            </a:pPr>
            <a:r>
              <a:t>Нейро-рендеринг</a:t>
            </a:r>
          </a:p>
          <a:p>
            <a:pPr>
              <a:defRPr sz="900">
                <a:solidFill>
                  <a:srgbClr val="A5B0C0"/>
                </a:solidFill>
                <a:latin typeface="Arial"/>
              </a:defRPr>
            </a:pPr>
            <a:r>
              <a:t>DLSS 5: фотореалістичне світло та матеріали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ОСНОВИ ТА АПАРАТНИЙ ШІ</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02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Що таке DLSS та як працює ШІ на відеокартах</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731520" y="15544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19072"/>
            <a:ext cx="4901184" cy="1088136"/>
          </a:xfrm>
          <a:prstGeom prst="rect">
            <a:avLst/>
          </a:prstGeom>
          <a:noFill/>
        </p:spPr>
        <p:txBody>
          <a:bodyPr wrap="square" lIns="0" tIns="0" rIns="0" bIns="0">
            <a:spAutoFit/>
          </a:bodyPr>
          <a:lstStyle/>
          <a:p>
            <a:pPr>
              <a:spcAft>
                <a:spcPts val="200"/>
              </a:spcAft>
              <a:defRPr sz="850" b="1">
                <a:solidFill>
                  <a:srgbClr val="008766"/>
                </a:solidFill>
                <a:latin typeface="Arial"/>
              </a:defRPr>
            </a:pPr>
            <a:r>
              <a:t>ФУНДАМЕНТ (DLSS 2)</a:t>
            </a:r>
          </a:p>
          <a:p>
            <a:pPr>
              <a:spcAft>
                <a:spcPts val="600"/>
              </a:spcAft>
              <a:defRPr sz="1350" b="1">
                <a:solidFill>
                  <a:srgbClr val="1C2430"/>
                </a:solidFill>
                <a:latin typeface="Georgia"/>
              </a:defRPr>
            </a:pPr>
            <a:r>
              <a:t>1. Super Resolution (Апскейл пікселів)</a:t>
            </a:r>
          </a:p>
          <a:p>
            <a:pPr>
              <a:spcAft>
                <a:spcPts val="400"/>
              </a:spcAft>
              <a:defRPr sz="1050">
                <a:solidFill>
                  <a:srgbClr val="555F6E"/>
                </a:solidFill>
                <a:latin typeface="Arial"/>
              </a:defRPr>
            </a:pPr>
            <a:r>
              <a:t>• Гра малюється в меншій роздільності (наприклад, 1080p), заощаджуючи ресурси GPU.</a:t>
            </a:r>
          </a:p>
          <a:p>
            <a:pPr>
              <a:spcAft>
                <a:spcPts val="400"/>
              </a:spcAft>
              <a:defRPr sz="1050">
                <a:solidFill>
                  <a:srgbClr val="555F6E"/>
                </a:solidFill>
                <a:latin typeface="Arial"/>
              </a:defRPr>
            </a:pPr>
            <a:r>
              <a:t>• Нейромережа на тензорних ядрах домальовує відсутні пікселі до цільового 4K.</a:t>
            </a:r>
          </a:p>
        </p:txBody>
      </p:sp>
      <p:sp>
        <p:nvSpPr>
          <p:cNvPr id="11" name="Rounded Rectangle 10"/>
          <p:cNvSpPr/>
          <p:nvPr/>
        </p:nvSpPr>
        <p:spPr>
          <a:xfrm>
            <a:off x="731520" y="31546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319272"/>
            <a:ext cx="4901184" cy="1088136"/>
          </a:xfrm>
          <a:prstGeom prst="rect">
            <a:avLst/>
          </a:prstGeom>
          <a:noFill/>
        </p:spPr>
        <p:txBody>
          <a:bodyPr wrap="square" lIns="0" tIns="0" rIns="0" bIns="0">
            <a:spAutoFit/>
          </a:bodyPr>
          <a:lstStyle/>
          <a:p>
            <a:pPr>
              <a:spcAft>
                <a:spcPts val="200"/>
              </a:spcAft>
              <a:defRPr sz="850" b="1">
                <a:solidFill>
                  <a:srgbClr val="0284C7"/>
                </a:solidFill>
                <a:latin typeface="Arial"/>
              </a:defRPr>
            </a:pPr>
            <a:r>
              <a:t>ПЛАВНІСТЬ (DLSS 3 &amp; 4)</a:t>
            </a:r>
          </a:p>
          <a:p>
            <a:pPr>
              <a:spcAft>
                <a:spcPts val="600"/>
              </a:spcAft>
              <a:defRPr sz="1350" b="1">
                <a:solidFill>
                  <a:srgbClr val="1C2430"/>
                </a:solidFill>
                <a:latin typeface="Georgia"/>
              </a:defRPr>
            </a:pPr>
            <a:r>
              <a:t>2. Frame Generation (Створення нових кадрів)</a:t>
            </a:r>
          </a:p>
          <a:p>
            <a:pPr>
              <a:spcAft>
                <a:spcPts val="400"/>
              </a:spcAft>
              <a:defRPr sz="1050">
                <a:solidFill>
                  <a:srgbClr val="555F6E"/>
                </a:solidFill>
                <a:latin typeface="Arial"/>
              </a:defRPr>
            </a:pPr>
            <a:r>
              <a:t>• Нейромережа створює абсолютно нові проміжні кадри між двома реальними кадрами рушія.</a:t>
            </a:r>
          </a:p>
          <a:p>
            <a:pPr>
              <a:spcAft>
                <a:spcPts val="400"/>
              </a:spcAft>
              <a:defRPr sz="1050">
                <a:solidFill>
                  <a:srgbClr val="555F6E"/>
                </a:solidFill>
                <a:latin typeface="Arial"/>
              </a:defRPr>
            </a:pPr>
            <a:r>
              <a:t>• Плавність картинки та лічильник FPS зростають удвічі або навіть учетверо (RTX 40 / 50).</a:t>
            </a:r>
          </a:p>
        </p:txBody>
      </p:sp>
      <p:sp>
        <p:nvSpPr>
          <p:cNvPr id="13" name="Rounded Rectangle 12"/>
          <p:cNvSpPr/>
          <p:nvPr/>
        </p:nvSpPr>
        <p:spPr>
          <a:xfrm>
            <a:off x="731520" y="47548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919472"/>
            <a:ext cx="4901184" cy="1088136"/>
          </a:xfrm>
          <a:prstGeom prst="rect">
            <a:avLst/>
          </a:prstGeom>
          <a:noFill/>
        </p:spPr>
        <p:txBody>
          <a:bodyPr wrap="square" lIns="0" tIns="0" rIns="0" bIns="0">
            <a:spAutoFit/>
          </a:bodyPr>
          <a:lstStyle/>
          <a:p>
            <a:pPr>
              <a:spcAft>
                <a:spcPts val="200"/>
              </a:spcAft>
              <a:defRPr sz="850" b="1">
                <a:solidFill>
                  <a:srgbClr val="9333EA"/>
                </a:solidFill>
                <a:latin typeface="Arial"/>
              </a:defRPr>
            </a:pPr>
            <a:r>
              <a:t>ЯКІСТЬ (DLSS 3.5)</a:t>
            </a:r>
          </a:p>
          <a:p>
            <a:pPr>
              <a:spcAft>
                <a:spcPts val="600"/>
              </a:spcAft>
              <a:defRPr sz="1350" b="1">
                <a:solidFill>
                  <a:srgbClr val="1C2430"/>
                </a:solidFill>
                <a:latin typeface="Georgia"/>
              </a:defRPr>
            </a:pPr>
            <a:r>
              <a:t>3. Ray Reconstruction (Чисте трасування променів)</a:t>
            </a:r>
          </a:p>
          <a:p>
            <a:pPr>
              <a:spcAft>
                <a:spcPts val="400"/>
              </a:spcAft>
              <a:defRPr sz="1050">
                <a:solidFill>
                  <a:srgbClr val="555F6E"/>
                </a:solidFill>
                <a:latin typeface="Arial"/>
              </a:defRPr>
            </a:pPr>
            <a:r>
              <a:t>• Трасування променів генерує багато шуму, який важко фільтрувати звичайними методами.</a:t>
            </a:r>
          </a:p>
          <a:p>
            <a:pPr>
              <a:spcAft>
                <a:spcPts val="400"/>
              </a:spcAft>
              <a:defRPr sz="1050">
                <a:solidFill>
                  <a:srgbClr val="555F6E"/>
                </a:solidFill>
                <a:latin typeface="Arial"/>
              </a:defRPr>
            </a:pPr>
            <a:r>
              <a:t>• ШІ аналізує траєкторії променів у часі й генерує бездоганні дзеркальні відблиски й тіні.</a:t>
            </a:r>
          </a:p>
        </p:txBody>
      </p:sp>
      <p:sp>
        <p:nvSpPr>
          <p:cNvPr id="15" name="Rounded Rectangle 14"/>
          <p:cNvSpPr/>
          <p:nvPr/>
        </p:nvSpPr>
        <p:spPr>
          <a:xfrm>
            <a:off x="6272784" y="1517904"/>
            <a:ext cx="5223967" cy="400507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lss_concept.jpg"/>
          <p:cNvPicPr>
            <a:picLocks noChangeAspect="1"/>
          </p:cNvPicPr>
          <p:nvPr/>
        </p:nvPicPr>
        <p:blipFill>
          <a:blip r:embed="rId2"/>
          <a:stretch>
            <a:fillRect/>
          </a:stretch>
        </p:blipFill>
        <p:spPr>
          <a:xfrm>
            <a:off x="6309360" y="1554480"/>
            <a:ext cx="5150815" cy="3931920"/>
          </a:xfrm>
          <a:prstGeom prst="rect">
            <a:avLst/>
          </a:prstGeom>
        </p:spPr>
      </p:pic>
      <p:sp>
        <p:nvSpPr>
          <p:cNvPr id="17" name="TextBox 16"/>
          <p:cNvSpPr txBox="1"/>
          <p:nvPr/>
        </p:nvSpPr>
        <p:spPr>
          <a:xfrm>
            <a:off x="6309360" y="5532120"/>
            <a:ext cx="5150815" cy="219456"/>
          </a:xfrm>
          <a:prstGeom prst="rect">
            <a:avLst/>
          </a:prstGeom>
          <a:noFill/>
        </p:spPr>
        <p:txBody>
          <a:bodyPr wrap="none" lIns="0" tIns="0" rIns="0" bIns="0">
            <a:spAutoFit/>
          </a:bodyPr>
          <a:lstStyle/>
          <a:p>
            <a:pPr algn="ctr">
              <a:defRPr sz="850">
                <a:solidFill>
                  <a:srgbClr val="555F6E"/>
                </a:solidFill>
                <a:latin typeface="Arial"/>
              </a:defRPr>
            </a:pPr>
            <a:r>
              <a:t>Апаратна основа: тензорні ядра RTX обробляють нейромережу паралельно з грою</a:t>
            </a:r>
          </a:p>
        </p:txBody>
      </p:sp>
      <p:sp>
        <p:nvSpPr>
          <p:cNvPr id="18" name="Rounded Rectangle 17"/>
          <p:cNvSpPr/>
          <p:nvPr/>
        </p:nvSpPr>
        <p:spPr>
          <a:xfrm>
            <a:off x="6309360" y="5715000"/>
            <a:ext cx="5150815" cy="594360"/>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950">
                <a:solidFill>
                  <a:srgbClr val="1C2430"/>
                </a:solidFill>
                <a:latin typeface="Arial"/>
              </a:defRPr>
            </a:pPr>
            <a:r>
              <a:t>💡 Важливо: у налаштуваннях гри кожну технологію (апскейл, генерацію кадрів чи промені) можна вмикати окремо під власну відеокарту.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ВИКЛИК ДЛЯ ЗАЛІЗА</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03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Проблема рендерингу: чому пікселів забагато?</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731520" y="15544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19072"/>
            <a:ext cx="4901184" cy="1088136"/>
          </a:xfrm>
          <a:prstGeom prst="rect">
            <a:avLst/>
          </a:prstGeom>
          <a:noFill/>
        </p:spPr>
        <p:txBody>
          <a:bodyPr wrap="square" lIns="0" tIns="0" rIns="0" bIns="0">
            <a:spAutoFit/>
          </a:bodyPr>
          <a:lstStyle/>
          <a:p>
            <a:pPr>
              <a:spcAft>
                <a:spcPts val="200"/>
              </a:spcAft>
              <a:defRPr sz="850" b="1">
                <a:solidFill>
                  <a:srgbClr val="DC2626"/>
                </a:solidFill>
                <a:latin typeface="Arial"/>
              </a:defRPr>
            </a:pPr>
            <a:r>
              <a:t>МАСШТАБ ОБЧИСЛЕНЬ</a:t>
            </a:r>
          </a:p>
          <a:p>
            <a:pPr>
              <a:spcAft>
                <a:spcPts val="600"/>
              </a:spcAft>
              <a:defRPr sz="1350" b="1">
                <a:solidFill>
                  <a:srgbClr val="1C2430"/>
                </a:solidFill>
                <a:latin typeface="Georgia"/>
              </a:defRPr>
            </a:pPr>
            <a:r>
              <a:t>8,3 мільйона пікселів у кожному 4K-кадрі</a:t>
            </a:r>
          </a:p>
          <a:p>
            <a:pPr>
              <a:spcAft>
                <a:spcPts val="400"/>
              </a:spcAft>
              <a:defRPr sz="1050">
                <a:solidFill>
                  <a:srgbClr val="555F6E"/>
                </a:solidFill>
                <a:latin typeface="Arial"/>
              </a:defRPr>
            </a:pPr>
            <a:r>
              <a:t>• Роздільність 3840 × 2160 вимагає обчислення кольору та освітлення для кожного пікселя.</a:t>
            </a:r>
          </a:p>
          <a:p>
            <a:pPr>
              <a:spcAft>
                <a:spcPts val="400"/>
              </a:spcAft>
              <a:defRPr sz="1050">
                <a:solidFill>
                  <a:srgbClr val="555F6E"/>
                </a:solidFill>
                <a:latin typeface="Arial"/>
              </a:defRPr>
            </a:pPr>
            <a:r>
              <a:t>• Для нативного 4K навантаження на пам'ять та ядра відеокарти зростає вчетверо порівняно з 1080p.</a:t>
            </a:r>
          </a:p>
        </p:txBody>
      </p:sp>
      <p:sp>
        <p:nvSpPr>
          <p:cNvPr id="11" name="Rounded Rectangle 10"/>
          <p:cNvSpPr/>
          <p:nvPr/>
        </p:nvSpPr>
        <p:spPr>
          <a:xfrm>
            <a:off x="731520" y="31546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319272"/>
            <a:ext cx="4901184" cy="1088136"/>
          </a:xfrm>
          <a:prstGeom prst="rect">
            <a:avLst/>
          </a:prstGeom>
          <a:noFill/>
        </p:spPr>
        <p:txBody>
          <a:bodyPr wrap="square" lIns="0" tIns="0" rIns="0" bIns="0">
            <a:spAutoFit/>
          </a:bodyPr>
          <a:lstStyle/>
          <a:p>
            <a:pPr>
              <a:spcAft>
                <a:spcPts val="200"/>
              </a:spcAft>
              <a:defRPr sz="850" b="1">
                <a:solidFill>
                  <a:srgbClr val="EB8C14"/>
                </a:solidFill>
                <a:latin typeface="Arial"/>
              </a:defRPr>
            </a:pPr>
            <a:r>
              <a:t>ЖОРСТКИЙ ТАЙМІНГ</a:t>
            </a:r>
          </a:p>
          <a:p>
            <a:pPr>
              <a:spcAft>
                <a:spcPts val="600"/>
              </a:spcAft>
              <a:defRPr sz="1350" b="1">
                <a:solidFill>
                  <a:srgbClr val="1C2430"/>
                </a:solidFill>
                <a:latin typeface="Georgia"/>
              </a:defRPr>
            </a:pPr>
            <a:r>
              <a:t>Лише 16,7 мілісекунди на весь кадр при 60 FPS</a:t>
            </a:r>
          </a:p>
          <a:p>
            <a:pPr>
              <a:spcAft>
                <a:spcPts val="400"/>
              </a:spcAft>
              <a:defRPr sz="1050">
                <a:solidFill>
                  <a:srgbClr val="555F6E"/>
                </a:solidFill>
                <a:latin typeface="Arial"/>
              </a:defRPr>
            </a:pPr>
            <a:r>
              <a:t>• За цей крихітний час процесор і GPU мусять розрахувати геометрію, фізику, штучний інтелект ворогів, джерела світла та постобробку.</a:t>
            </a:r>
          </a:p>
          <a:p>
            <a:pPr>
              <a:spcAft>
                <a:spcPts val="400"/>
              </a:spcAft>
              <a:defRPr sz="1050">
                <a:solidFill>
                  <a:srgbClr val="555F6E"/>
                </a:solidFill>
                <a:latin typeface="Arial"/>
              </a:defRPr>
            </a:pPr>
            <a:r>
              <a:t>• Якщо час кадру перевищує 16,7 мс — гра починає смикатися та гальмувати.</a:t>
            </a:r>
          </a:p>
        </p:txBody>
      </p:sp>
      <p:sp>
        <p:nvSpPr>
          <p:cNvPr id="13" name="Rounded Rectangle 12"/>
          <p:cNvSpPr/>
          <p:nvPr/>
        </p:nvSpPr>
        <p:spPr>
          <a:xfrm>
            <a:off x="731520" y="4754880"/>
            <a:ext cx="5303520" cy="141732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919472"/>
            <a:ext cx="4901184" cy="1088136"/>
          </a:xfrm>
          <a:prstGeom prst="rect">
            <a:avLst/>
          </a:prstGeom>
          <a:noFill/>
        </p:spPr>
        <p:txBody>
          <a:bodyPr wrap="square" lIns="0" tIns="0" rIns="0" bIns="0">
            <a:spAutoFit/>
          </a:bodyPr>
          <a:lstStyle/>
          <a:p>
            <a:pPr>
              <a:spcAft>
                <a:spcPts val="200"/>
              </a:spcAft>
              <a:defRPr sz="850" b="1">
                <a:solidFill>
                  <a:srgbClr val="9333EA"/>
                </a:solidFill>
                <a:latin typeface="Arial"/>
              </a:defRPr>
            </a:pPr>
            <a:r>
              <a:t>ГЛУХИЙ КУТ КРЕМНІЮ</a:t>
            </a:r>
          </a:p>
          <a:p>
            <a:pPr>
              <a:spcAft>
                <a:spcPts val="600"/>
              </a:spcAft>
              <a:defRPr sz="1350" b="1">
                <a:solidFill>
                  <a:srgbClr val="1C2430"/>
                </a:solidFill>
                <a:latin typeface="Georgia"/>
              </a:defRPr>
            </a:pPr>
            <a:r>
              <a:t>Трасування променів (Ray Tracing): межа можливостей</a:t>
            </a:r>
          </a:p>
          <a:p>
            <a:pPr>
              <a:spcAft>
                <a:spcPts val="400"/>
              </a:spcAft>
              <a:defRPr sz="1050">
                <a:solidFill>
                  <a:srgbClr val="555F6E"/>
                </a:solidFill>
                <a:latin typeface="Arial"/>
              </a:defRPr>
            </a:pPr>
            <a:r>
              <a:t>• Фізично коректне світло вимагає випускати мільйони променів, які багаторазово відбиваються від поверхонь.</a:t>
            </a:r>
          </a:p>
          <a:p>
            <a:pPr>
              <a:spcAft>
                <a:spcPts val="400"/>
              </a:spcAft>
              <a:defRPr sz="1050">
                <a:solidFill>
                  <a:srgbClr val="555F6E"/>
                </a:solidFill>
                <a:latin typeface="Arial"/>
              </a:defRPr>
            </a:pPr>
            <a:r>
              <a:t>• Традиційний рендеринг уперся в глухий кут: нативний розрахунок вимагає відеокарт на 800+ Ват.</a:t>
            </a:r>
          </a:p>
        </p:txBody>
      </p:sp>
      <p:sp>
        <p:nvSpPr>
          <p:cNvPr id="15" name="Rounded Rectangle 14"/>
          <p:cNvSpPr/>
          <p:nvPr/>
        </p:nvSpPr>
        <p:spPr>
          <a:xfrm>
            <a:off x="6272784" y="1517904"/>
            <a:ext cx="5223967" cy="400507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ipeline_dragon.jpg"/>
          <p:cNvPicPr>
            <a:picLocks noChangeAspect="1"/>
          </p:cNvPicPr>
          <p:nvPr/>
        </p:nvPicPr>
        <p:blipFill>
          <a:blip r:embed="rId2"/>
          <a:stretch>
            <a:fillRect/>
          </a:stretch>
        </p:blipFill>
        <p:spPr>
          <a:xfrm>
            <a:off x="6309360" y="1554480"/>
            <a:ext cx="5150815" cy="3931920"/>
          </a:xfrm>
          <a:prstGeom prst="rect">
            <a:avLst/>
          </a:prstGeom>
        </p:spPr>
      </p:pic>
      <p:sp>
        <p:nvSpPr>
          <p:cNvPr id="17" name="TextBox 16"/>
          <p:cNvSpPr txBox="1"/>
          <p:nvPr/>
        </p:nvSpPr>
        <p:spPr>
          <a:xfrm>
            <a:off x="6309360" y="5532120"/>
            <a:ext cx="5150815" cy="219456"/>
          </a:xfrm>
          <a:prstGeom prst="rect">
            <a:avLst/>
          </a:prstGeom>
          <a:noFill/>
        </p:spPr>
        <p:txBody>
          <a:bodyPr wrap="none" lIns="0" tIns="0" rIns="0" bIns="0">
            <a:spAutoFit/>
          </a:bodyPr>
          <a:lstStyle/>
          <a:p>
            <a:pPr algn="ctr">
              <a:defRPr sz="850">
                <a:solidFill>
                  <a:srgbClr val="555F6E"/>
                </a:solidFill>
                <a:latin typeface="Arial"/>
              </a:defRPr>
            </a:pPr>
            <a:r>
              <a:t>Етапи конвеєра: геометрія (сітка) → матеріали → трасування променів → вихідний 4K-буфер</a:t>
            </a:r>
          </a:p>
        </p:txBody>
      </p:sp>
      <p:sp>
        <p:nvSpPr>
          <p:cNvPr id="18" name="Rounded Rectangle 17"/>
          <p:cNvSpPr/>
          <p:nvPr/>
        </p:nvSpPr>
        <p:spPr>
          <a:xfrm>
            <a:off x="6309360" y="5715000"/>
            <a:ext cx="5150815" cy="594360"/>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950">
                <a:solidFill>
                  <a:srgbClr val="1C2430"/>
                </a:solidFill>
                <a:latin typeface="Arial"/>
              </a:defRPr>
            </a:pPr>
            <a:r>
              <a:t>🎯 Висновок інженерів: малювати кожен піксель з нуля стає неможливо. Єдиний шлях — малювати менше, а деталі відновлювати за допомогою ШІ.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ЧАСОВИЙ АПСКЕЙЛ (TEMPORAL)</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04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DLSS 2: Super Resolution — магія часового апскейлу</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694944" y="1517904"/>
            <a:ext cx="10801807" cy="272491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4-1.png"/>
          <p:cNvPicPr>
            <a:picLocks noChangeAspect="1"/>
          </p:cNvPicPr>
          <p:nvPr/>
        </p:nvPicPr>
        <p:blipFill>
          <a:blip r:embed="rId2"/>
          <a:stretch>
            <a:fillRect/>
          </a:stretch>
        </p:blipFill>
        <p:spPr>
          <a:xfrm>
            <a:off x="731520" y="1554480"/>
            <a:ext cx="10728655" cy="2651760"/>
          </a:xfrm>
          <a:prstGeom prst="rect">
            <a:avLst/>
          </a:prstGeom>
        </p:spPr>
      </p:pic>
      <p:sp>
        <p:nvSpPr>
          <p:cNvPr id="11" name="TextBox 10"/>
          <p:cNvSpPr txBox="1"/>
          <p:nvPr/>
        </p:nvSpPr>
        <p:spPr>
          <a:xfrm>
            <a:off x="731520" y="4251960"/>
            <a:ext cx="10728655" cy="219456"/>
          </a:xfrm>
          <a:prstGeom prst="rect">
            <a:avLst/>
          </a:prstGeom>
          <a:noFill/>
        </p:spPr>
        <p:txBody>
          <a:bodyPr wrap="none" lIns="0" tIns="0" rIns="0" bIns="0">
            <a:spAutoFit/>
          </a:bodyPr>
          <a:lstStyle/>
          <a:p>
            <a:pPr algn="ctr">
              <a:defRPr sz="850">
                <a:solidFill>
                  <a:srgbClr val="555F6E"/>
                </a:solidFill>
                <a:latin typeface="Arial"/>
              </a:defRPr>
            </a:pPr>
            <a:r>
              <a:t>Схема роботи DLSS 2: відновлення 4K із низької роздільності за допомогою історії кадрів</a:t>
            </a:r>
          </a:p>
        </p:txBody>
      </p:sp>
      <p:sp>
        <p:nvSpPr>
          <p:cNvPr id="12" name="Rounded Rectangle 11"/>
          <p:cNvSpPr/>
          <p:nvPr/>
        </p:nvSpPr>
        <p:spPr>
          <a:xfrm>
            <a:off x="731520"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599432"/>
            <a:ext cx="3026664" cy="1545335"/>
          </a:xfrm>
          <a:prstGeom prst="rect">
            <a:avLst/>
          </a:prstGeom>
          <a:noFill/>
        </p:spPr>
        <p:txBody>
          <a:bodyPr wrap="square" lIns="0" tIns="0" rIns="0" bIns="0">
            <a:spAutoFit/>
          </a:bodyPr>
          <a:lstStyle/>
          <a:p>
            <a:pPr>
              <a:spcAft>
                <a:spcPts val="200"/>
              </a:spcAft>
              <a:defRPr sz="850" b="1">
                <a:solidFill>
                  <a:srgbClr val="008766"/>
                </a:solidFill>
                <a:latin typeface="Arial"/>
              </a:defRPr>
            </a:pPr>
            <a:r>
              <a:t>ЛЕГКИЙ СТАРТ</a:t>
            </a:r>
          </a:p>
          <a:p>
            <a:pPr>
              <a:spcAft>
                <a:spcPts val="600"/>
              </a:spcAft>
              <a:defRPr sz="1350" b="1">
                <a:solidFill>
                  <a:srgbClr val="1C2430"/>
                </a:solidFill>
                <a:latin typeface="Georgia"/>
              </a:defRPr>
            </a:pPr>
            <a:r>
              <a:t>1. Рендеринг у 1080p</a:t>
            </a:r>
          </a:p>
          <a:p>
            <a:pPr>
              <a:spcAft>
                <a:spcPts val="400"/>
              </a:spcAft>
              <a:defRPr sz="1050">
                <a:solidFill>
                  <a:srgbClr val="555F6E"/>
                </a:solidFill>
                <a:latin typeface="Arial"/>
              </a:defRPr>
            </a:pPr>
            <a:r>
              <a:t>• Гра малює кадр у роздільності Full HD — це рівно у 4 рази менше пікселів, ніж у 4K.</a:t>
            </a:r>
          </a:p>
          <a:p>
            <a:pPr>
              <a:spcAft>
                <a:spcPts val="400"/>
              </a:spcAft>
              <a:defRPr sz="1050">
                <a:solidFill>
                  <a:srgbClr val="555F6E"/>
                </a:solidFill>
                <a:latin typeface="Arial"/>
              </a:defRPr>
            </a:pPr>
            <a:r>
              <a:t>• Відеокарта працює в легкому режимі й видає дуже високу базову частоту кадрів.</a:t>
            </a:r>
          </a:p>
        </p:txBody>
      </p:sp>
      <p:sp>
        <p:nvSpPr>
          <p:cNvPr id="14" name="Rounded Rectangle 13"/>
          <p:cNvSpPr/>
          <p:nvPr/>
        </p:nvSpPr>
        <p:spPr>
          <a:xfrm>
            <a:off x="4370832"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599432"/>
            <a:ext cx="3026664" cy="1545335"/>
          </a:xfrm>
          <a:prstGeom prst="rect">
            <a:avLst/>
          </a:prstGeom>
          <a:noFill/>
        </p:spPr>
        <p:txBody>
          <a:bodyPr wrap="square" lIns="0" tIns="0" rIns="0" bIns="0">
            <a:spAutoFit/>
          </a:bodyPr>
          <a:lstStyle/>
          <a:p>
            <a:pPr>
              <a:spcAft>
                <a:spcPts val="200"/>
              </a:spcAft>
              <a:defRPr sz="850" b="1">
                <a:solidFill>
                  <a:srgbClr val="0284C7"/>
                </a:solidFill>
                <a:latin typeface="Arial"/>
              </a:defRPr>
            </a:pPr>
            <a:r>
              <a:t>ЗБИРАННЯ ДАНИХ</a:t>
            </a:r>
          </a:p>
          <a:p>
            <a:pPr>
              <a:spcAft>
                <a:spcPts val="600"/>
              </a:spcAft>
              <a:defRPr sz="1350" b="1">
                <a:solidFill>
                  <a:srgbClr val="1C2430"/>
                </a:solidFill>
                <a:latin typeface="Georgia"/>
              </a:defRPr>
            </a:pPr>
            <a:r>
              <a:t>2. Jitter та вектори руху</a:t>
            </a:r>
          </a:p>
          <a:p>
            <a:pPr>
              <a:spcAft>
                <a:spcPts val="400"/>
              </a:spcAft>
              <a:defRPr sz="1050">
                <a:solidFill>
                  <a:srgbClr val="555F6E"/>
                </a:solidFill>
                <a:latin typeface="Arial"/>
              </a:defRPr>
            </a:pPr>
            <a:r>
              <a:t>• Камера навмисно зсувається на частку пікселя (субпіксельний jitter) кожен кадр.</a:t>
            </a:r>
          </a:p>
          <a:p>
            <a:pPr>
              <a:spcAft>
                <a:spcPts val="400"/>
              </a:spcAft>
              <a:defRPr sz="1050">
                <a:solidFill>
                  <a:srgbClr val="555F6E"/>
                </a:solidFill>
                <a:latin typeface="Arial"/>
              </a:defRPr>
            </a:pPr>
            <a:r>
              <a:t>• Вектори руху (Motion Vectors) точно показують нейромережі, куди змістилися об'єкти.</a:t>
            </a:r>
          </a:p>
        </p:txBody>
      </p:sp>
      <p:sp>
        <p:nvSpPr>
          <p:cNvPr id="16" name="Rounded Rectangle 15"/>
          <p:cNvSpPr/>
          <p:nvPr/>
        </p:nvSpPr>
        <p:spPr>
          <a:xfrm>
            <a:off x="8028431"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4599432"/>
            <a:ext cx="3026664" cy="1545335"/>
          </a:xfrm>
          <a:prstGeom prst="rect">
            <a:avLst/>
          </a:prstGeom>
          <a:noFill/>
        </p:spPr>
        <p:txBody>
          <a:bodyPr wrap="square" lIns="0" tIns="0" rIns="0" bIns="0">
            <a:spAutoFit/>
          </a:bodyPr>
          <a:lstStyle/>
          <a:p>
            <a:pPr>
              <a:spcAft>
                <a:spcPts val="200"/>
              </a:spcAft>
              <a:defRPr sz="850" b="1">
                <a:solidFill>
                  <a:srgbClr val="9333EA"/>
                </a:solidFill>
                <a:latin typeface="Arial"/>
              </a:defRPr>
            </a:pPr>
            <a:r>
              <a:t>ФІНАЛЬНИЙ 4K</a:t>
            </a:r>
          </a:p>
          <a:p>
            <a:pPr>
              <a:spcAft>
                <a:spcPts val="600"/>
              </a:spcAft>
              <a:defRPr sz="1350" b="1">
                <a:solidFill>
                  <a:srgbClr val="1C2430"/>
                </a:solidFill>
                <a:latin typeface="Georgia"/>
              </a:defRPr>
            </a:pPr>
            <a:r>
              <a:t>3. Нейронне злиття</a:t>
            </a:r>
          </a:p>
          <a:p>
            <a:pPr>
              <a:spcAft>
                <a:spcPts val="400"/>
              </a:spcAft>
              <a:defRPr sz="1050">
                <a:solidFill>
                  <a:srgbClr val="555F6E"/>
                </a:solidFill>
                <a:latin typeface="Arial"/>
              </a:defRPr>
            </a:pPr>
            <a:r>
              <a:t>• ШІ збирає інформацію з кількох попередніх кадрів у єдиний надчіткий фінальний кадр.</a:t>
            </a:r>
          </a:p>
          <a:p>
            <a:pPr>
              <a:spcAft>
                <a:spcPts val="400"/>
              </a:spcAft>
              <a:defRPr sz="1050">
                <a:solidFill>
                  <a:srgbClr val="555F6E"/>
                </a:solidFill>
                <a:latin typeface="Arial"/>
              </a:defRPr>
            </a:pPr>
            <a:r>
              <a:t>• Відкидає неточні пікселі, повністю усуваючи неприємний шлейф розмиття (ghosting).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ГЕНЕРАЦІЯ КАДРІВ (DLSS 3 &amp; 4)</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05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Frame Generation: як ШІ домальовує нові кадри</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694944" y="1517904"/>
            <a:ext cx="10801807" cy="272491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7-1.png"/>
          <p:cNvPicPr>
            <a:picLocks noChangeAspect="1"/>
          </p:cNvPicPr>
          <p:nvPr/>
        </p:nvPicPr>
        <p:blipFill>
          <a:blip r:embed="rId2"/>
          <a:stretch>
            <a:fillRect/>
          </a:stretch>
        </p:blipFill>
        <p:spPr>
          <a:xfrm>
            <a:off x="731520" y="1554480"/>
            <a:ext cx="10728655" cy="2651760"/>
          </a:xfrm>
          <a:prstGeom prst="rect">
            <a:avLst/>
          </a:prstGeom>
        </p:spPr>
      </p:pic>
      <p:sp>
        <p:nvSpPr>
          <p:cNvPr id="11" name="TextBox 10"/>
          <p:cNvSpPr txBox="1"/>
          <p:nvPr/>
        </p:nvSpPr>
        <p:spPr>
          <a:xfrm>
            <a:off x="731520" y="4251960"/>
            <a:ext cx="10728655" cy="219456"/>
          </a:xfrm>
          <a:prstGeom prst="rect">
            <a:avLst/>
          </a:prstGeom>
          <a:noFill/>
        </p:spPr>
        <p:txBody>
          <a:bodyPr wrap="none" lIns="0" tIns="0" rIns="0" bIns="0">
            <a:spAutoFit/>
          </a:bodyPr>
          <a:lstStyle/>
          <a:p>
            <a:pPr algn="ctr">
              <a:defRPr sz="850">
                <a:solidFill>
                  <a:srgbClr val="555F6E"/>
                </a:solidFill>
                <a:latin typeface="Arial"/>
              </a:defRPr>
            </a:pPr>
            <a:r>
              <a:t>Multi Frame Generation: вставка до 5 проміжних AI-кадрів між реальними кадрами рушія</a:t>
            </a:r>
          </a:p>
        </p:txBody>
      </p:sp>
      <p:sp>
        <p:nvSpPr>
          <p:cNvPr id="12" name="Rounded Rectangle 11"/>
          <p:cNvSpPr/>
          <p:nvPr/>
        </p:nvSpPr>
        <p:spPr>
          <a:xfrm>
            <a:off x="731520"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599432"/>
            <a:ext cx="3026664" cy="1545335"/>
          </a:xfrm>
          <a:prstGeom prst="rect">
            <a:avLst/>
          </a:prstGeom>
          <a:noFill/>
        </p:spPr>
        <p:txBody>
          <a:bodyPr wrap="square" lIns="0" tIns="0" rIns="0" bIns="0">
            <a:spAutoFit/>
          </a:bodyPr>
          <a:lstStyle/>
          <a:p>
            <a:pPr>
              <a:spcAft>
                <a:spcPts val="200"/>
              </a:spcAft>
              <a:defRPr sz="850" b="1">
                <a:solidFill>
                  <a:srgbClr val="008766"/>
                </a:solidFill>
                <a:latin typeface="Arial"/>
              </a:defRPr>
            </a:pPr>
            <a:r>
              <a:t>ТЕХНОЛОГІЯ</a:t>
            </a:r>
          </a:p>
          <a:p>
            <a:pPr>
              <a:spcAft>
                <a:spcPts val="600"/>
              </a:spcAft>
              <a:defRPr sz="1350" b="1">
                <a:solidFill>
                  <a:srgbClr val="1C2430"/>
                </a:solidFill>
                <a:latin typeface="Georgia"/>
              </a:defRPr>
            </a:pPr>
            <a:r>
              <a:t>Optical Flow Accelerator</a:t>
            </a:r>
          </a:p>
          <a:p>
            <a:pPr>
              <a:spcAft>
                <a:spcPts val="400"/>
              </a:spcAft>
              <a:defRPr sz="1050">
                <a:solidFill>
                  <a:srgbClr val="555F6E"/>
                </a:solidFill>
                <a:latin typeface="Arial"/>
              </a:defRPr>
            </a:pPr>
            <a:r>
              <a:t>• Спеціальний апаратний блок у чіпах RTX 40 і RTX 50 вимірює напрямок руху кожного пікселя.</a:t>
            </a:r>
          </a:p>
          <a:p>
            <a:pPr>
              <a:spcAft>
                <a:spcPts val="400"/>
              </a:spcAft>
              <a:defRPr sz="1050">
                <a:solidFill>
                  <a:srgbClr val="555F6E"/>
                </a:solidFill>
                <a:latin typeface="Arial"/>
              </a:defRPr>
            </a:pPr>
            <a:r>
              <a:t>• Нейромережа передбачає проміжний стан сцени без запуску фізики та логіки гри.</a:t>
            </a:r>
          </a:p>
        </p:txBody>
      </p:sp>
      <p:sp>
        <p:nvSpPr>
          <p:cNvPr id="14" name="Rounded Rectangle 13"/>
          <p:cNvSpPr/>
          <p:nvPr/>
        </p:nvSpPr>
        <p:spPr>
          <a:xfrm>
            <a:off x="4370832"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599432"/>
            <a:ext cx="3026664" cy="1545335"/>
          </a:xfrm>
          <a:prstGeom prst="rect">
            <a:avLst/>
          </a:prstGeom>
          <a:noFill/>
        </p:spPr>
        <p:txBody>
          <a:bodyPr wrap="square" lIns="0" tIns="0" rIns="0" bIns="0">
            <a:spAutoFit/>
          </a:bodyPr>
          <a:lstStyle/>
          <a:p>
            <a:pPr>
              <a:spcAft>
                <a:spcPts val="200"/>
              </a:spcAft>
              <a:defRPr sz="850" b="1">
                <a:solidFill>
                  <a:srgbClr val="0284C7"/>
                </a:solidFill>
                <a:latin typeface="Arial"/>
              </a:defRPr>
            </a:pPr>
            <a:r>
              <a:t>МНОЖНИКИ КАДРІВ</a:t>
            </a:r>
          </a:p>
          <a:p>
            <a:pPr>
              <a:spcAft>
                <a:spcPts val="600"/>
              </a:spcAft>
              <a:defRPr sz="1350" b="1">
                <a:solidFill>
                  <a:srgbClr val="1C2430"/>
                </a:solidFill>
                <a:latin typeface="Georgia"/>
              </a:defRPr>
            </a:pPr>
            <a:r>
              <a:t>Еволюція: від 2x до 6x</a:t>
            </a:r>
          </a:p>
          <a:p>
            <a:pPr>
              <a:spcAft>
                <a:spcPts val="400"/>
              </a:spcAft>
              <a:defRPr sz="1050">
                <a:solidFill>
                  <a:srgbClr val="555F6E"/>
                </a:solidFill>
                <a:latin typeface="Arial"/>
              </a:defRPr>
            </a:pPr>
            <a:r>
              <a:t>• DLSS 3: додає 1 AI-кадр (подвоєння FPS).</a:t>
            </a:r>
          </a:p>
          <a:p>
            <a:pPr>
              <a:spcAft>
                <a:spcPts val="400"/>
              </a:spcAft>
              <a:defRPr sz="1050">
                <a:solidFill>
                  <a:srgbClr val="555F6E"/>
                </a:solidFill>
                <a:latin typeface="Arial"/>
              </a:defRPr>
            </a:pPr>
            <a:r>
              <a:t>• DLSS 4 (RTX 50): до трьох AI-кадрів (4x).</a:t>
            </a:r>
          </a:p>
          <a:p>
            <a:pPr>
              <a:spcAft>
                <a:spcPts val="400"/>
              </a:spcAft>
              <a:defRPr sz="1050">
                <a:solidFill>
                  <a:srgbClr val="555F6E"/>
                </a:solidFill>
                <a:latin typeface="Arial"/>
              </a:defRPr>
            </a:pPr>
            <a:r>
              <a:t>• DLSS 4.5: друге покоління трансформера, до п'яти AI-кадрів (6x) та динамічний вибір множника.</a:t>
            </a:r>
          </a:p>
        </p:txBody>
      </p:sp>
      <p:sp>
        <p:nvSpPr>
          <p:cNvPr id="16" name="Rounded Rectangle 15"/>
          <p:cNvSpPr/>
          <p:nvPr/>
        </p:nvSpPr>
        <p:spPr>
          <a:xfrm>
            <a:off x="8028431" y="4434840"/>
            <a:ext cx="3429000" cy="1874519"/>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4599432"/>
            <a:ext cx="3026664" cy="1545335"/>
          </a:xfrm>
          <a:prstGeom prst="rect">
            <a:avLst/>
          </a:prstGeom>
          <a:noFill/>
        </p:spPr>
        <p:txBody>
          <a:bodyPr wrap="square" lIns="0" tIns="0" rIns="0" bIns="0">
            <a:spAutoFit/>
          </a:bodyPr>
          <a:lstStyle/>
          <a:p>
            <a:pPr>
              <a:spcAft>
                <a:spcPts val="200"/>
              </a:spcAft>
              <a:defRPr sz="850" b="1">
                <a:solidFill>
                  <a:srgbClr val="DC2626"/>
                </a:solidFill>
                <a:latin typeface="Arial"/>
              </a:defRPr>
            </a:pPr>
            <a:r>
              <a:t>КОМПРОМІС ІНПУТ-ЛАГУ</a:t>
            </a:r>
          </a:p>
          <a:p>
            <a:pPr>
              <a:spcAft>
                <a:spcPts val="600"/>
              </a:spcAft>
              <a:defRPr sz="1350" b="1">
                <a:solidFill>
                  <a:srgbClr val="1C2430"/>
                </a:solidFill>
                <a:latin typeface="Georgia"/>
              </a:defRPr>
            </a:pPr>
            <a:r>
              <a:t>Ціна плавності: затримка</a:t>
            </a:r>
          </a:p>
          <a:p>
            <a:pPr>
              <a:spcAft>
                <a:spcPts val="400"/>
              </a:spcAft>
              <a:defRPr sz="1050">
                <a:solidFill>
                  <a:srgbClr val="555F6E"/>
                </a:solidFill>
                <a:latin typeface="Arial"/>
              </a:defRPr>
            </a:pPr>
            <a:r>
              <a:t>• Щоб показати AI-кадр, другий реальний кадр треба затримати в пам'яті.</a:t>
            </a:r>
          </a:p>
          <a:p>
            <a:pPr>
              <a:spcAft>
                <a:spcPts val="400"/>
              </a:spcAft>
              <a:defRPr sz="1050">
                <a:solidFill>
                  <a:srgbClr val="555F6E"/>
                </a:solidFill>
                <a:latin typeface="Arial"/>
              </a:defRPr>
            </a:pPr>
            <a:r>
              <a:t>• Відгук клавіатури й миші залишається на рівні базового FPS (наприклад, 40-50 мс).</a:t>
            </a:r>
          </a:p>
          <a:p>
            <a:pPr>
              <a:spcAft>
                <a:spcPts val="400"/>
              </a:spcAft>
              <a:defRPr sz="1050">
                <a:solidFill>
                  <a:srgbClr val="555F6E"/>
                </a:solidFill>
                <a:latin typeface="Arial"/>
              </a:defRPr>
            </a:pPr>
            <a:r>
              <a:t>• NVIDIA Reflex компенсує чергу кадрів.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5F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5FD0B8"/>
                </a:solidFill>
                <a:latin typeface="Arial"/>
              </a:defRPr>
            </a:pPr>
            <a:r>
              <a:t>●  РЕВОЛЮЦІЯ ВЕРЕСНЯ 2026</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A5B0C0"/>
                </a:solidFill>
                <a:latin typeface="Arial"/>
              </a:defRPr>
            </a:pPr>
            <a:r>
              <a:t>СЛАЙД 06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F4F1EA"/>
                </a:solidFill>
                <a:latin typeface="Georgia"/>
              </a:defRPr>
            </a:pPr>
            <a:r>
              <a:t>DLSS 5: Нова епоха — 3D-Guided Neural Rendering</a:t>
            </a:r>
          </a:p>
        </p:txBody>
      </p:sp>
      <p:sp>
        <p:nvSpPr>
          <p:cNvPr id="7" name="Rectangle 6"/>
          <p:cNvSpPr/>
          <p:nvPr/>
        </p:nvSpPr>
        <p:spPr>
          <a:xfrm>
            <a:off x="731520" y="1325880"/>
            <a:ext cx="10728655" cy="10972"/>
          </a:xfrm>
          <a:prstGeom prst="rect">
            <a:avLst/>
          </a:prstGeom>
          <a:solidFill>
            <a:srgbClr val="2C36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646E7D"/>
                </a:solidFill>
                <a:latin typeface="Arial"/>
              </a:defRPr>
            </a:pPr>
            <a:r>
              <a:t>ТЕХНОЛОГІЇ ГРАФІКИ · NVIDIA DLSS: ВІД АПСКЕЙЛУ ДО НЕЙРОННОГО РЕНДЕРИНГУ</a:t>
            </a:r>
          </a:p>
        </p:txBody>
      </p:sp>
      <p:sp>
        <p:nvSpPr>
          <p:cNvPr id="9" name="Rounded Rectangle 8"/>
          <p:cNvSpPr/>
          <p:nvPr/>
        </p:nvSpPr>
        <p:spPr>
          <a:xfrm>
            <a:off x="694944" y="1517904"/>
            <a:ext cx="6291072" cy="2542032"/>
          </a:xfrm>
          <a:prstGeom prst="roundRect">
            <a:avLst/>
          </a:prstGeom>
          <a:solidFill>
            <a:srgbClr val="1C2430"/>
          </a:solidFill>
          <a:ln w="1270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8-1.png"/>
          <p:cNvPicPr>
            <a:picLocks noChangeAspect="1"/>
          </p:cNvPicPr>
          <p:nvPr/>
        </p:nvPicPr>
        <p:blipFill>
          <a:blip r:embed="rId2"/>
          <a:stretch>
            <a:fillRect/>
          </a:stretch>
        </p:blipFill>
        <p:spPr>
          <a:xfrm>
            <a:off x="731520" y="1554480"/>
            <a:ext cx="6217920" cy="2468880"/>
          </a:xfrm>
          <a:prstGeom prst="rect">
            <a:avLst/>
          </a:prstGeom>
        </p:spPr>
      </p:pic>
      <p:sp>
        <p:nvSpPr>
          <p:cNvPr id="11" name="TextBox 10"/>
          <p:cNvSpPr txBox="1"/>
          <p:nvPr/>
        </p:nvSpPr>
        <p:spPr>
          <a:xfrm>
            <a:off x="731520" y="4069080"/>
            <a:ext cx="6217920" cy="219456"/>
          </a:xfrm>
          <a:prstGeom prst="rect">
            <a:avLst/>
          </a:prstGeom>
          <a:noFill/>
        </p:spPr>
        <p:txBody>
          <a:bodyPr wrap="none" lIns="0" tIns="0" rIns="0" bIns="0">
            <a:spAutoFit/>
          </a:bodyPr>
          <a:lstStyle/>
          <a:p>
            <a:pPr algn="ctr">
              <a:defRPr sz="850">
                <a:solidFill>
                  <a:srgbClr val="A5B0C0"/>
                </a:solidFill>
                <a:latin typeface="Arial"/>
              </a:defRPr>
            </a:pPr>
            <a:r>
              <a:t>Конвеєр DLSS 5: розпізнавання 3D-сцени та синтез фотореалістичних матеріалів</a:t>
            </a:r>
          </a:p>
        </p:txBody>
      </p:sp>
      <p:sp>
        <p:nvSpPr>
          <p:cNvPr id="12" name="Rounded Rectangle 11"/>
          <p:cNvSpPr/>
          <p:nvPr/>
        </p:nvSpPr>
        <p:spPr>
          <a:xfrm>
            <a:off x="7095744" y="1517904"/>
            <a:ext cx="4401007" cy="2542032"/>
          </a:xfrm>
          <a:prstGeom prst="roundRect">
            <a:avLst/>
          </a:prstGeom>
          <a:solidFill>
            <a:srgbClr val="1C2430"/>
          </a:solidFill>
          <a:ln w="1270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lss5_neural_skin.jpg"/>
          <p:cNvPicPr>
            <a:picLocks noChangeAspect="1"/>
          </p:cNvPicPr>
          <p:nvPr/>
        </p:nvPicPr>
        <p:blipFill>
          <a:blip r:embed="rId3"/>
          <a:stretch>
            <a:fillRect/>
          </a:stretch>
        </p:blipFill>
        <p:spPr>
          <a:xfrm>
            <a:off x="7132320" y="1554480"/>
            <a:ext cx="4327855" cy="2468880"/>
          </a:xfrm>
          <a:prstGeom prst="rect">
            <a:avLst/>
          </a:prstGeom>
        </p:spPr>
      </p:pic>
      <p:sp>
        <p:nvSpPr>
          <p:cNvPr id="14" name="TextBox 13"/>
          <p:cNvSpPr txBox="1"/>
          <p:nvPr/>
        </p:nvSpPr>
        <p:spPr>
          <a:xfrm>
            <a:off x="7132320" y="4069080"/>
            <a:ext cx="4327855" cy="219456"/>
          </a:xfrm>
          <a:prstGeom prst="rect">
            <a:avLst/>
          </a:prstGeom>
          <a:noFill/>
        </p:spPr>
        <p:txBody>
          <a:bodyPr wrap="none" lIns="0" tIns="0" rIns="0" bIns="0">
            <a:spAutoFit/>
          </a:bodyPr>
          <a:lstStyle/>
          <a:p>
            <a:pPr algn="ctr">
              <a:defRPr sz="850">
                <a:solidFill>
                  <a:srgbClr val="A5B0C0"/>
                </a:solidFill>
                <a:latin typeface="Arial"/>
              </a:defRPr>
            </a:pPr>
            <a:r>
              <a:t>Синтез шкіри та світла за допомогою 3D-нейромережі</a:t>
            </a:r>
          </a:p>
        </p:txBody>
      </p:sp>
      <p:sp>
        <p:nvSpPr>
          <p:cNvPr id="15" name="Rounded Rectangle 14"/>
          <p:cNvSpPr/>
          <p:nvPr/>
        </p:nvSpPr>
        <p:spPr>
          <a:xfrm>
            <a:off x="731520" y="4343400"/>
            <a:ext cx="5257800" cy="1965960"/>
          </a:xfrm>
          <a:prstGeom prst="roundRect">
            <a:avLst/>
          </a:prstGeom>
          <a:solidFill>
            <a:srgbClr val="1C2430"/>
          </a:solidFill>
          <a:ln w="1524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507992"/>
            <a:ext cx="4855464" cy="1636776"/>
          </a:xfrm>
          <a:prstGeom prst="rect">
            <a:avLst/>
          </a:prstGeom>
          <a:noFill/>
        </p:spPr>
        <p:txBody>
          <a:bodyPr wrap="square" lIns="0" tIns="0" rIns="0" bIns="0">
            <a:spAutoFit/>
          </a:bodyPr>
          <a:lstStyle/>
          <a:p>
            <a:pPr>
              <a:spcAft>
                <a:spcPts val="200"/>
              </a:spcAft>
              <a:defRPr sz="850" b="1">
                <a:solidFill>
                  <a:srgbClr val="5FD0B8"/>
                </a:solidFill>
                <a:latin typeface="Arial"/>
              </a:defRPr>
            </a:pPr>
            <a:r>
              <a:t>ЗМІНА ПАРАДИГМИ</a:t>
            </a:r>
          </a:p>
          <a:p>
            <a:pPr>
              <a:spcAft>
                <a:spcPts val="600"/>
              </a:spcAft>
              <a:defRPr sz="1350" b="1">
                <a:solidFill>
                  <a:srgbClr val="F4F1EA"/>
                </a:solidFill>
                <a:latin typeface="Georgia"/>
              </a:defRPr>
            </a:pPr>
            <a:r>
              <a:t>Розуміння сцени замість простого апскейлу</a:t>
            </a:r>
          </a:p>
          <a:p>
            <a:pPr>
              <a:spcAft>
                <a:spcPts val="400"/>
              </a:spcAft>
              <a:defRPr sz="1050">
                <a:solidFill>
                  <a:srgbClr val="A5B0C0"/>
                </a:solidFill>
                <a:latin typeface="Arial"/>
              </a:defRPr>
            </a:pPr>
            <a:r>
              <a:t>• DLSS 2-4 лише масштабували готові пікселі або розраховували рух.</a:t>
            </a:r>
          </a:p>
          <a:p>
            <a:pPr>
              <a:spcAft>
                <a:spcPts val="400"/>
              </a:spcAft>
              <a:defRPr sz="1050">
                <a:solidFill>
                  <a:srgbClr val="A5B0C0"/>
                </a:solidFill>
                <a:latin typeface="Arial"/>
              </a:defRPr>
            </a:pPr>
            <a:r>
              <a:t>• DLSS 5 використовує модель-трансформер, яка «розуміє» тривимірну сцену: розпізнає шкіру людей, шовк, метал, пасма волосся, геометрію та напрямок світла.</a:t>
            </a:r>
          </a:p>
          <a:p>
            <a:pPr>
              <a:spcAft>
                <a:spcPts val="400"/>
              </a:spcAft>
              <a:defRPr sz="1050">
                <a:solidFill>
                  <a:srgbClr val="A5B0C0"/>
                </a:solidFill>
                <a:latin typeface="Arial"/>
              </a:defRPr>
            </a:pPr>
            <a:r>
              <a:t>• ШІ діє як віртуальний освітлювач та художник матеріалів у реальному часі.</a:t>
            </a:r>
          </a:p>
        </p:txBody>
      </p:sp>
      <p:sp>
        <p:nvSpPr>
          <p:cNvPr id="17" name="Rounded Rectangle 16"/>
          <p:cNvSpPr/>
          <p:nvPr/>
        </p:nvSpPr>
        <p:spPr>
          <a:xfrm>
            <a:off x="6199632" y="4343400"/>
            <a:ext cx="5257800" cy="1965960"/>
          </a:xfrm>
          <a:prstGeom prst="roundRect">
            <a:avLst/>
          </a:prstGeom>
          <a:solidFill>
            <a:srgbClr val="1C2430"/>
          </a:solidFill>
          <a:ln w="1524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507992"/>
            <a:ext cx="4855464" cy="1636776"/>
          </a:xfrm>
          <a:prstGeom prst="rect">
            <a:avLst/>
          </a:prstGeom>
          <a:noFill/>
        </p:spPr>
        <p:txBody>
          <a:bodyPr wrap="square" lIns="0" tIns="0" rIns="0" bIns="0">
            <a:spAutoFit/>
          </a:bodyPr>
          <a:lstStyle/>
          <a:p>
            <a:pPr>
              <a:spcAft>
                <a:spcPts val="200"/>
              </a:spcAft>
              <a:defRPr sz="850" b="1">
                <a:solidFill>
                  <a:srgbClr val="00CCE6"/>
                </a:solidFill>
                <a:latin typeface="Arial"/>
              </a:defRPr>
            </a:pPr>
            <a:r>
              <a:t>ФОТОРЕАЛІСТИЧНІ МАТЕРІАЛИ</a:t>
            </a:r>
          </a:p>
          <a:p>
            <a:pPr>
              <a:spcAft>
                <a:spcPts val="600"/>
              </a:spcAft>
              <a:defRPr sz="1350" b="1">
                <a:solidFill>
                  <a:srgbClr val="F4F1EA"/>
                </a:solidFill>
                <a:latin typeface="Georgia"/>
              </a:defRPr>
            </a:pPr>
            <a:r>
              <a:t>Підповерхневе розсіювання та мікро-світло</a:t>
            </a:r>
          </a:p>
          <a:p>
            <a:pPr>
              <a:spcAft>
                <a:spcPts val="400"/>
              </a:spcAft>
              <a:defRPr sz="1050">
                <a:solidFill>
                  <a:srgbClr val="A5B0C0"/>
                </a:solidFill>
                <a:latin typeface="Arial"/>
              </a:defRPr>
            </a:pPr>
            <a:r>
              <a:t>• Синтезує ефект Subsurface Scattering — як світло проникає крізь шкіру вух чи пальців.</a:t>
            </a:r>
          </a:p>
          <a:p>
            <a:pPr>
              <a:spcAft>
                <a:spcPts val="400"/>
              </a:spcAft>
              <a:defRPr sz="1050">
                <a:solidFill>
                  <a:srgbClr val="A5B0C0"/>
                </a:solidFill>
                <a:latin typeface="Arial"/>
              </a:defRPr>
            </a:pPr>
            <a:r>
              <a:t>• Будує надм'які контактні тіні та природний шовковий блиск тканин одягу.</a:t>
            </a:r>
          </a:p>
          <a:p>
            <a:pPr>
              <a:spcAft>
                <a:spcPts val="400"/>
              </a:spcAft>
              <a:defRPr sz="1050">
                <a:solidFill>
                  <a:srgbClr val="A5B0C0"/>
                </a:solidFill>
                <a:latin typeface="Arial"/>
              </a:defRPr>
            </a:pPr>
            <a:r>
              <a:t>• NVIDIA підкреслює: геометрія гри лишається авторською, а розробники мають маски та повний контроль інтенсивності ефекту.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ПОРІВНЯННЯ КАРТИНКИ</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07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Що саме змінює DLSS 5: світло, матеріали та деталі</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694944" y="1517904"/>
            <a:ext cx="10801807" cy="245059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9-1.png"/>
          <p:cNvPicPr>
            <a:picLocks noChangeAspect="1"/>
          </p:cNvPicPr>
          <p:nvPr/>
        </p:nvPicPr>
        <p:blipFill>
          <a:blip r:embed="rId2"/>
          <a:stretch>
            <a:fillRect/>
          </a:stretch>
        </p:blipFill>
        <p:spPr>
          <a:xfrm>
            <a:off x="731520" y="1554480"/>
            <a:ext cx="10728655" cy="2377440"/>
          </a:xfrm>
          <a:prstGeom prst="rect">
            <a:avLst/>
          </a:prstGeom>
        </p:spPr>
      </p:pic>
      <p:sp>
        <p:nvSpPr>
          <p:cNvPr id="11" name="TextBox 10"/>
          <p:cNvSpPr txBox="1"/>
          <p:nvPr/>
        </p:nvSpPr>
        <p:spPr>
          <a:xfrm>
            <a:off x="731520" y="3977640"/>
            <a:ext cx="10728655" cy="219456"/>
          </a:xfrm>
          <a:prstGeom prst="rect">
            <a:avLst/>
          </a:prstGeom>
          <a:noFill/>
        </p:spPr>
        <p:txBody>
          <a:bodyPr wrap="none" lIns="0" tIns="0" rIns="0" bIns="0">
            <a:spAutoFit/>
          </a:bodyPr>
          <a:lstStyle/>
          <a:p>
            <a:pPr algn="ctr">
              <a:defRPr sz="850">
                <a:solidFill>
                  <a:srgbClr val="555F6E"/>
                </a:solidFill>
                <a:latin typeface="Arial"/>
              </a:defRPr>
            </a:pPr>
            <a:r>
              <a:t>Візуальне порівняння: що насправді домальовує та пом'якшує модель DLSS 5</a:t>
            </a:r>
          </a:p>
        </p:txBody>
      </p:sp>
      <p:sp>
        <p:nvSpPr>
          <p:cNvPr id="12" name="Rounded Rectangle 11"/>
          <p:cNvSpPr/>
          <p:nvPr/>
        </p:nvSpPr>
        <p:spPr>
          <a:xfrm>
            <a:off x="731520" y="4206240"/>
            <a:ext cx="2587752"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46304" tIns="128016" rIns="146304"/>
          <a:lstStyle/>
          <a:p>
            <a:pPr algn="ctr">
              <a:spcAft>
                <a:spcPts val="600"/>
              </a:spcAft>
              <a:defRPr sz="1200" b="1">
                <a:solidFill>
                  <a:srgbClr val="008766"/>
                </a:solidFill>
                <a:latin typeface="Georgia"/>
              </a:defRPr>
            </a:pPr>
            <a:r>
              <a:t>Шкіра та обличчя</a:t>
            </a:r>
          </a:p>
          <a:p>
            <a:pPr>
              <a:defRPr sz="750" b="1">
                <a:solidFill>
                  <a:srgbClr val="555F6E"/>
                </a:solidFill>
                <a:latin typeface="Arial"/>
              </a:defRPr>
            </a:pPr>
            <a:r>
              <a:t>БЕЗ DLSS 5:</a:t>
            </a:r>
          </a:p>
          <a:p>
            <a:pPr>
              <a:spcAft>
                <a:spcPts val="600"/>
              </a:spcAft>
              <a:defRPr sz="950">
                <a:solidFill>
                  <a:srgbClr val="555F6E"/>
                </a:solidFill>
                <a:latin typeface="Arial"/>
              </a:defRPr>
            </a:pPr>
            <a:r>
              <a:t>Гладка або шумна текстура, пласкі тіні</a:t>
            </a:r>
          </a:p>
          <a:p>
            <a:pPr>
              <a:defRPr sz="750" b="1">
                <a:solidFill>
                  <a:srgbClr val="008766"/>
                </a:solidFill>
                <a:latin typeface="Arial"/>
              </a:defRPr>
            </a:pPr>
            <a:r>
              <a:t>З DLSS 5:</a:t>
            </a:r>
          </a:p>
          <a:p>
            <a:pPr>
              <a:defRPr sz="950">
                <a:solidFill>
                  <a:srgbClr val="1C2430"/>
                </a:solidFill>
                <a:latin typeface="Arial"/>
              </a:defRPr>
            </a:pPr>
            <a:r>
              <a:t>Підповерхневе розсіювання, природні пори, зморшки та живий відтінок</a:t>
            </a:r>
          </a:p>
        </p:txBody>
      </p:sp>
      <p:sp>
        <p:nvSpPr>
          <p:cNvPr id="13" name="Rounded Rectangle 12"/>
          <p:cNvSpPr/>
          <p:nvPr/>
        </p:nvSpPr>
        <p:spPr>
          <a:xfrm>
            <a:off x="3447288" y="4206240"/>
            <a:ext cx="2587752"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46304" tIns="128016" rIns="146304"/>
          <a:lstStyle/>
          <a:p>
            <a:pPr algn="ctr">
              <a:spcAft>
                <a:spcPts val="600"/>
              </a:spcAft>
              <a:defRPr sz="1200" b="1">
                <a:solidFill>
                  <a:srgbClr val="0284C7"/>
                </a:solidFill>
                <a:latin typeface="Georgia"/>
              </a:defRPr>
            </a:pPr>
            <a:r>
              <a:t>Волосся та тканини</a:t>
            </a:r>
          </a:p>
          <a:p>
            <a:pPr>
              <a:defRPr sz="750" b="1">
                <a:solidFill>
                  <a:srgbClr val="555F6E"/>
                </a:solidFill>
                <a:latin typeface="Arial"/>
              </a:defRPr>
            </a:pPr>
            <a:r>
              <a:t>БЕЗ DLSS 5:</a:t>
            </a:r>
          </a:p>
          <a:p>
            <a:pPr>
              <a:spcAft>
                <a:spcPts val="600"/>
              </a:spcAft>
              <a:defRPr sz="950">
                <a:solidFill>
                  <a:srgbClr val="555F6E"/>
                </a:solidFill>
                <a:latin typeface="Arial"/>
              </a:defRPr>
            </a:pPr>
            <a:r>
              <a:t>Спрощені, інколи зубчасті відблиски</a:t>
            </a:r>
          </a:p>
          <a:p>
            <a:pPr>
              <a:defRPr sz="750" b="1">
                <a:solidFill>
                  <a:srgbClr val="008766"/>
                </a:solidFill>
                <a:latin typeface="Arial"/>
              </a:defRPr>
            </a:pPr>
            <a:r>
              <a:t>З DLSS 5:</a:t>
            </a:r>
          </a:p>
          <a:p>
            <a:pPr>
              <a:defRPr sz="950">
                <a:solidFill>
                  <a:srgbClr val="1C2430"/>
                </a:solidFill>
                <a:latin typeface="Arial"/>
              </a:defRPr>
            </a:pPr>
            <a:r>
              <a:t>Шовковистий перелив тканини, окремі живі пасма з мікротінями</a:t>
            </a:r>
          </a:p>
        </p:txBody>
      </p:sp>
      <p:sp>
        <p:nvSpPr>
          <p:cNvPr id="14" name="Rounded Rectangle 13"/>
          <p:cNvSpPr/>
          <p:nvPr/>
        </p:nvSpPr>
        <p:spPr>
          <a:xfrm>
            <a:off x="6163056" y="4206240"/>
            <a:ext cx="2587752"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46304" tIns="128016" rIns="146304"/>
          <a:lstStyle/>
          <a:p>
            <a:pPr algn="ctr">
              <a:spcAft>
                <a:spcPts val="600"/>
              </a:spcAft>
              <a:defRPr sz="1200" b="1">
                <a:solidFill>
                  <a:srgbClr val="9333EA"/>
                </a:solidFill>
                <a:latin typeface="Georgia"/>
              </a:defRPr>
            </a:pPr>
            <a:r>
              <a:t>Тіні та геометрія</a:t>
            </a:r>
          </a:p>
          <a:p>
            <a:pPr>
              <a:defRPr sz="750" b="1">
                <a:solidFill>
                  <a:srgbClr val="555F6E"/>
                </a:solidFill>
                <a:latin typeface="Arial"/>
              </a:defRPr>
            </a:pPr>
            <a:r>
              <a:t>БЕЗ DLSS 5:</a:t>
            </a:r>
          </a:p>
          <a:p>
            <a:pPr>
              <a:spcAft>
                <a:spcPts val="600"/>
              </a:spcAft>
              <a:defRPr sz="950">
                <a:solidFill>
                  <a:srgbClr val="555F6E"/>
                </a:solidFill>
                <a:latin typeface="Arial"/>
              </a:defRPr>
            </a:pPr>
            <a:r>
              <a:t>Менш точні контактні тіні під кущами та речами</a:t>
            </a:r>
          </a:p>
          <a:p>
            <a:pPr>
              <a:defRPr sz="750" b="1">
                <a:solidFill>
                  <a:srgbClr val="008766"/>
                </a:solidFill>
                <a:latin typeface="Arial"/>
              </a:defRPr>
            </a:pPr>
            <a:r>
              <a:t>З DLSS 5:</a:t>
            </a:r>
          </a:p>
          <a:p>
            <a:pPr>
              <a:defRPr sz="950">
                <a:solidFill>
                  <a:srgbClr val="1C2430"/>
                </a:solidFill>
                <a:latin typeface="Arial"/>
              </a:defRPr>
            </a:pPr>
            <a:r>
              <a:t>Глибші та реалістичніші контактні тіні (за тестами Digital Foundry)</a:t>
            </a:r>
          </a:p>
        </p:txBody>
      </p:sp>
      <p:sp>
        <p:nvSpPr>
          <p:cNvPr id="15" name="Rounded Rectangle 14"/>
          <p:cNvSpPr/>
          <p:nvPr/>
        </p:nvSpPr>
        <p:spPr>
          <a:xfrm>
            <a:off x="8878824" y="4206240"/>
            <a:ext cx="2587752"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46304" tIns="128016" rIns="146304"/>
          <a:lstStyle/>
          <a:p>
            <a:pPr algn="ctr">
              <a:spcAft>
                <a:spcPts val="600"/>
              </a:spcAft>
              <a:defRPr sz="1200" b="1">
                <a:solidFill>
                  <a:srgbClr val="EB8C14"/>
                </a:solidFill>
                <a:latin typeface="Georgia"/>
              </a:defRPr>
            </a:pPr>
            <a:r>
              <a:t>Атмосфера гри</a:t>
            </a:r>
          </a:p>
          <a:p>
            <a:pPr>
              <a:defRPr sz="750" b="1">
                <a:solidFill>
                  <a:srgbClr val="555F6E"/>
                </a:solidFill>
                <a:latin typeface="Arial"/>
              </a:defRPr>
            </a:pPr>
            <a:r>
              <a:t>БЕЗ DLSS 5:</a:t>
            </a:r>
          </a:p>
          <a:p>
            <a:pPr>
              <a:spcAft>
                <a:spcPts val="600"/>
              </a:spcAft>
              <a:defRPr sz="950">
                <a:solidFill>
                  <a:srgbClr val="555F6E"/>
                </a:solidFill>
                <a:latin typeface="Arial"/>
              </a:defRPr>
            </a:pPr>
            <a:r>
              <a:t>Точно такий стиль, як задумав автор</a:t>
            </a:r>
          </a:p>
          <a:p>
            <a:pPr>
              <a:defRPr sz="750" b="1">
                <a:solidFill>
                  <a:srgbClr val="008766"/>
                </a:solidFill>
                <a:latin typeface="Arial"/>
              </a:defRPr>
            </a:pPr>
            <a:r>
              <a:t>З DLSS 5:</a:t>
            </a:r>
          </a:p>
          <a:p>
            <a:pPr>
              <a:defRPr sz="950">
                <a:solidFill>
                  <a:srgbClr val="1C2430"/>
                </a:solidFill>
                <a:latin typeface="Arial"/>
              </a:defRPr>
            </a:pPr>
            <a:r>
              <a:t>Картинка стає кінематографічнішою, але інколи змінюється настрій сцени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БЕНЧМАРКИ ТА СУПЕРЕЧКИ</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08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Парадокс продуктивності та суперечка навколо «AI-макіяжу»</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731520" y="1554480"/>
            <a:ext cx="5303520" cy="219456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19072"/>
            <a:ext cx="4901184" cy="1865376"/>
          </a:xfrm>
          <a:prstGeom prst="rect">
            <a:avLst/>
          </a:prstGeom>
          <a:noFill/>
        </p:spPr>
        <p:txBody>
          <a:bodyPr wrap="square" lIns="0" tIns="0" rIns="0" bIns="0">
            <a:spAutoFit/>
          </a:bodyPr>
          <a:lstStyle/>
          <a:p>
            <a:pPr>
              <a:spcAft>
                <a:spcPts val="200"/>
              </a:spcAft>
              <a:defRPr sz="850" b="1">
                <a:solidFill>
                  <a:srgbClr val="DC2626"/>
                </a:solidFill>
                <a:latin typeface="Arial"/>
              </a:defRPr>
            </a:pPr>
            <a:r>
              <a:t>РЕАЛЬНІ ТЕСТИ</a:t>
            </a:r>
          </a:p>
          <a:p>
            <a:pPr>
              <a:spcAft>
                <a:spcPts val="600"/>
              </a:spcAft>
              <a:defRPr sz="1350" b="1">
                <a:solidFill>
                  <a:srgbClr val="1C2430"/>
                </a:solidFill>
                <a:latin typeface="Georgia"/>
              </a:defRPr>
            </a:pPr>
            <a:r>
              <a:t>Парадокс: DLSS вперше в історії ЗНИЖУЄ фреймрейт</a:t>
            </a:r>
          </a:p>
          <a:p>
            <a:pPr>
              <a:spcAft>
                <a:spcPts val="400"/>
              </a:spcAft>
              <a:defRPr sz="1050">
                <a:solidFill>
                  <a:srgbClr val="555F6E"/>
                </a:solidFill>
                <a:latin typeface="Arial"/>
              </a:defRPr>
            </a:pPr>
            <a:r>
              <a:t>• Всі попередні версії створювалися заради ПРИСКОРЕННЯ гри.</a:t>
            </a:r>
          </a:p>
          <a:p>
            <a:pPr>
              <a:spcAft>
                <a:spcPts val="400"/>
              </a:spcAft>
              <a:defRPr sz="1050">
                <a:solidFill>
                  <a:srgbClr val="555F6E"/>
                </a:solidFill>
                <a:latin typeface="Arial"/>
              </a:defRPr>
            </a:pPr>
            <a:r>
              <a:t>• У DLSS 5 вмикання нейронного освітлення забирає колосальні ресурси.</a:t>
            </a:r>
          </a:p>
          <a:p>
            <a:pPr>
              <a:spcAft>
                <a:spcPts val="400"/>
              </a:spcAft>
              <a:defRPr sz="1050">
                <a:solidFill>
                  <a:srgbClr val="555F6E"/>
                </a:solidFill>
                <a:latin typeface="Arial"/>
              </a:defRPr>
            </a:pPr>
            <a:r>
              <a:t>• Тести Digital Foundry у NBA 2K27 (RTX 5090, 4K Ultra):</a:t>
            </a:r>
          </a:p>
          <a:p>
            <a:pPr>
              <a:spcAft>
                <a:spcPts val="400"/>
              </a:spcAft>
              <a:defRPr sz="1050">
                <a:solidFill>
                  <a:srgbClr val="555F6E"/>
                </a:solidFill>
                <a:latin typeface="Arial"/>
              </a:defRPr>
            </a:pPr>
            <a:r>
              <a:t>•   • Без DLSS 5: 128 FPS  →  З DLSS 5: 63 FPS (падіння на -51%!)</a:t>
            </a:r>
          </a:p>
          <a:p>
            <a:pPr>
              <a:spcAft>
                <a:spcPts val="400"/>
              </a:spcAft>
              <a:defRPr sz="1050">
                <a:solidFill>
                  <a:srgbClr val="555F6E"/>
                </a:solidFill>
                <a:latin typeface="Arial"/>
              </a:defRPr>
            </a:pPr>
            <a:r>
              <a:t>•   • У 1080p: 180 FPS  →  З DLSS 5: 134 FPS (навантаження на CPU).</a:t>
            </a:r>
          </a:p>
        </p:txBody>
      </p:sp>
      <p:sp>
        <p:nvSpPr>
          <p:cNvPr id="11" name="Rounded Rectangle 10"/>
          <p:cNvSpPr/>
          <p:nvPr/>
        </p:nvSpPr>
        <p:spPr>
          <a:xfrm>
            <a:off x="731520" y="3931920"/>
            <a:ext cx="5303520" cy="2377440"/>
          </a:xfrm>
          <a:prstGeom prst="roundRect">
            <a:avLst/>
          </a:prstGeom>
          <a:solidFill>
            <a:srgbClr val="FFFFFF"/>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spcAft>
                <a:spcPts val="800"/>
              </a:spcAft>
              <a:defRPr sz="900" b="1">
                <a:solidFill>
                  <a:srgbClr val="1C2430"/>
                </a:solidFill>
                <a:latin typeface="Arial"/>
              </a:defRPr>
            </a:pPr>
            <a:r>
              <a:t>ПОРІВНЯННЯ FPS (NBA 2K27, 4K ULTRA, RTX 5090):</a:t>
            </a:r>
          </a:p>
          <a:p>
            <a:br/>
            <a:pPr>
              <a:defRPr sz="850">
                <a:solidFill>
                  <a:srgbClr val="555F6E"/>
                </a:solidFill>
                <a:latin typeface="Arial"/>
              </a:defRPr>
            </a:pPr>
            <a:r>
              <a:t>Джерела даних: Digital Foundry, GameGPU та DSOGaming (жовтень 2026).</a:t>
            </a:r>
          </a:p>
        </p:txBody>
      </p:sp>
      <p:sp>
        <p:nvSpPr>
          <p:cNvPr id="12" name="Rounded Rectangle 11"/>
          <p:cNvSpPr/>
          <p:nvPr/>
        </p:nvSpPr>
        <p:spPr>
          <a:xfrm>
            <a:off x="914400" y="4434840"/>
            <a:ext cx="4114800" cy="384048"/>
          </a:xfrm>
          <a:prstGeom prst="round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ctr">
              <a:defRPr sz="1000" b="1">
                <a:solidFill>
                  <a:srgbClr val="FFFFFF"/>
                </a:solidFill>
                <a:latin typeface="Arial"/>
              </a:defRPr>
            </a:pPr>
            <a:r>
              <a:t>Без DLSS 5 (Натив): 128 FPS</a:t>
            </a:r>
          </a:p>
        </p:txBody>
      </p:sp>
      <p:sp>
        <p:nvSpPr>
          <p:cNvPr id="13" name="Rounded Rectangle 12"/>
          <p:cNvSpPr/>
          <p:nvPr/>
        </p:nvSpPr>
        <p:spPr>
          <a:xfrm>
            <a:off x="914400" y="4983480"/>
            <a:ext cx="2020824"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ctr">
              <a:defRPr sz="1000" b="1">
                <a:solidFill>
                  <a:srgbClr val="FFFFFF"/>
                </a:solidFill>
                <a:latin typeface="Arial"/>
              </a:defRPr>
            </a:pPr>
            <a:r>
              <a:t>З DLSS 5: 63 FPS (-51%)</a:t>
            </a:r>
          </a:p>
        </p:txBody>
      </p:sp>
      <p:sp>
        <p:nvSpPr>
          <p:cNvPr id="14" name="Rounded Rectangle 13"/>
          <p:cNvSpPr/>
          <p:nvPr/>
        </p:nvSpPr>
        <p:spPr>
          <a:xfrm>
            <a:off x="6272784" y="1517904"/>
            <a:ext cx="5223967" cy="2999232"/>
          </a:xfrm>
          <a:prstGeom prst="roundRect">
            <a:avLst/>
          </a:prstGeom>
          <a:solidFill>
            <a:srgbClr val="FFFFFF"/>
          </a:solidFill>
          <a:ln w="1270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lss5_beauty_artifact.jpg"/>
          <p:cNvPicPr>
            <a:picLocks noChangeAspect="1"/>
          </p:cNvPicPr>
          <p:nvPr/>
        </p:nvPicPr>
        <p:blipFill>
          <a:blip r:embed="rId2"/>
          <a:stretch>
            <a:fillRect/>
          </a:stretch>
        </p:blipFill>
        <p:spPr>
          <a:xfrm>
            <a:off x="6309360" y="1554480"/>
            <a:ext cx="5150815" cy="2926080"/>
          </a:xfrm>
          <a:prstGeom prst="rect">
            <a:avLst/>
          </a:prstGeom>
        </p:spPr>
      </p:pic>
      <p:sp>
        <p:nvSpPr>
          <p:cNvPr id="16" name="TextBox 15"/>
          <p:cNvSpPr txBox="1"/>
          <p:nvPr/>
        </p:nvSpPr>
        <p:spPr>
          <a:xfrm>
            <a:off x="6309360" y="4526280"/>
            <a:ext cx="5150815" cy="219456"/>
          </a:xfrm>
          <a:prstGeom prst="rect">
            <a:avLst/>
          </a:prstGeom>
          <a:noFill/>
        </p:spPr>
        <p:txBody>
          <a:bodyPr wrap="none" lIns="0" tIns="0" rIns="0" bIns="0">
            <a:spAutoFit/>
          </a:bodyPr>
          <a:lstStyle/>
          <a:p>
            <a:pPr algn="ctr">
              <a:defRPr sz="850">
                <a:solidFill>
                  <a:srgbClr val="555F6E"/>
                </a:solidFill>
                <a:latin typeface="Arial"/>
              </a:defRPr>
            </a:pPr>
            <a:r>
              <a:t>Скандал: надмірне згладжування обличчя та бруду в горор-грі Resident Evil</a:t>
            </a:r>
          </a:p>
        </p:txBody>
      </p:sp>
      <p:sp>
        <p:nvSpPr>
          <p:cNvPr id="17" name="Rounded Rectangle 16"/>
          <p:cNvSpPr/>
          <p:nvPr/>
        </p:nvSpPr>
        <p:spPr>
          <a:xfrm>
            <a:off x="6309360" y="4709160"/>
            <a:ext cx="5150815" cy="160020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4873752"/>
            <a:ext cx="4748479" cy="1271016"/>
          </a:xfrm>
          <a:prstGeom prst="rect">
            <a:avLst/>
          </a:prstGeom>
          <a:noFill/>
        </p:spPr>
        <p:txBody>
          <a:bodyPr wrap="square" lIns="0" tIns="0" rIns="0" bIns="0">
            <a:spAutoFit/>
          </a:bodyPr>
          <a:lstStyle/>
          <a:p>
            <a:pPr>
              <a:spcAft>
                <a:spcPts val="200"/>
              </a:spcAft>
              <a:defRPr sz="850" b="1">
                <a:solidFill>
                  <a:srgbClr val="EB8C14"/>
                </a:solidFill>
                <a:latin typeface="Arial"/>
              </a:defRPr>
            </a:pPr>
            <a:r>
              <a:t>СУПЕРЕЧКА СПІЛЬНОТИ</a:t>
            </a:r>
          </a:p>
          <a:p>
            <a:pPr>
              <a:spcAft>
                <a:spcPts val="600"/>
              </a:spcAft>
              <a:defRPr sz="1350" b="1">
                <a:solidFill>
                  <a:srgbClr val="1C2430"/>
                </a:solidFill>
                <a:latin typeface="Georgia"/>
              </a:defRPr>
            </a:pPr>
            <a:r>
              <a:t>Скандал «AI-макіяжу» в іграх жахів</a:t>
            </a:r>
          </a:p>
          <a:p>
            <a:pPr>
              <a:spcAft>
                <a:spcPts val="400"/>
              </a:spcAft>
              <a:defRPr sz="1050">
                <a:solidFill>
                  <a:srgbClr val="555F6E"/>
                </a:solidFill>
                <a:latin typeface="Arial"/>
              </a:defRPr>
            </a:pPr>
            <a:r>
              <a:t>• Геймери обурилися: у Resident Evil Requiem нейромережа згладила бруд, рани та жахливі зморшки зомбі, зробивши їх схожими на манекенів з Instagram.</a:t>
            </a:r>
          </a:p>
          <a:p>
            <a:pPr>
              <a:spcAft>
                <a:spcPts val="400"/>
              </a:spcAft>
              <a:defRPr sz="1050">
                <a:solidFill>
                  <a:srgbClr val="555F6E"/>
                </a:solidFill>
                <a:latin typeface="Arial"/>
              </a:defRPr>
            </a:pPr>
            <a:r>
              <a:t>• NVIDIA відповіла: у патчах додано повзунок агресивності ефекту, щоб розробники могли обмежувати втручання ШІ в художній задум гри.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EEEBE3"/>
          </a:solidFill>
          <a:ln>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008766"/>
                </a:solidFill>
                <a:latin typeface="Arial"/>
              </a:defRPr>
            </a:pPr>
            <a:r>
              <a:t>●  ХРОНОЛОГІЯ ТА ПОКОЛІННЯ</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555F6E"/>
                </a:solidFill>
                <a:latin typeface="Arial"/>
              </a:defRPr>
            </a:pPr>
            <a:r>
              <a:t>СЛАЙД 09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1C2430"/>
                </a:solidFill>
                <a:latin typeface="Georgia"/>
              </a:defRPr>
            </a:pPr>
            <a:r>
              <a:t>Еволюція технології за 8 років: від DLSS 1 до DLSS 5</a:t>
            </a:r>
          </a:p>
        </p:txBody>
      </p:sp>
      <p:sp>
        <p:nvSpPr>
          <p:cNvPr id="7" name="Rectangle 6"/>
          <p:cNvSpPr/>
          <p:nvPr/>
        </p:nvSpPr>
        <p:spPr>
          <a:xfrm>
            <a:off x="731520" y="1325880"/>
            <a:ext cx="10728655" cy="10972"/>
          </a:xfrm>
          <a:prstGeom prst="rect">
            <a:avLst/>
          </a:prstGeom>
          <a:solidFill>
            <a:srgbClr val="E2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969BA5"/>
                </a:solidFill>
                <a:latin typeface="Arial"/>
              </a:defRPr>
            </a:pPr>
            <a:r>
              <a:t>ТЕХНОЛОГІЇ ГРАФІКИ · NVIDIA DLSS: ВІД АПСКЕЙЛУ ДО НЕЙРОННОГО РЕНДЕРИНГУ</a:t>
            </a:r>
          </a:p>
        </p:txBody>
      </p:sp>
      <p:sp>
        <p:nvSpPr>
          <p:cNvPr id="9" name="Rounded Rectangle 8"/>
          <p:cNvSpPr/>
          <p:nvPr/>
        </p:nvSpPr>
        <p:spPr>
          <a:xfrm>
            <a:off x="731520" y="1600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646E7D"/>
                </a:solidFill>
                <a:latin typeface="Arial"/>
              </a:defRPr>
            </a:pPr>
            <a:r>
              <a:t>DLSS 1.0  •  2018</a:t>
            </a:r>
          </a:p>
          <a:p>
            <a:pPr>
              <a:spcAft>
                <a:spcPts val="500"/>
              </a:spcAft>
              <a:defRPr sz="1200" b="1">
                <a:solidFill>
                  <a:srgbClr val="1C2430"/>
                </a:solidFill>
                <a:latin typeface="Georgia"/>
              </a:defRPr>
            </a:pPr>
            <a:r>
              <a:t>Окрема мережа для кожної гри</a:t>
            </a:r>
          </a:p>
          <a:p>
            <a:pPr>
              <a:spcAft>
                <a:spcPts val="600"/>
              </a:spcAft>
              <a:defRPr sz="950">
                <a:solidFill>
                  <a:srgbClr val="555F6E"/>
                </a:solidFill>
                <a:latin typeface="Arial"/>
              </a:defRPr>
            </a:pPr>
            <a:r>
              <a:t>Тренувалася індивідуально на скріншотах кожної гри; картинка часто була мильною й артефактною.</a:t>
            </a:r>
          </a:p>
          <a:p>
            <a:pPr>
              <a:defRPr sz="850" b="1">
                <a:solidFill>
                  <a:srgbClr val="646E7D"/>
                </a:solidFill>
                <a:latin typeface="Arial"/>
              </a:defRPr>
            </a:pPr>
            <a:r>
              <a:t>⚙️ Залізо: RTX 20 Series</a:t>
            </a:r>
          </a:p>
        </p:txBody>
      </p:sp>
      <p:sp>
        <p:nvSpPr>
          <p:cNvPr id="10" name="Rounded Rectangle 9"/>
          <p:cNvSpPr/>
          <p:nvPr/>
        </p:nvSpPr>
        <p:spPr>
          <a:xfrm>
            <a:off x="4343400" y="1600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008766"/>
                </a:solidFill>
                <a:latin typeface="Arial"/>
              </a:defRPr>
            </a:pPr>
            <a:r>
              <a:t>DLSS 2.0  •  2020</a:t>
            </a:r>
          </a:p>
          <a:p>
            <a:pPr>
              <a:spcAft>
                <a:spcPts val="500"/>
              </a:spcAft>
              <a:defRPr sz="1200" b="1">
                <a:solidFill>
                  <a:srgbClr val="1C2430"/>
                </a:solidFill>
                <a:latin typeface="Georgia"/>
              </a:defRPr>
            </a:pPr>
            <a:r>
              <a:t>Універсальний Temporal-апскейл</a:t>
            </a:r>
          </a:p>
          <a:p>
            <a:pPr>
              <a:spcAft>
                <a:spcPts val="600"/>
              </a:spcAft>
              <a:defRPr sz="950">
                <a:solidFill>
                  <a:srgbClr val="555F6E"/>
                </a:solidFill>
                <a:latin typeface="Arial"/>
              </a:defRPr>
            </a:pPr>
            <a:r>
              <a:t>Головний прорив: єдина модель для всіх ігор, використання векторів руху та минулих кадрів.</a:t>
            </a:r>
          </a:p>
          <a:p>
            <a:pPr>
              <a:defRPr sz="850" b="1">
                <a:solidFill>
                  <a:srgbClr val="008766"/>
                </a:solidFill>
                <a:latin typeface="Arial"/>
              </a:defRPr>
            </a:pPr>
            <a:r>
              <a:t>⚙️ Залізо: RTX 20 / 30</a:t>
            </a:r>
          </a:p>
        </p:txBody>
      </p:sp>
      <p:sp>
        <p:nvSpPr>
          <p:cNvPr id="11" name="Rounded Rectangle 10"/>
          <p:cNvSpPr/>
          <p:nvPr/>
        </p:nvSpPr>
        <p:spPr>
          <a:xfrm>
            <a:off x="7955280" y="1600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0284C7"/>
                </a:solidFill>
                <a:latin typeface="Arial"/>
              </a:defRPr>
            </a:pPr>
            <a:r>
              <a:t>DLSS 3.0  •  2022</a:t>
            </a:r>
          </a:p>
          <a:p>
            <a:pPr>
              <a:spcAft>
                <a:spcPts val="500"/>
              </a:spcAft>
              <a:defRPr sz="1200" b="1">
                <a:solidFill>
                  <a:srgbClr val="1C2430"/>
                </a:solidFill>
                <a:latin typeface="Georgia"/>
              </a:defRPr>
            </a:pPr>
            <a:r>
              <a:t>Frame Generation (Вставка AI-кадрів)</a:t>
            </a:r>
          </a:p>
          <a:p>
            <a:pPr>
              <a:spcAft>
                <a:spcPts val="600"/>
              </a:spcAft>
              <a:defRPr sz="950">
                <a:solidFill>
                  <a:srgbClr val="555F6E"/>
                </a:solidFill>
                <a:latin typeface="Arial"/>
              </a:defRPr>
            </a:pPr>
            <a:r>
              <a:t>Вперше ШІ малює новий кадр між реальними завдяки блоку Optical Flow Accelerator.</a:t>
            </a:r>
          </a:p>
          <a:p>
            <a:pPr>
              <a:defRPr sz="850" b="1">
                <a:solidFill>
                  <a:srgbClr val="0284C7"/>
                </a:solidFill>
                <a:latin typeface="Arial"/>
              </a:defRPr>
            </a:pPr>
            <a:r>
              <a:t>⚙️ Залізо: RTX 40 Series</a:t>
            </a:r>
          </a:p>
        </p:txBody>
      </p:sp>
      <p:sp>
        <p:nvSpPr>
          <p:cNvPr id="12" name="Rounded Rectangle 11"/>
          <p:cNvSpPr/>
          <p:nvPr/>
        </p:nvSpPr>
        <p:spPr>
          <a:xfrm>
            <a:off x="731520" y="3886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9333EA"/>
                </a:solidFill>
                <a:latin typeface="Arial"/>
              </a:defRPr>
            </a:pPr>
            <a:r>
              <a:t>DLSS 3.5  •  2023</a:t>
            </a:r>
          </a:p>
          <a:p>
            <a:pPr>
              <a:spcAft>
                <a:spcPts val="500"/>
              </a:spcAft>
              <a:defRPr sz="1200" b="1">
                <a:solidFill>
                  <a:srgbClr val="1C2430"/>
                </a:solidFill>
                <a:latin typeface="Georgia"/>
              </a:defRPr>
            </a:pPr>
            <a:r>
              <a:t>Ray Reconstruction (ШІ-промені)</a:t>
            </a:r>
          </a:p>
          <a:p>
            <a:pPr>
              <a:spcAft>
                <a:spcPts val="600"/>
              </a:spcAft>
              <a:defRPr sz="950">
                <a:solidFill>
                  <a:srgbClr val="555F6E"/>
                </a:solidFill>
                <a:latin typeface="Arial"/>
              </a:defRPr>
            </a:pPr>
            <a:r>
              <a:t>Заміна класичних шумопоглиначів денойзером на основі ШІ для ідеальних дзеркал і води.</a:t>
            </a:r>
          </a:p>
          <a:p>
            <a:pPr>
              <a:defRPr sz="850" b="1">
                <a:solidFill>
                  <a:srgbClr val="9333EA"/>
                </a:solidFill>
                <a:latin typeface="Arial"/>
              </a:defRPr>
            </a:pPr>
            <a:r>
              <a:t>⚙️ Залізо: Всі карти RTX</a:t>
            </a:r>
          </a:p>
        </p:txBody>
      </p:sp>
      <p:sp>
        <p:nvSpPr>
          <p:cNvPr id="13" name="Rounded Rectangle 12"/>
          <p:cNvSpPr/>
          <p:nvPr/>
        </p:nvSpPr>
        <p:spPr>
          <a:xfrm>
            <a:off x="4343400" y="3886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EB8C14"/>
                </a:solidFill>
                <a:latin typeface="Arial"/>
              </a:defRPr>
            </a:pPr>
            <a:r>
              <a:t>DLSS 4 / 4.5  •  2025–26</a:t>
            </a:r>
          </a:p>
          <a:p>
            <a:pPr>
              <a:spcAft>
                <a:spcPts val="500"/>
              </a:spcAft>
              <a:defRPr sz="1200" b="1">
                <a:solidFill>
                  <a:srgbClr val="1C2430"/>
                </a:solidFill>
                <a:latin typeface="Georgia"/>
              </a:defRPr>
            </a:pPr>
            <a:r>
              <a:t>Multi Frame Gen (до 4x та 6x)</a:t>
            </a:r>
          </a:p>
          <a:p>
            <a:pPr>
              <a:spcAft>
                <a:spcPts val="600"/>
              </a:spcAft>
              <a:defRPr sz="950">
                <a:solidFill>
                  <a:srgbClr val="555F6E"/>
                </a:solidFill>
                <a:latin typeface="Arial"/>
              </a:defRPr>
            </a:pPr>
            <a:r>
              <a:t>Трансформерна архітектура, вставка кількох AI-кадрів підряд, динамічний режим під частоту монітора.</a:t>
            </a:r>
          </a:p>
          <a:p>
            <a:pPr>
              <a:defRPr sz="850" b="1">
                <a:solidFill>
                  <a:srgbClr val="EB8C14"/>
                </a:solidFill>
                <a:latin typeface="Arial"/>
              </a:defRPr>
            </a:pPr>
            <a:r>
              <a:t>⚙️ Залізо: RTX 50 Series</a:t>
            </a:r>
          </a:p>
        </p:txBody>
      </p:sp>
      <p:sp>
        <p:nvSpPr>
          <p:cNvPr id="14" name="Rounded Rectangle 13"/>
          <p:cNvSpPr/>
          <p:nvPr/>
        </p:nvSpPr>
        <p:spPr>
          <a:xfrm>
            <a:off x="7955280" y="3886200"/>
            <a:ext cx="3474720" cy="2148840"/>
          </a:xfrm>
          <a:prstGeom prst="roundRect">
            <a:avLst/>
          </a:prstGeom>
          <a:solidFill>
            <a:srgbClr val="FFFFFF"/>
          </a:solidFill>
          <a:ln w="15240">
            <a:solidFill>
              <a:srgbClr val="E2DED6"/>
            </a:solidFill>
          </a:ln>
        </p:spPr>
        <p:style>
          <a:lnRef idx="1">
            <a:schemeClr val="accent1"/>
          </a:lnRef>
          <a:fillRef idx="3">
            <a:schemeClr val="accent1"/>
          </a:fillRef>
          <a:effectRef idx="2">
            <a:schemeClr val="accent1"/>
          </a:effectRef>
          <a:fontRef idx="minor">
            <a:schemeClr val="lt1"/>
          </a:fontRef>
        </p:style>
        <p:txBody>
          <a:bodyPr rtlCol="0" anchor="ctr" wrap="square" lIns="182880" tIns="128016" rIns="182880"/>
          <a:lstStyle/>
          <a:p>
            <a:pPr algn="ctr">
              <a:spcAft>
                <a:spcPts val="400"/>
              </a:spcAft>
              <a:defRPr sz="900" b="1">
                <a:solidFill>
                  <a:srgbClr val="DC2626"/>
                </a:solidFill>
                <a:latin typeface="Arial"/>
              </a:defRPr>
            </a:pPr>
            <a:r>
              <a:t>DLSS 5.0  •  2026</a:t>
            </a:r>
          </a:p>
          <a:p>
            <a:pPr>
              <a:spcAft>
                <a:spcPts val="500"/>
              </a:spcAft>
              <a:defRPr sz="1200" b="1">
                <a:solidFill>
                  <a:srgbClr val="1C2430"/>
                </a:solidFill>
                <a:latin typeface="Georgia"/>
              </a:defRPr>
            </a:pPr>
            <a:r>
              <a:t>3D-Guided Neural Rendering</a:t>
            </a:r>
          </a:p>
          <a:p>
            <a:pPr>
              <a:spcAft>
                <a:spcPts val="600"/>
              </a:spcAft>
              <a:defRPr sz="950">
                <a:solidFill>
                  <a:srgbClr val="555F6E"/>
                </a:solidFill>
                <a:latin typeface="Arial"/>
              </a:defRPr>
            </a:pPr>
            <a:r>
              <a:t>ШІ більше не просто масштабує — він самостійно генерує фізично коректне світло, шкіру й тіні.</a:t>
            </a:r>
          </a:p>
          <a:p>
            <a:pPr>
              <a:defRPr sz="850" b="1">
                <a:solidFill>
                  <a:srgbClr val="DC2626"/>
                </a:solidFill>
                <a:latin typeface="Arial"/>
              </a:defRPr>
            </a:pPr>
            <a:r>
              <a:t>⚙️ Залізо: RTX 50 + Оновлення</a:t>
            </a:r>
          </a:p>
        </p:txBody>
      </p:sp>
      <p:sp>
        <p:nvSpPr>
          <p:cNvPr id="15" name="TextBox 14"/>
          <p:cNvSpPr txBox="1"/>
          <p:nvPr/>
        </p:nvSpPr>
        <p:spPr>
          <a:xfrm>
            <a:off x="731520" y="6217920"/>
            <a:ext cx="10728655" cy="274320"/>
          </a:xfrm>
          <a:prstGeom prst="rect">
            <a:avLst/>
          </a:prstGeom>
          <a:noFill/>
        </p:spPr>
        <p:txBody>
          <a:bodyPr wrap="none" lIns="0" tIns="0">
            <a:spAutoFit/>
          </a:bodyPr>
          <a:lstStyle/>
          <a:p>
            <a:pPr>
              <a:defRPr sz="850">
                <a:solidFill>
                  <a:srgbClr val="555F6E"/>
                </a:solidFill>
                <a:latin typeface="Arial"/>
              </a:defRPr>
            </a:pPr>
            <a:r>
              <a:t>Джерела: Офіційні релізи NVIDIA, звіти CES 2025/2026, Digital Foundry, CGChannel та Wikipedia (DLSS).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5F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291840" cy="256032"/>
          </a:xfrm>
          <a:prstGeom prst="roundRect">
            <a:avLst/>
          </a:prstGeom>
          <a:solidFill>
            <a:srgbClr val="1C2430"/>
          </a:solidFill>
          <a:ln>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lIns="109728" tIns="18288"/>
          <a:lstStyle/>
          <a:p>
            <a:pPr algn="ctr">
              <a:defRPr sz="850" b="1">
                <a:solidFill>
                  <a:srgbClr val="5FD0B8"/>
                </a:solidFill>
                <a:latin typeface="Arial"/>
              </a:defRPr>
            </a:pPr>
            <a:r>
              <a:t>●  ДИСКУСІЯ ТА ВИСНОВКИ</a:t>
            </a:r>
          </a:p>
        </p:txBody>
      </p:sp>
      <p:sp>
        <p:nvSpPr>
          <p:cNvPr id="5" name="TextBox 4"/>
          <p:cNvSpPr txBox="1"/>
          <p:nvPr/>
        </p:nvSpPr>
        <p:spPr>
          <a:xfrm>
            <a:off x="9631375" y="347472"/>
            <a:ext cx="1828800" cy="256032"/>
          </a:xfrm>
          <a:prstGeom prst="rect">
            <a:avLst/>
          </a:prstGeom>
          <a:noFill/>
        </p:spPr>
        <p:txBody>
          <a:bodyPr wrap="none" rIns="0" tIns="0">
            <a:spAutoFit/>
          </a:bodyPr>
          <a:lstStyle/>
          <a:p>
            <a:pPr algn="r">
              <a:defRPr sz="900" b="1">
                <a:solidFill>
                  <a:srgbClr val="A5B0C0"/>
                </a:solidFill>
                <a:latin typeface="Arial"/>
              </a:defRPr>
            </a:pPr>
            <a:r>
              <a:t>СЛАЙД 10 / 10</a:t>
            </a:r>
          </a:p>
        </p:txBody>
      </p:sp>
      <p:sp>
        <p:nvSpPr>
          <p:cNvPr id="6" name="TextBox 5"/>
          <p:cNvSpPr txBox="1"/>
          <p:nvPr/>
        </p:nvSpPr>
        <p:spPr>
          <a:xfrm>
            <a:off x="731520" y="658368"/>
            <a:ext cx="10728655" cy="621792"/>
          </a:xfrm>
          <a:prstGeom prst="rect">
            <a:avLst/>
          </a:prstGeom>
          <a:noFill/>
        </p:spPr>
        <p:txBody>
          <a:bodyPr wrap="square" lIns="0" tIns="0" bIns="0" rIns="0">
            <a:spAutoFit/>
          </a:bodyPr>
          <a:lstStyle/>
          <a:p>
            <a:pPr>
              <a:defRPr sz="2200" b="1">
                <a:solidFill>
                  <a:srgbClr val="F4F1EA"/>
                </a:solidFill>
                <a:latin typeface="Georgia"/>
              </a:defRPr>
            </a:pPr>
            <a:r>
              <a:t>Підсумки: майбутнє ШІ-графіки та відкриті питання</a:t>
            </a:r>
          </a:p>
        </p:txBody>
      </p:sp>
      <p:sp>
        <p:nvSpPr>
          <p:cNvPr id="7" name="Rectangle 6"/>
          <p:cNvSpPr/>
          <p:nvPr/>
        </p:nvSpPr>
        <p:spPr>
          <a:xfrm>
            <a:off x="731520" y="1325880"/>
            <a:ext cx="10728655" cy="10972"/>
          </a:xfrm>
          <a:prstGeom prst="rect">
            <a:avLst/>
          </a:prstGeom>
          <a:solidFill>
            <a:srgbClr val="2C36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10728655" cy="228600"/>
          </a:xfrm>
          <a:prstGeom prst="rect">
            <a:avLst/>
          </a:prstGeom>
          <a:noFill/>
        </p:spPr>
        <p:txBody>
          <a:bodyPr wrap="none" lIns="0" tIns="0" bIns="0" rIns="0">
            <a:spAutoFit/>
          </a:bodyPr>
          <a:lstStyle/>
          <a:p>
            <a:pPr>
              <a:defRPr sz="800">
                <a:solidFill>
                  <a:srgbClr val="646E7D"/>
                </a:solidFill>
                <a:latin typeface="Arial"/>
              </a:defRPr>
            </a:pPr>
            <a:r>
              <a:t>ТЕХНОЛОГІЇ ГРАФІКИ · NVIDIA DLSS: ВІД АПСКЕЙЛУ ДО НЕЙРОННОГО РЕНДЕРИНГУ</a:t>
            </a:r>
          </a:p>
        </p:txBody>
      </p:sp>
      <p:sp>
        <p:nvSpPr>
          <p:cNvPr id="9" name="Rounded Rectangle 8"/>
          <p:cNvSpPr/>
          <p:nvPr/>
        </p:nvSpPr>
        <p:spPr>
          <a:xfrm>
            <a:off x="731520" y="1554480"/>
            <a:ext cx="5303520" cy="1417320"/>
          </a:xfrm>
          <a:prstGeom prst="roundRect">
            <a:avLst/>
          </a:prstGeom>
          <a:solidFill>
            <a:srgbClr val="1C2430"/>
          </a:solidFill>
          <a:ln w="1524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19072"/>
            <a:ext cx="4901184" cy="1088136"/>
          </a:xfrm>
          <a:prstGeom prst="rect">
            <a:avLst/>
          </a:prstGeom>
          <a:noFill/>
        </p:spPr>
        <p:txBody>
          <a:bodyPr wrap="square" lIns="0" tIns="0" rIns="0" bIns="0">
            <a:spAutoFit/>
          </a:bodyPr>
          <a:lstStyle/>
          <a:p>
            <a:pPr>
              <a:spcAft>
                <a:spcPts val="200"/>
              </a:spcAft>
              <a:defRPr sz="850" b="1">
                <a:solidFill>
                  <a:srgbClr val="5FD0B8"/>
                </a:solidFill>
                <a:latin typeface="Arial"/>
              </a:defRPr>
            </a:pPr>
            <a:r>
              <a:t>ДИСКУСІЙНЕ ПИТАННЯ #1</a:t>
            </a:r>
          </a:p>
          <a:p>
            <a:pPr>
              <a:spcAft>
                <a:spcPts val="600"/>
              </a:spcAft>
              <a:defRPr sz="1350" b="1">
                <a:solidFill>
                  <a:srgbClr val="F4F1EA"/>
                </a:solidFill>
                <a:latin typeface="Georgia"/>
              </a:defRPr>
            </a:pPr>
            <a:r>
              <a:t>1. Що важливіше: FPS чи кінематографічність?</a:t>
            </a:r>
          </a:p>
          <a:p>
            <a:pPr>
              <a:spcAft>
                <a:spcPts val="400"/>
              </a:spcAft>
              <a:defRPr sz="1050">
                <a:solidFill>
                  <a:srgbClr val="A5B0C0"/>
                </a:solidFill>
                <a:latin typeface="Arial"/>
              </a:defRPr>
            </a:pPr>
            <a:r>
              <a:t>• Чи готова аудиторія втрачати 50% кадрів заради ідеального розсіювання світла на шкірі та тканинах?</a:t>
            </a:r>
          </a:p>
          <a:p>
            <a:pPr>
              <a:spcAft>
                <a:spcPts val="400"/>
              </a:spcAft>
              <a:defRPr sz="1050">
                <a:solidFill>
                  <a:srgbClr val="A5B0C0"/>
                </a:solidFill>
                <a:latin typeface="Arial"/>
              </a:defRPr>
            </a:pPr>
            <a:r>
              <a:t>• Де проходить межа між комфортним геймплеєм та візуальною розкішшю?</a:t>
            </a:r>
          </a:p>
        </p:txBody>
      </p:sp>
      <p:sp>
        <p:nvSpPr>
          <p:cNvPr id="11" name="Rounded Rectangle 10"/>
          <p:cNvSpPr/>
          <p:nvPr/>
        </p:nvSpPr>
        <p:spPr>
          <a:xfrm>
            <a:off x="731520" y="3154680"/>
            <a:ext cx="5303520" cy="1417320"/>
          </a:xfrm>
          <a:prstGeom prst="roundRect">
            <a:avLst/>
          </a:prstGeom>
          <a:solidFill>
            <a:srgbClr val="1C2430"/>
          </a:solidFill>
          <a:ln w="1524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319272"/>
            <a:ext cx="4901184" cy="1088136"/>
          </a:xfrm>
          <a:prstGeom prst="rect">
            <a:avLst/>
          </a:prstGeom>
          <a:noFill/>
        </p:spPr>
        <p:txBody>
          <a:bodyPr wrap="square" lIns="0" tIns="0" rIns="0" bIns="0">
            <a:spAutoFit/>
          </a:bodyPr>
          <a:lstStyle/>
          <a:p>
            <a:pPr>
              <a:spcAft>
                <a:spcPts val="200"/>
              </a:spcAft>
              <a:defRPr sz="850" b="1">
                <a:solidFill>
                  <a:srgbClr val="00CCE6"/>
                </a:solidFill>
                <a:latin typeface="Arial"/>
              </a:defRPr>
            </a:pPr>
            <a:r>
              <a:t>ДИСКУСІЙНЕ ПИТАННЯ #2</a:t>
            </a:r>
          </a:p>
          <a:p>
            <a:pPr>
              <a:spcAft>
                <a:spcPts val="600"/>
              </a:spcAft>
              <a:defRPr sz="1350" b="1">
                <a:solidFill>
                  <a:srgbClr val="F4F1EA"/>
                </a:solidFill>
                <a:latin typeface="Georgia"/>
              </a:defRPr>
            </a:pPr>
            <a:r>
              <a:t>2. Задум художника проти штучного інтелекту</a:t>
            </a:r>
          </a:p>
          <a:p>
            <a:pPr>
              <a:spcAft>
                <a:spcPts val="400"/>
              </a:spcAft>
              <a:defRPr sz="1050">
                <a:solidFill>
                  <a:srgbClr val="A5B0C0"/>
                </a:solidFill>
                <a:latin typeface="Arial"/>
              </a:defRPr>
            </a:pPr>
            <a:r>
              <a:t>• Чи має нейромережа право самостійно «покращувати» картинку гри, змінюючи її тон і настрій?</a:t>
            </a:r>
          </a:p>
          <a:p>
            <a:pPr>
              <a:spcAft>
                <a:spcPts val="400"/>
              </a:spcAft>
              <a:defRPr sz="1050">
                <a:solidFill>
                  <a:srgbClr val="A5B0C0"/>
                </a:solidFill>
                <a:latin typeface="Arial"/>
              </a:defRPr>
            </a:pPr>
            <a:r>
              <a:t>• Як зберегти авторський почерк студії, коли ШІ намагається зробити все фотореалістичним?</a:t>
            </a:r>
          </a:p>
        </p:txBody>
      </p:sp>
      <p:sp>
        <p:nvSpPr>
          <p:cNvPr id="13" name="Rounded Rectangle 12"/>
          <p:cNvSpPr/>
          <p:nvPr/>
        </p:nvSpPr>
        <p:spPr>
          <a:xfrm>
            <a:off x="731520" y="4754880"/>
            <a:ext cx="5303520" cy="1417320"/>
          </a:xfrm>
          <a:prstGeom prst="roundRect">
            <a:avLst/>
          </a:prstGeom>
          <a:solidFill>
            <a:srgbClr val="1C2430"/>
          </a:solidFill>
          <a:ln w="1524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919472"/>
            <a:ext cx="4901184" cy="1088136"/>
          </a:xfrm>
          <a:prstGeom prst="rect">
            <a:avLst/>
          </a:prstGeom>
          <a:noFill/>
        </p:spPr>
        <p:txBody>
          <a:bodyPr wrap="square" lIns="0" tIns="0" rIns="0" bIns="0">
            <a:spAutoFit/>
          </a:bodyPr>
          <a:lstStyle/>
          <a:p>
            <a:pPr>
              <a:spcAft>
                <a:spcPts val="200"/>
              </a:spcAft>
              <a:defRPr sz="850" b="1">
                <a:solidFill>
                  <a:srgbClr val="EB8C14"/>
                </a:solidFill>
                <a:latin typeface="Arial"/>
              </a:defRPr>
            </a:pPr>
            <a:r>
              <a:t>ДИСКУСІЙНЕ ПИТАННЯ #3</a:t>
            </a:r>
          </a:p>
          <a:p>
            <a:pPr>
              <a:spcAft>
                <a:spcPts val="600"/>
              </a:spcAft>
              <a:defRPr sz="1350" b="1">
                <a:solidFill>
                  <a:srgbClr val="F4F1EA"/>
                </a:solidFill>
                <a:latin typeface="Georgia"/>
              </a:defRPr>
            </a:pPr>
            <a:r>
              <a:t>3. Лінощі розробників чи порятунок індустрії?</a:t>
            </a:r>
          </a:p>
          <a:p>
            <a:pPr>
              <a:spcAft>
                <a:spcPts val="400"/>
              </a:spcAft>
              <a:defRPr sz="1050">
                <a:solidFill>
                  <a:srgbClr val="A5B0C0"/>
                </a:solidFill>
                <a:latin typeface="Arial"/>
              </a:defRPr>
            </a:pPr>
            <a:r>
              <a:t>• Чи не стануть нейромережі виправданням поганої класичної оптимізації ігор?</a:t>
            </a:r>
          </a:p>
          <a:p>
            <a:pPr>
              <a:spcAft>
                <a:spcPts val="400"/>
              </a:spcAft>
              <a:defRPr sz="1050">
                <a:solidFill>
                  <a:srgbClr val="A5B0C0"/>
                </a:solidFill>
                <a:latin typeface="Arial"/>
              </a:defRPr>
            </a:pPr>
            <a:r>
              <a:t>• Що чекає індустрію далі: вихід GTA VI на ПК, відповідь AMD з FSR 5 та повний перехід на нейронні рушії.</a:t>
            </a:r>
          </a:p>
        </p:txBody>
      </p:sp>
      <p:sp>
        <p:nvSpPr>
          <p:cNvPr id="15" name="Rounded Rectangle 14"/>
          <p:cNvSpPr/>
          <p:nvPr/>
        </p:nvSpPr>
        <p:spPr>
          <a:xfrm>
            <a:off x="6272784" y="1517904"/>
            <a:ext cx="5223967" cy="4005072"/>
          </a:xfrm>
          <a:prstGeom prst="roundRect">
            <a:avLst/>
          </a:prstGeom>
          <a:solidFill>
            <a:srgbClr val="1C2430"/>
          </a:solidFill>
          <a:ln w="12700">
            <a:solidFill>
              <a:srgbClr val="2C36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uture_neural_hud.jpg"/>
          <p:cNvPicPr>
            <a:picLocks noChangeAspect="1"/>
          </p:cNvPicPr>
          <p:nvPr/>
        </p:nvPicPr>
        <p:blipFill>
          <a:blip r:embed="rId2"/>
          <a:stretch>
            <a:fillRect/>
          </a:stretch>
        </p:blipFill>
        <p:spPr>
          <a:xfrm>
            <a:off x="6309360" y="1554480"/>
            <a:ext cx="5150815" cy="3931920"/>
          </a:xfrm>
          <a:prstGeom prst="rect">
            <a:avLst/>
          </a:prstGeom>
        </p:spPr>
      </p:pic>
      <p:sp>
        <p:nvSpPr>
          <p:cNvPr id="17" name="TextBox 16"/>
          <p:cNvSpPr txBox="1"/>
          <p:nvPr/>
        </p:nvSpPr>
        <p:spPr>
          <a:xfrm>
            <a:off x="6309360" y="5532120"/>
            <a:ext cx="5150815" cy="219456"/>
          </a:xfrm>
          <a:prstGeom prst="rect">
            <a:avLst/>
          </a:prstGeom>
          <a:noFill/>
        </p:spPr>
        <p:txBody>
          <a:bodyPr wrap="none" lIns="0" tIns="0" rIns="0" bIns="0">
            <a:spAutoFit/>
          </a:bodyPr>
          <a:lstStyle/>
          <a:p>
            <a:pPr algn="ctr">
              <a:defRPr sz="850">
                <a:solidFill>
                  <a:srgbClr val="A5B0C0"/>
                </a:solidFill>
                <a:latin typeface="Arial"/>
              </a:defRPr>
            </a:pPr>
            <a:r>
              <a:t>Майбутнє: нейронний синтез кадрів та рушії нового покоління на базі ШІ</a:t>
            </a:r>
          </a:p>
        </p:txBody>
      </p:sp>
      <p:sp>
        <p:nvSpPr>
          <p:cNvPr id="18" name="Rounded Rectangle 17"/>
          <p:cNvSpPr/>
          <p:nvPr/>
        </p:nvSpPr>
        <p:spPr>
          <a:xfrm>
            <a:off x="6309360" y="5715000"/>
            <a:ext cx="5150815" cy="621792"/>
          </a:xfrm>
          <a:prstGeom prst="roundRect">
            <a:avLst/>
          </a:prstGeom>
          <a:solidFill>
            <a:srgbClr val="1C2430"/>
          </a:solidFill>
          <a:ln>
            <a:solidFill>
              <a:srgbClr val="5FD0B8"/>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950" b="1">
                <a:solidFill>
                  <a:srgbClr val="F4F1EA"/>
                </a:solidFill>
                <a:latin typeface="Arial"/>
              </a:defRPr>
            </a:pPr>
            <a:r>
              <a:t>🎯 Головний підсумок: DLSS пройшов шлях від звичайної «милиці» для слабких відеокарт до технології, яка повністю змінює майбутнє 3D-графіки.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