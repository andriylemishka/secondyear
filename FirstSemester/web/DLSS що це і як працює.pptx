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3" r:id="rId10"/>
    <p:sldId id="264" r:id="rId11"/>
    <p:sldId id="272" r:id="rId12"/>
    <p:sldId id="273" r:id="rId13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191F"/>
    <a:srgbClr val="000B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34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175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38811160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3501123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1906992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6946734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2027536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87126089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800327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8526674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060035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2113585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0810390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729" y="812729"/>
            <a:ext cx="10566542" cy="50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C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729" y="1620410"/>
            <a:ext cx="10566471" cy="4424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28628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D106229-EF4F-4AF8-8686-FF7C919891E9}" type="datetimeFigureOut">
              <a:rPr lang="uk-UA" smtClean="0"/>
              <a:t>15.10.2026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211F5C1-8916-4ADE-8429-A93737764AB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60131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29" y="2432714"/>
            <a:ext cx="10883538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kern="0" spc="200" dirty="0">
                <a:solidFill>
                  <a:srgbClr val="5FD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ТЕХНОЛОГІЇ ГРАФІКИ · NVIDIA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29" y="2935595"/>
            <a:ext cx="10883538" cy="905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930"/>
              </a:lnSpc>
              <a:buNone/>
            </a:pPr>
            <a:r>
              <a:rPr lang="en-US" sz="6600" b="0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DLSS: що це і як працює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12729" y="4069691"/>
            <a:ext cx="10883538" cy="380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B9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Апскейл, генерація кадрів і DLSS 5 по кроках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476275" y="6238303"/>
            <a:ext cx="2242770" cy="2387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D87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</a:t>
            </a:r>
            <a:r>
              <a:rPr lang="uk-UA" sz="1200" dirty="0">
                <a:solidFill>
                  <a:srgbClr val="7D87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Лемішка Андрій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29"/>
            <a:ext cx="10883538" cy="528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C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Що таке DLSS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729" y="1569583"/>
            <a:ext cx="10883538" cy="85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DLSS (Deep Learning Super Sampling) — набір технологій NVIDIA, у яких нейромережа допомагає грі працювати швидше або виглядати краще. Вона виконується на тензорних ядрах RTX-карт, тобто спеціальних блоках для обчислень зі штучним інтелектом.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15904" y="2655308"/>
            <a:ext cx="3380335" cy="1853067"/>
          </a:xfrm>
          <a:prstGeom prst="roundRect">
            <a:avLst>
              <a:gd name="adj" fmla="val 5311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525" y="2885928"/>
            <a:ext cx="3006667" cy="284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Resolution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46525" y="3246506"/>
            <a:ext cx="3006667" cy="1056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Збільшує зображення з нижчої роздільності до цільової. Це апскейл, який знають як DLSS 2, 3, 4.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05751" y="2655308"/>
            <a:ext cx="3380417" cy="1853067"/>
          </a:xfrm>
          <a:prstGeom prst="roundRect">
            <a:avLst>
              <a:gd name="adj" fmla="val 5311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372" y="2885928"/>
            <a:ext cx="3006751" cy="284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Generation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36372" y="3246506"/>
            <a:ext cx="3006751" cy="7988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Додає нові кадри між тими, які порахувала гра. Так FPS на екрані зростає.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95679" y="2655308"/>
            <a:ext cx="3380417" cy="1853067"/>
          </a:xfrm>
          <a:prstGeom prst="roundRect">
            <a:avLst>
              <a:gd name="adj" fmla="val 5311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6300" y="2885928"/>
            <a:ext cx="3006751" cy="284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Ray Reconstruction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6300" y="3246506"/>
            <a:ext cx="3006751" cy="7988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Прибирає «шум» від трасування променів, щоб відблиски і тіні були чистішими.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729" y="4765523"/>
            <a:ext cx="10883538" cy="5777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Цифра в назві (DLSS 2, 3, 4) означає покоління технології. Окремі функції можна вмикати незалежно, тому в налаштуваннях гри їх бачимо як окремі перемикачі.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30"/>
            <a:ext cx="10883538" cy="528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C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Як гра малює один кадр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729" y="1569583"/>
            <a:ext cx="10883538" cy="5777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показати один кадр, рушій проходить ланцюжок етапів. Якщо ціль 60 кадрів на секунду, на весь кадр є приблизно 16,7 мс.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15904" y="2379117"/>
            <a:ext cx="2216259" cy="1398220"/>
          </a:xfrm>
          <a:prstGeom prst="roundRect">
            <a:avLst>
              <a:gd name="adj" fmla="val 7039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5714" y="2558926"/>
            <a:ext cx="1912339" cy="269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Геометрія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95714" y="2904227"/>
            <a:ext cx="1912339" cy="7186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 з трикутників: персонажі, будівлі, ландшафт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62284" y="2864853"/>
            <a:ext cx="365740" cy="45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0F7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597188" y="2379117"/>
            <a:ext cx="2216341" cy="1398220"/>
          </a:xfrm>
          <a:prstGeom prst="roundRect">
            <a:avLst>
              <a:gd name="adj" fmla="val 7039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76998" y="2558926"/>
            <a:ext cx="1912423" cy="269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Матеріали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76998" y="2904227"/>
            <a:ext cx="1912423" cy="7186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Текстури, метал, шкіра: як поверхня відбиває світло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49" y="2864853"/>
            <a:ext cx="365740" cy="45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0F7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378554" y="2379117"/>
            <a:ext cx="2216259" cy="1398220"/>
          </a:xfrm>
          <a:prstGeom prst="roundRect">
            <a:avLst>
              <a:gd name="adj" fmla="val 7039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8363" y="2558926"/>
            <a:ext cx="1912339" cy="269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Освітлення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58363" y="2904227"/>
            <a:ext cx="1912339" cy="7186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Тіні, відблиски, промені світла, часто трасування променів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24933" y="2864853"/>
            <a:ext cx="365740" cy="45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0F7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59837" y="2379117"/>
            <a:ext cx="2216259" cy="1398220"/>
          </a:xfrm>
          <a:prstGeom prst="roundRect">
            <a:avLst>
              <a:gd name="adj" fmla="val 7039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39647" y="2558926"/>
            <a:ext cx="1912339" cy="269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Постобробка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39647" y="2904227"/>
            <a:ext cx="1912339" cy="7186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Згладжування, розмиття, кольорокорекція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2729" y="6238304"/>
            <a:ext cx="3302839" cy="2387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endParaRPr lang="en-US" sz="1200" dirty="0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A576FD47-D273-9825-301C-C6EDC63E90ED}"/>
              </a:ext>
            </a:extLst>
          </p:cNvPr>
          <p:cNvSpPr/>
          <p:nvPr/>
        </p:nvSpPr>
        <p:spPr>
          <a:xfrm>
            <a:off x="812729" y="4211762"/>
            <a:ext cx="2912559" cy="1759838"/>
          </a:xfrm>
          <a:prstGeom prst="roundRect">
            <a:avLst>
              <a:gd name="adj" fmla="val 5773"/>
            </a:avLst>
          </a:prstGeom>
          <a:solidFill>
            <a:srgbClr val="222A34"/>
          </a:solidFill>
          <a:ln/>
        </p:spPr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1F135191-DF5C-AA49-91B5-9E5E89EE5DD4}"/>
              </a:ext>
            </a:extLst>
          </p:cNvPr>
          <p:cNvSpPr/>
          <p:nvPr/>
        </p:nvSpPr>
        <p:spPr>
          <a:xfrm>
            <a:off x="1117513" y="4516550"/>
            <a:ext cx="2372081" cy="299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5FD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Рендер</a:t>
            </a:r>
            <a:endParaRPr lang="en-US" sz="18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A9932479-1F71-4E61-20DC-96B3805A0C68}"/>
              </a:ext>
            </a:extLst>
          </p:cNvPr>
          <p:cNvSpPr/>
          <p:nvPr/>
        </p:nvSpPr>
        <p:spPr>
          <a:xfrm>
            <a:off x="1117513" y="4866916"/>
            <a:ext cx="2372081" cy="825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 малює кадр у нижчій роздільності, наприклад 1080p</a:t>
            </a:r>
            <a:endParaRPr lang="en-US" sz="15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CDECFDA6-0308-F715-570D-C5014927FC0E}"/>
              </a:ext>
            </a:extLst>
          </p:cNvPr>
          <p:cNvSpPr/>
          <p:nvPr/>
        </p:nvSpPr>
        <p:spPr>
          <a:xfrm>
            <a:off x="3979261" y="4807199"/>
            <a:ext cx="487687" cy="594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dirty="0">
                <a:solidFill>
                  <a:srgbClr val="5FD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8D0B6FF7-4378-7495-BEF4-9C3D7F95353E}"/>
              </a:ext>
            </a:extLst>
          </p:cNvPr>
          <p:cNvSpPr/>
          <p:nvPr/>
        </p:nvSpPr>
        <p:spPr>
          <a:xfrm>
            <a:off x="4639639" y="4078449"/>
            <a:ext cx="2912641" cy="2026472"/>
          </a:xfrm>
          <a:prstGeom prst="roundRect">
            <a:avLst>
              <a:gd name="adj" fmla="val 5014"/>
            </a:avLst>
          </a:prstGeom>
          <a:solidFill>
            <a:srgbClr val="222A34"/>
          </a:solidFill>
          <a:ln/>
        </p:spPr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2CD1946B-8CA2-8762-5F2A-F623BED912BA}"/>
              </a:ext>
            </a:extLst>
          </p:cNvPr>
          <p:cNvSpPr/>
          <p:nvPr/>
        </p:nvSpPr>
        <p:spPr>
          <a:xfrm>
            <a:off x="4944423" y="4383237"/>
            <a:ext cx="2372165" cy="299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5FD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Нейромережа</a:t>
            </a:r>
            <a:endParaRPr lang="en-US" sz="18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12CEF0DA-5239-94F2-A23B-4AF2EDCFD2AE}"/>
              </a:ext>
            </a:extLst>
          </p:cNvPr>
          <p:cNvSpPr/>
          <p:nvPr/>
        </p:nvSpPr>
        <p:spPr>
          <a:xfrm>
            <a:off x="4944423" y="4733603"/>
            <a:ext cx="2372165" cy="1091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Тензорні ядра RTX дорисовують деталі, спираючись на історію кадрів</a:t>
            </a:r>
            <a:endParaRPr lang="en-US" sz="15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7584F8A-288D-5CB5-CB74-2DD3C8C1A229}"/>
              </a:ext>
            </a:extLst>
          </p:cNvPr>
          <p:cNvSpPr/>
          <p:nvPr/>
        </p:nvSpPr>
        <p:spPr>
          <a:xfrm>
            <a:off x="7806252" y="4807199"/>
            <a:ext cx="487687" cy="594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dirty="0">
                <a:solidFill>
                  <a:srgbClr val="5FD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640A58C6-2ED8-F4B9-EEEF-D75379E40DE3}"/>
              </a:ext>
            </a:extLst>
          </p:cNvPr>
          <p:cNvSpPr/>
          <p:nvPr/>
        </p:nvSpPr>
        <p:spPr>
          <a:xfrm>
            <a:off x="8466631" y="4052384"/>
            <a:ext cx="2912641" cy="2026472"/>
          </a:xfrm>
          <a:prstGeom prst="roundRect">
            <a:avLst>
              <a:gd name="adj" fmla="val 5014"/>
            </a:avLst>
          </a:prstGeom>
          <a:solidFill>
            <a:srgbClr val="222A34"/>
          </a:solidFill>
          <a:ln/>
        </p:spPr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D8864D41-A400-88B3-F032-CC1C236E28CB}"/>
              </a:ext>
            </a:extLst>
          </p:cNvPr>
          <p:cNvSpPr/>
          <p:nvPr/>
        </p:nvSpPr>
        <p:spPr>
          <a:xfrm>
            <a:off x="8771414" y="4383237"/>
            <a:ext cx="2372165" cy="299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5FD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Вихід</a:t>
            </a:r>
            <a:endParaRPr lang="en-US" sz="18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1A662956-20D8-E1AB-FF45-CEE5134B31F5}"/>
              </a:ext>
            </a:extLst>
          </p:cNvPr>
          <p:cNvSpPr/>
          <p:nvPr/>
        </p:nvSpPr>
        <p:spPr>
          <a:xfrm>
            <a:off x="8771414" y="4733603"/>
            <a:ext cx="2372165" cy="1091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Зображення у 4K, яке виглядає майже як нативне і виходить швидше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29"/>
            <a:ext cx="11379271" cy="528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C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DLSS 2: апскейл, тобто домальовування пікселів</a:t>
            </a:r>
            <a:endParaRPr lang="en-US" sz="3600" dirty="0"/>
          </a:p>
        </p:txBody>
      </p:sp>
      <p:pic>
        <p:nvPicPr>
          <p:cNvPr id="3" name="Image 0" descr="сітка пікселів, апскейл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737076" y="2336180"/>
            <a:ext cx="4571919" cy="247641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46724" y="2199876"/>
            <a:ext cx="5808200" cy="5777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 рендериться в нижчій роздільності, наприклад 1080p. Це в чотири рази менше пікселів, ніж у 4K.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646724" y="2904613"/>
            <a:ext cx="5808200" cy="1130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Нейромережа отримує колір кадру, вектори руху і дані з минулих кадрів. Для кожного пікселя цільової роздільності вона визначає колір: частину бере з поточного кадру, частину відновлює з історії.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646724" y="4161733"/>
            <a:ext cx="5808200" cy="85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DLSS 2 не створює нову інформацію з нічого, на відміну від класичних нейронних апскейлерів. Він переважно збирає дані, які вже є в попередніх кадрах.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2729" y="6238303"/>
            <a:ext cx="5703041" cy="2387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32"/>
            <a:ext cx="10883538" cy="507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824"/>
              </a:lnSpc>
              <a:buNone/>
            </a:pPr>
            <a:r>
              <a:rPr lang="en-US" sz="3476" b="0" i="0" dirty="0">
                <a:solidFill>
                  <a:srgbClr val="1C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Звідки беруться дані: зсув камери і історія кадрів</a:t>
            </a:r>
            <a:endParaRPr lang="en-US" sz="3476" dirty="0"/>
          </a:p>
        </p:txBody>
      </p:sp>
      <p:pic>
        <p:nvPicPr>
          <p:cNvPr id="3" name="Image 0" descr="зсув камери між кадрами"/>
          <p:cNvPicPr>
            <a:picLocks noChangeAspect="1"/>
          </p:cNvPicPr>
          <p:nvPr/>
        </p:nvPicPr>
        <p:blipFill>
          <a:blip r:embed="rId3"/>
          <a:srcRect l="-2169" r="-2169"/>
          <a:stretch/>
        </p:blipFill>
        <p:spPr>
          <a:xfrm>
            <a:off x="833511" y="1548426"/>
            <a:ext cx="10159974" cy="29811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29" y="4783578"/>
            <a:ext cx="5310931" cy="1083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кадр камера трохи зсувається на частку пікселя (так званий jitter). Тому за кілька кадрів одна й та сама ділянка «побачена» з різних точок.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222946" y="4783578"/>
            <a:ext cx="5311015" cy="1083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Нейромережа об’єднує ці зразки в один детальний піксель. Вектори руху показують, куди перенести старі дані, коли об’єкт рухається. Неточні значення відкидаються, щоб не було шлейфів (ghosting).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12729" y="6238304"/>
            <a:ext cx="6163476" cy="2387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29"/>
            <a:ext cx="10883538" cy="1031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C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Frame Generation: як з’являється проміжний кадр</a:t>
            </a:r>
            <a:endParaRPr lang="en-US" sz="3600" dirty="0"/>
          </a:p>
        </p:txBody>
      </p:sp>
      <p:pic>
        <p:nvPicPr>
          <p:cNvPr id="3" name="Image 0" descr="таймлайн кадрів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812729" y="2072463"/>
            <a:ext cx="10159974" cy="190491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29" y="4231354"/>
            <a:ext cx="10883538" cy="25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3A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кадр, який порахувала гра. AI — кадр, який домалювала </a:t>
            </a:r>
            <a:r>
              <a:rPr lang="en-US" sz="1300" dirty="0" err="1">
                <a:solidFill>
                  <a:srgbClr val="3A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нейромережа</a:t>
            </a:r>
            <a:r>
              <a:rPr lang="en-US" sz="1300" dirty="0">
                <a:solidFill>
                  <a:srgbClr val="3A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729" y="4716425"/>
            <a:ext cx="5310931" cy="1130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Рушій малює два реальні кадри. Оптичний потік і вектори руху показують, як зсунулися об’єкти між ними. Нейромережа будує проміжний кадр, який DLSS показує між двома реальними. FPS на екрані подвоюється.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222946" y="4716425"/>
            <a:ext cx="5311015" cy="1130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Ціна: другий реальний кадр затримується, бо його треба показати після AI-кадру. Тому відгук керування лишається ближчим до реального FPS, а не до подвійного. 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29"/>
            <a:ext cx="10883538" cy="508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824"/>
              </a:lnSpc>
              <a:buNone/>
            </a:pPr>
            <a:r>
              <a:rPr lang="en-US" sz="3476" b="0" i="0" dirty="0">
                <a:solidFill>
                  <a:srgbClr val="1C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Multi Frame Generation: 2x, 4x, 6x</a:t>
            </a:r>
            <a:endParaRPr lang="en-US" sz="3476" dirty="0"/>
          </a:p>
        </p:txBody>
      </p:sp>
      <p:pic>
        <p:nvPicPr>
          <p:cNvPr id="3" name="Image 0" descr="таймлайн кадрів"/>
          <p:cNvPicPr>
            <a:picLocks noChangeAspect="1"/>
          </p:cNvPicPr>
          <p:nvPr/>
        </p:nvPicPr>
        <p:blipFill>
          <a:blip r:embed="rId5"/>
          <a:srcRect l="-2069" r="-2069"/>
          <a:stretch/>
        </p:blipFill>
        <p:spPr>
          <a:xfrm>
            <a:off x="643126" y="1575131"/>
            <a:ext cx="4999138" cy="20032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124" y="3578332"/>
            <a:ext cx="5310931" cy="1086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DLSS 4 дає до 4x: на кожен реальний кадр до трьох AI-кадрів. DLSS 4.5 додає 6x, тобто до п’яти AI-кадрів, і динамічний режим, який сам підбирає множник під потрібний FPS.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58124" y="4780716"/>
            <a:ext cx="5311015" cy="1086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uk-UA" sz="1600" b="1" u="none" strike="noStrike" dirty="0">
                <a:effectLst/>
                <a:latin typeface="Google Sans"/>
              </a:rPr>
              <a:t>Візуальний </a:t>
            </a:r>
            <a:r>
              <a:rPr lang="en-US" sz="1600" b="1" u="none" strike="noStrike" dirty="0">
                <a:effectLst/>
                <a:latin typeface="Google Sans"/>
              </a:rPr>
              <a:t>FPS:</a:t>
            </a:r>
            <a:r>
              <a:rPr lang="en-US" sz="1600" b="0" u="none" strike="noStrike" dirty="0">
                <a:effectLst/>
                <a:latin typeface="Google Sans"/>
              </a:rPr>
              <a:t> </a:t>
            </a:r>
            <a:r>
              <a:rPr lang="uk-UA" sz="1600" b="0" u="none" strike="noStrike" dirty="0">
                <a:effectLst/>
                <a:latin typeface="Google Sans"/>
              </a:rPr>
              <a:t>Чим більше </a:t>
            </a:r>
            <a:r>
              <a:rPr lang="en-US" sz="1600" b="0" u="none" strike="noStrike" dirty="0">
                <a:effectLst/>
                <a:latin typeface="Google Sans"/>
              </a:rPr>
              <a:t>AI-</a:t>
            </a:r>
            <a:r>
              <a:rPr lang="uk-UA" sz="1600" b="0" u="none" strike="noStrike" dirty="0">
                <a:effectLst/>
                <a:latin typeface="Google Sans"/>
              </a:rPr>
              <a:t>кадрів, тим вища цифра на лічильнику та плавність картинки.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uk-UA" sz="1600" b="1" u="none" strike="noStrike" dirty="0">
                <a:effectLst/>
                <a:latin typeface="Google Sans"/>
              </a:rPr>
              <a:t>Графічні помилки:</a:t>
            </a:r>
            <a:r>
              <a:rPr lang="uk-UA" sz="1600" b="0" u="none" strike="noStrike" dirty="0">
                <a:effectLst/>
                <a:latin typeface="Google Sans"/>
              </a:rPr>
              <a:t> Оскільки </a:t>
            </a:r>
            <a:r>
              <a:rPr lang="en-US" sz="1600" b="0" u="none" strike="noStrike" dirty="0">
                <a:effectLst/>
                <a:latin typeface="Google Sans"/>
              </a:rPr>
              <a:t>AI «</a:t>
            </a:r>
            <a:r>
              <a:rPr lang="uk-UA" sz="1600" b="0" u="none" strike="noStrike" dirty="0">
                <a:effectLst/>
                <a:latin typeface="Google Sans"/>
              </a:rPr>
              <a:t>вгадує» кадри, на швидких рухах частіше з'являються артефакти.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uk-UA" sz="1600" b="1" u="none" strike="noStrike" dirty="0">
                <a:effectLst/>
                <a:latin typeface="Google Sans"/>
              </a:rPr>
              <a:t>Реальний відгук:</a:t>
            </a:r>
            <a:r>
              <a:rPr lang="uk-UA" sz="1600" b="0" u="none" strike="noStrike" dirty="0">
                <a:effectLst/>
                <a:latin typeface="Google Sans"/>
              </a:rPr>
              <a:t> Швидкість реакції гри (</a:t>
            </a:r>
            <a:r>
              <a:rPr lang="en-US" sz="1600" b="0" u="none" strike="noStrike" dirty="0">
                <a:effectLst/>
                <a:latin typeface="Google Sans"/>
              </a:rPr>
              <a:t>input lag) </a:t>
            </a:r>
            <a:r>
              <a:rPr lang="uk-UA" sz="1600" b="0" u="none" strike="noStrike" dirty="0">
                <a:effectLst/>
                <a:latin typeface="Google Sans"/>
              </a:rPr>
              <a:t>визначається </a:t>
            </a:r>
            <a:r>
              <a:rPr lang="uk-UA" sz="1600" b="1" u="none" strike="noStrike" dirty="0">
                <a:effectLst/>
                <a:latin typeface="Google Sans"/>
              </a:rPr>
              <a:t>справжніми кадрами</a:t>
            </a:r>
            <a:r>
              <a:rPr lang="uk-UA" sz="1600" b="0" u="none" strike="noStrike" dirty="0">
                <a:effectLst/>
                <a:latin typeface="Google Sans"/>
              </a:rPr>
              <a:t> (наприклад, базовими 60 </a:t>
            </a:r>
            <a:r>
              <a:rPr lang="en-US" sz="1600" b="0" u="none" strike="noStrike" dirty="0">
                <a:effectLst/>
                <a:latin typeface="Google Sans"/>
              </a:rPr>
              <a:t>FPS), </a:t>
            </a:r>
            <a:r>
              <a:rPr lang="uk-UA" sz="1600" b="0" u="none" strike="noStrike" dirty="0">
                <a:effectLst/>
                <a:latin typeface="Google Sans"/>
              </a:rPr>
              <a:t>а не підсумковою цифрою на екрані.</a:t>
            </a:r>
          </a:p>
        </p:txBody>
      </p:sp>
      <p:pic>
        <p:nvPicPr>
          <p:cNvPr id="7" name="m2-res_1080p">
            <a:hlinkClick r:id="" action="ppaction://media"/>
            <a:extLst>
              <a:ext uri="{FF2B5EF4-FFF2-40B4-BE49-F238E27FC236}">
                <a16:creationId xmlns:a16="http://schemas.microsoft.com/office/drawing/2014/main" id="{E7BF6DDD-2E89-4086-B32E-F655F344A86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688975" y="1692679"/>
            <a:ext cx="4496824" cy="417474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5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29" y="812726"/>
            <a:ext cx="10883538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kern="0" spc="200" dirty="0">
                <a:solidFill>
                  <a:srgbClr val="F0A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НОВИЙ ЕТАП · 3 ВЕРЕСНЯ 2026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29" y="2336974"/>
            <a:ext cx="10883538" cy="136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0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DLSS 5: ШІ змінює освітлення і матеріали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729" y="4953242"/>
            <a:ext cx="3453451" cy="269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3D-Guided Neural Rendering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729" y="5298548"/>
            <a:ext cx="3453451" cy="772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9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не лише підвищує роздільність, а й додає фотореалістичне світло і матеріали, прив'язані до 3D-сцени.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419567" y="4953242"/>
            <a:ext cx="3453451" cy="269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Розуміє сцену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19567" y="5298548"/>
            <a:ext cx="3453451" cy="772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9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Розпізнає персонажів, волосся, тканину й напівпрозору шкіру, а також тип освітлення.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26406" y="4953242"/>
            <a:ext cx="3453451" cy="269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розробника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26406" y="5298548"/>
            <a:ext cx="3453451" cy="772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9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Інтенсивність, колірне градуювання і маски: художник вирішує, де ефект застосовується.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29"/>
            <a:ext cx="10883538" cy="528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DLSS 5: нейромережа додає світло і матеріали</a:t>
            </a:r>
            <a:endParaRPr lang="en-US" sz="3600" dirty="0"/>
          </a:p>
        </p:txBody>
      </p:sp>
      <p:pic>
        <p:nvPicPr>
          <p:cNvPr id="3" name="Image 0" descr="схема DLSS 5"/>
          <p:cNvPicPr>
            <a:picLocks noChangeAspect="1"/>
          </p:cNvPicPr>
          <p:nvPr/>
        </p:nvPicPr>
        <p:blipFill>
          <a:blip r:embed="rId3"/>
          <a:srcRect t="-22" b="-22"/>
          <a:stretch/>
        </p:blipFill>
        <p:spPr>
          <a:xfrm>
            <a:off x="812729" y="2130691"/>
            <a:ext cx="10159974" cy="2158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29" y="5079345"/>
            <a:ext cx="5310931" cy="1314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E6E9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DLSS 2–4.5 змінювали роздільність або додавали кадри. DLSS 5 (вихід у вересні 2026) додає ще один етап: модель розпізнає на кадрі шкіру, волосся, тканину, метал і тип світла, а потім домальовує фотореалістичне освітлення та матеріали.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222946" y="5079345"/>
            <a:ext cx="5311015" cy="1314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E6E9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Ефект: розсіювання світла під шкірою, блиск тканин, відблиски на волоссі, м’якші тіні. NVIDIA каже, що геометрія і текстури не змінюються. Розробник керує інтенсивністю, колірним градуванням і масками.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2849347" y="-6351"/>
            <a:ext cx="8258535" cy="5777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C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DLSS 5: що змінює світло</a:t>
            </a:r>
            <a:endParaRPr lang="en-US" sz="3600" dirty="0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 t="12573" b="12573"/>
          <a:stretch/>
        </p:blipFill>
        <p:spPr>
          <a:xfrm>
            <a:off x="1654392" y="571434"/>
            <a:ext cx="8746908" cy="25693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98384" y="3190761"/>
            <a:ext cx="9897771" cy="5777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Спрощено: DLSS 5 не переробляє модель персонажа. Він додає освітлення, яке імітує, як світло проходить крізь шкіру, як м’якнуть тіні і як блищать пасма волосся.</a:t>
            </a:r>
            <a:endParaRPr lang="en-US" sz="1500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CDE1A5BA-413E-5CDF-8B59-6D9B555CD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5049895"/>
              </p:ext>
            </p:extLst>
          </p:nvPr>
        </p:nvGraphicFramePr>
        <p:xfrm>
          <a:off x="812729" y="3768546"/>
          <a:ext cx="10556085" cy="2956638"/>
        </p:xfrm>
        <a:graphic>
          <a:graphicData uri="http://schemas.openxmlformats.org/drawingml/2006/table">
            <a:tbl>
              <a:tblPr/>
              <a:tblGrid>
                <a:gridCol w="3518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8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8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Елемент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Без DLSS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 DLSS 5 (NVIDIA і тести)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8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Шкіра і обличчя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гладка, без видимого розсіювання світла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підповерхневе розсіювання, видно дрібні зморшки й </a:t>
                      </a:r>
                      <a:r>
                        <a:rPr lang="en-US" sz="1300" dirty="0" err="1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щетину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304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Волосся і тканини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спрощені відблиски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природніше світло на пасмах, шовковистий блиск тканин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304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Тіні і світло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м’які, менш деталізовані контактні тіні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чіткіші тіні від предметів і </a:t>
                      </a:r>
                      <a:r>
                        <a:rPr lang="en-US" sz="1300" dirty="0" err="1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304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Настрій сцени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задуманий художником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може стати яскравішим і </a:t>
                      </a:r>
                      <a:r>
                        <a:rPr lang="en-US" sz="1300" dirty="0" err="1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холоднішим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6304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Продуктивність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базовий FPS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 старті падіння 50–60%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729" y="812738"/>
            <a:ext cx="10883538" cy="528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F4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Ціна у FPS: NBA 2K27, RTX 5090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729" y="2257825"/>
            <a:ext cx="10883538" cy="292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9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4K, Ultra, трасування променів: без DLSS 5 і з ним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729" y="2704744"/>
            <a:ext cx="2092904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DLSS 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997026" y="2651401"/>
            <a:ext cx="7467895" cy="355595"/>
          </a:xfrm>
          <a:prstGeom prst="roundRect">
            <a:avLst>
              <a:gd name="adj" fmla="val 14286"/>
            </a:avLst>
          </a:prstGeom>
          <a:solidFill>
            <a:srgbClr val="5FD0B8"/>
          </a:solidFill>
          <a:ln/>
        </p:spPr>
      </p:sp>
      <p:sp>
        <p:nvSpPr>
          <p:cNvPr id="6" name="Text 4"/>
          <p:cNvSpPr/>
          <p:nvPr/>
        </p:nvSpPr>
        <p:spPr>
          <a:xfrm>
            <a:off x="10566471" y="2704744"/>
            <a:ext cx="812800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729" y="3187282"/>
            <a:ext cx="2092904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DLSS 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97026" y="3187282"/>
            <a:ext cx="3727865" cy="302252"/>
          </a:xfrm>
          <a:prstGeom prst="roundRect">
            <a:avLst>
              <a:gd name="adj" fmla="val 14286"/>
            </a:avLst>
          </a:prstGeom>
          <a:solidFill>
            <a:srgbClr val="F0A06B"/>
          </a:solidFill>
          <a:ln/>
        </p:spPr>
      </p:sp>
      <p:sp>
        <p:nvSpPr>
          <p:cNvPr id="9" name="Text 7"/>
          <p:cNvSpPr/>
          <p:nvPr/>
        </p:nvSpPr>
        <p:spPr>
          <a:xfrm>
            <a:off x="10566471" y="3187282"/>
            <a:ext cx="812800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729" y="3794315"/>
            <a:ext cx="10883538" cy="292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9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1080p, те саме налаштування: процесор стає вузьким місцем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729" y="4241245"/>
            <a:ext cx="2092904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DLSS 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97026" y="4187903"/>
            <a:ext cx="7467895" cy="355595"/>
          </a:xfrm>
          <a:prstGeom prst="roundRect">
            <a:avLst>
              <a:gd name="adj" fmla="val 14286"/>
            </a:avLst>
          </a:prstGeom>
          <a:solidFill>
            <a:srgbClr val="5FD0B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66471" y="4241245"/>
            <a:ext cx="812800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729" y="4723783"/>
            <a:ext cx="2092904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DLSS 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997026" y="4751728"/>
            <a:ext cx="5082103" cy="274308"/>
          </a:xfrm>
          <a:prstGeom prst="roundRect">
            <a:avLst>
              <a:gd name="adj" fmla="val 14286"/>
            </a:avLst>
          </a:prstGeom>
          <a:solidFill>
            <a:srgbClr val="F0A06B"/>
          </a:solidFill>
          <a:ln/>
        </p:spPr>
        <p:txBody>
          <a:bodyPr/>
          <a:lstStyle/>
          <a:p>
            <a:endParaRPr lang="uk-UA" dirty="0"/>
          </a:p>
        </p:txBody>
      </p:sp>
      <p:sp>
        <p:nvSpPr>
          <p:cNvPr id="16" name="Text 14"/>
          <p:cNvSpPr/>
          <p:nvPr/>
        </p:nvSpPr>
        <p:spPr>
          <a:xfrm>
            <a:off x="10566471" y="4723783"/>
            <a:ext cx="812800" cy="274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E1C32-2C50-993B-2DCC-88C0CE6BC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729" y="2330892"/>
            <a:ext cx="10566542" cy="502881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solidFill>
                  <a:schemeClr val="bg1">
                    <a:lumMod val="95000"/>
                    <a:lumOff val="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Thank you</a:t>
            </a:r>
            <a:br>
              <a:rPr lang="en-US" sz="3200" dirty="0">
                <a:solidFill>
                  <a:schemeClr val="bg1">
                    <a:lumMod val="95000"/>
                    <a:lumOff val="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en-US" sz="3200" dirty="0">
                <a:solidFill>
                  <a:schemeClr val="bg1">
                    <a:lumMod val="95000"/>
                    <a:lumOff val="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for your attention</a:t>
            </a:r>
            <a:br>
              <a:rPr lang="en-US" sz="3200" dirty="0">
                <a:solidFill>
                  <a:schemeClr val="bg1">
                    <a:lumMod val="95000"/>
                    <a:lumOff val="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en-US" sz="3200" dirty="0">
                <a:solidFill>
                  <a:schemeClr val="bg1">
                    <a:lumMod val="95000"/>
                    <a:lumOff val="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Q&amp;A</a:t>
            </a:r>
            <a:endParaRPr lang="uk-UA" sz="3200" dirty="0">
              <a:solidFill>
                <a:schemeClr val="bg1">
                  <a:lumMod val="95000"/>
                  <a:lumOff val="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614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283</TotalTime>
  <Words>964</Words>
  <Application>Microsoft Office PowerPoint</Application>
  <PresentationFormat>Широкий екран</PresentationFormat>
  <Paragraphs>104</Paragraphs>
  <Slides>12</Slides>
  <Notes>11</Notes>
  <HiddenSlides>0</HiddenSlides>
  <MMClips>1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Georgia</vt:lpstr>
      <vt:lpstr>Google Sans</vt:lpstr>
      <vt:lpstr>Segoe UI Black</vt:lpstr>
      <vt:lpstr>Office Theme</vt:lpstr>
      <vt:lpstr>DLSS: що це і як працює</vt:lpstr>
      <vt:lpstr>Що таке DLSS</vt:lpstr>
      <vt:lpstr>Як гра малює один кадр</vt:lpstr>
      <vt:lpstr>DLSS 2: апскейл, тобто домальовування пікселів</vt:lpstr>
      <vt:lpstr>Звідки беруться дані: зсув камери і історія кадрів</vt:lpstr>
      <vt:lpstr>Frame Generation: як з’являється проміжний кадр</vt:lpstr>
      <vt:lpstr>Multi Frame Generation: 2x, 4x, 6x</vt:lpstr>
      <vt:lpstr>DLSS 5: ШІ змінює освітлення і матеріали</vt:lpstr>
      <vt:lpstr>DLSS 5: нейромережа додає світло і матеріали</vt:lpstr>
      <vt:lpstr>DLSS 5: що змінює світло</vt:lpstr>
      <vt:lpstr>Ціна у FPS: NBA 2K27, RTX 5090</vt:lpstr>
      <vt:lpstr>Thank you for your attention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DLSS: що це і як працює</dc:title>
  <dc:subject/>
  <dc:creator/>
  <cp:lastModifiedBy>Andrii I</cp:lastModifiedBy>
  <cp:revision>3</cp:revision>
  <dcterms:created xsi:type="dcterms:W3CDTF">2026-10-15T12:51:26Z</dcterms:created>
  <dcterms:modified xsi:type="dcterms:W3CDTF">2026-10-15T20:24:54Z</dcterms:modified>
</cp:coreProperties>
</file>