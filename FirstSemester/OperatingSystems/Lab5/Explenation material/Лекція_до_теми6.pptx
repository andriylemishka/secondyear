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7"/>
  </p:notesMasterIdLst>
  <p:sldIdLst>
    <p:sldId id="256" r:id="rId2"/>
    <p:sldId id="287" r:id="rId3"/>
    <p:sldId id="288" r:id="rId4"/>
    <p:sldId id="403" r:id="rId5"/>
    <p:sldId id="257" r:id="rId6"/>
    <p:sldId id="389" r:id="rId7"/>
    <p:sldId id="390" r:id="rId8"/>
    <p:sldId id="391" r:id="rId9"/>
    <p:sldId id="295" r:id="rId10"/>
    <p:sldId id="299" r:id="rId11"/>
    <p:sldId id="300" r:id="rId12"/>
    <p:sldId id="301" r:id="rId13"/>
    <p:sldId id="424" r:id="rId14"/>
    <p:sldId id="425" r:id="rId15"/>
    <p:sldId id="303" r:id="rId16"/>
    <p:sldId id="367" r:id="rId17"/>
    <p:sldId id="368" r:id="rId18"/>
    <p:sldId id="381" r:id="rId19"/>
    <p:sldId id="372" r:id="rId20"/>
    <p:sldId id="370" r:id="rId21"/>
    <p:sldId id="378" r:id="rId22"/>
    <p:sldId id="377" r:id="rId23"/>
    <p:sldId id="380" r:id="rId24"/>
    <p:sldId id="382" r:id="rId25"/>
    <p:sldId id="384" r:id="rId26"/>
    <p:sldId id="385" r:id="rId27"/>
    <p:sldId id="386" r:id="rId28"/>
    <p:sldId id="388" r:id="rId29"/>
    <p:sldId id="286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3" r:id="rId43"/>
    <p:sldId id="274" r:id="rId44"/>
    <p:sldId id="275" r:id="rId45"/>
    <p:sldId id="276" r:id="rId46"/>
    <p:sldId id="404" r:id="rId47"/>
    <p:sldId id="392" r:id="rId48"/>
    <p:sldId id="277" r:id="rId49"/>
    <p:sldId id="423" r:id="rId50"/>
    <p:sldId id="405" r:id="rId51"/>
    <p:sldId id="406" r:id="rId52"/>
    <p:sldId id="407" r:id="rId53"/>
    <p:sldId id="408" r:id="rId54"/>
    <p:sldId id="409" r:id="rId55"/>
    <p:sldId id="410" r:id="rId56"/>
    <p:sldId id="411" r:id="rId57"/>
    <p:sldId id="412" r:id="rId58"/>
    <p:sldId id="413" r:id="rId59"/>
    <p:sldId id="414" r:id="rId60"/>
    <p:sldId id="415" r:id="rId61"/>
    <p:sldId id="416" r:id="rId62"/>
    <p:sldId id="417" r:id="rId63"/>
    <p:sldId id="418" r:id="rId64"/>
    <p:sldId id="419" r:id="rId65"/>
    <p:sldId id="420" r:id="rId66"/>
    <p:sldId id="421" r:id="rId67"/>
    <p:sldId id="393" r:id="rId68"/>
    <p:sldId id="398" r:id="rId69"/>
    <p:sldId id="399" r:id="rId70"/>
    <p:sldId id="400" r:id="rId71"/>
    <p:sldId id="395" r:id="rId72"/>
    <p:sldId id="401" r:id="rId73"/>
    <p:sldId id="394" r:id="rId74"/>
    <p:sldId id="396" r:id="rId75"/>
    <p:sldId id="422" r:id="rId76"/>
    <p:sldId id="426" r:id="rId77"/>
    <p:sldId id="427" r:id="rId78"/>
    <p:sldId id="428" r:id="rId79"/>
    <p:sldId id="429" r:id="rId80"/>
    <p:sldId id="430" r:id="rId81"/>
    <p:sldId id="431" r:id="rId82"/>
    <p:sldId id="432" r:id="rId83"/>
    <p:sldId id="433" r:id="rId84"/>
    <p:sldId id="434" r:id="rId85"/>
    <p:sldId id="366" r:id="rId86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4F27A-88FA-4129-9027-1865299F07EC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AC0FC-E7AC-4768-9FBB-E689D7E6078D}" type="slidenum">
              <a:rPr lang="en-US" smtClean="0"/>
              <a:pPr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3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709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9612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529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889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2965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1825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609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101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207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817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329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7AC9E-F082-4D9B-9A6D-667C5DEB09F1}" type="datetimeFigureOut">
              <a:rPr lang="uk-UA" smtClean="0"/>
              <a:pPr/>
              <a:t>12.10.2025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6CC3B-E777-4A11-8CD4-6EBB32ACF3C1}" type="slidenum">
              <a:rPr lang="uk-UA" smtClean="0"/>
              <a:pPr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627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Oleksandr.I.Belei@lpnu.u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techgenix.com/active-directory-insights-part10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hyperlink" Target="https://jumpcloud.com/blog/saml-vs-openid" TargetMode="External"/><Relationship Id="rId3" Type="http://schemas.openxmlformats.org/officeDocument/2006/relationships/hyperlink" Target="https://jumpcloud.com/blog/ad-ds" TargetMode="External"/><Relationship Id="rId7" Type="http://schemas.openxmlformats.org/officeDocument/2006/relationships/hyperlink" Target="https://jumpcloud.com/blog/oauth-what-is" TargetMode="External"/><Relationship Id="rId2" Type="http://schemas.openxmlformats.org/officeDocument/2006/relationships/hyperlink" Target="https://jumpcloud.com/blog/what-is-ia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umpcloud.com/blog/what-is-single-sign-on-sso" TargetMode="External"/><Relationship Id="rId5" Type="http://schemas.openxmlformats.org/officeDocument/2006/relationships/hyperlink" Target="https://jumpcloud.com/blog/what-is-adfs" TargetMode="External"/><Relationship Id="rId10" Type="http://schemas.openxmlformats.org/officeDocument/2006/relationships/hyperlink" Target="https://jumpcloud.com/blog/what-is-pki" TargetMode="External"/><Relationship Id="rId4" Type="http://schemas.openxmlformats.org/officeDocument/2006/relationships/hyperlink" Target="https://jumpcloud.com/blog/what-is-ldap" TargetMode="External"/><Relationship Id="rId9" Type="http://schemas.openxmlformats.org/officeDocument/2006/relationships/hyperlink" Target="https://jumpcloud.com/blog/what-is-saml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reeIPA" TargetMode="External"/><Relationship Id="rId2" Type="http://schemas.openxmlformats.org/officeDocument/2006/relationships/hyperlink" Target="https://en.wikipedia.org/wiki/Samba_(software)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jumpcloud.com/blog/mdm-mobile-device-management" TargetMode="External"/><Relationship Id="rId2" Type="http://schemas.openxmlformats.org/officeDocument/2006/relationships/hyperlink" Target="https://jumpcloud.com/platform/single-sign-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umpcloud.com/blog/domainless-enterprise-it-architecture" TargetMode="External"/><Relationship Id="rId4" Type="http://schemas.openxmlformats.org/officeDocument/2006/relationships/hyperlink" Target="https://jumpcloud.com/blog/better-alternative-active-directory" TargetMode="Externa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-server/administration/windowscommands/windows-commands" TargetMode="Externa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mailto:Oleksandr.I.Belei@lpnu.u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7808" y="2204864"/>
            <a:ext cx="7772400" cy="2115666"/>
          </a:xfrm>
        </p:spPr>
        <p:txBody>
          <a:bodyPr>
            <a:normAutofit/>
          </a:bodyPr>
          <a:lstStyle/>
          <a:p>
            <a:r>
              <a:rPr lang="uk-U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Робота з об'єктами </a:t>
            </a:r>
            <a:r>
              <a:rPr lang="uk-UA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Active</a:t>
            </a:r>
            <a:r>
              <a:rPr lang="uk-U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Directory</a:t>
            </a:r>
            <a:r>
              <a:rPr lang="uk-U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uk-U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Windows </a:t>
            </a:r>
            <a:r>
              <a:rPr lang="uk-U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3568" y="4941168"/>
            <a:ext cx="7992888" cy="1752600"/>
          </a:xfrm>
        </p:spPr>
        <p:txBody>
          <a:bodyPr/>
          <a:lstStyle/>
          <a:p>
            <a:r>
              <a:rPr lang="uk-UA" dirty="0" smtClean="0">
                <a:solidFill>
                  <a:schemeClr val="tx1"/>
                </a:solidFill>
              </a:rPr>
              <a:t>доцент, </a:t>
            </a:r>
            <a:r>
              <a:rPr lang="uk-UA" dirty="0" err="1" smtClean="0">
                <a:solidFill>
                  <a:schemeClr val="tx1"/>
                </a:solidFill>
              </a:rPr>
              <a:t>к.е.н</a:t>
            </a:r>
            <a:r>
              <a:rPr lang="uk-UA" dirty="0" smtClean="0">
                <a:solidFill>
                  <a:schemeClr val="tx1"/>
                </a:solidFill>
              </a:rPr>
              <a:t>. </a:t>
            </a:r>
            <a:r>
              <a:rPr lang="uk-UA" dirty="0" err="1" smtClean="0">
                <a:solidFill>
                  <a:schemeClr val="tx1"/>
                </a:solidFill>
              </a:rPr>
              <a:t>Белей</a:t>
            </a:r>
            <a:r>
              <a:rPr lang="uk-UA" dirty="0" smtClean="0">
                <a:solidFill>
                  <a:schemeClr val="tx1"/>
                </a:solidFill>
              </a:rPr>
              <a:t> Олександр Ігорович</a:t>
            </a:r>
          </a:p>
          <a:p>
            <a:r>
              <a:rPr lang="en-US" dirty="0" smtClean="0">
                <a:solidFill>
                  <a:schemeClr val="tx1"/>
                </a:solidFill>
                <a:hlinkClick r:id="rId2"/>
              </a:rPr>
              <a:t>Oleksandr.I.Belei@lpnu.ua</a:t>
            </a:r>
            <a:r>
              <a:rPr lang="en-US" dirty="0" smtClean="0">
                <a:solidFill>
                  <a:schemeClr val="tx1"/>
                </a:solidFill>
              </a:rPr>
              <a:t>,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+38(067)3378560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323528" y="116632"/>
            <a:ext cx="8640960" cy="151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i="1" dirty="0" smtClean="0"/>
              <a:t>2</a:t>
            </a:r>
            <a:r>
              <a:rPr lang="uk-UA" sz="3200" i="1" dirty="0" smtClean="0"/>
              <a:t> блок дисципліни «Операційні системи»</a:t>
            </a:r>
          </a:p>
          <a:p>
            <a:r>
              <a:rPr lang="uk-UA" sz="3200" i="1" dirty="0" smtClean="0"/>
              <a:t>«Особливості серверних операційних систем»</a:t>
            </a:r>
            <a:endParaRPr lang="uk-UA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88640"/>
            <a:ext cx="8892480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b="1" dirty="0" smtClean="0"/>
              <a:t>Ядром </a:t>
            </a:r>
            <a:r>
              <a:rPr lang="en-US" b="1" dirty="0"/>
              <a:t>Windows </a:t>
            </a:r>
            <a:r>
              <a:rPr lang="en-US" b="1" dirty="0" smtClean="0"/>
              <a:t>Server </a:t>
            </a:r>
            <a:r>
              <a:rPr lang="en-US" dirty="0"/>
              <a:t>(Network Operating System - </a:t>
            </a:r>
            <a:r>
              <a:rPr lang="uk-UA" dirty="0"/>
              <a:t>мережева операційна система) є </a:t>
            </a:r>
            <a:r>
              <a:rPr lang="uk-UA" b="1" dirty="0"/>
              <a:t>база даних </a:t>
            </a:r>
            <a:r>
              <a:rPr lang="en-US" b="1" dirty="0"/>
              <a:t>SAM</a:t>
            </a:r>
            <a:r>
              <a:rPr lang="en-US" dirty="0"/>
              <a:t> (Security Accounts Management - </a:t>
            </a:r>
            <a:r>
              <a:rPr lang="uk-UA" dirty="0"/>
              <a:t>керування безпечними обліковими записами). Вона представляє центральну базу даних облікових записів, що включає всі облікові записи користувачів і груп в домені. Ці облікові записи використовуються для керування доступом до спільних ресурсів, що належать будь-якому серверу в домені </a:t>
            </a:r>
            <a:r>
              <a:rPr lang="en-US" dirty="0"/>
              <a:t>Windows </a:t>
            </a:r>
            <a:r>
              <a:rPr lang="en-US" dirty="0"/>
              <a:t>Server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78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" y="5445224"/>
            <a:ext cx="8229600" cy="934461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Доменні моделі ОС </a:t>
            </a:r>
            <a:r>
              <a:rPr lang="en-US" dirty="0"/>
              <a:t>Windows </a:t>
            </a:r>
            <a:r>
              <a:rPr lang="en-US" dirty="0"/>
              <a:t>Server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1298"/>
            <a:ext cx="8784976" cy="5100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118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u="sng" dirty="0"/>
              <a:t>Базові налаштування </a:t>
            </a:r>
            <a:r>
              <a:rPr lang="en-GB" u="sng" dirty="0"/>
              <a:t>Windows Server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96752"/>
            <a:ext cx="7455869" cy="55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7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579296" cy="61261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Microsoft Active Directory (AD) </a:t>
            </a:r>
            <a:r>
              <a:rPr lang="en-GB" dirty="0"/>
              <a:t>– </a:t>
            </a:r>
            <a:r>
              <a:rPr lang="uk-UA" dirty="0"/>
              <a:t>це основний компонент операційної системи сервера. Це каталог (база даних) і набір служб, що дозволяють безпечно отримувати доступ до ресурсів у мережевому середовищі </a:t>
            </a:r>
            <a:r>
              <a:rPr lang="en-GB" dirty="0"/>
              <a:t>Windows. </a:t>
            </a:r>
            <a:r>
              <a:rPr lang="uk-UA" dirty="0"/>
              <a:t>Інші типи середовищ мають різні служби </a:t>
            </a:r>
            <a:r>
              <a:rPr lang="uk-UA" dirty="0" smtClean="0"/>
              <a:t>каталогів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Active </a:t>
            </a:r>
            <a:r>
              <a:rPr lang="en-US" b="1" dirty="0"/>
              <a:t>Directory (AD) </a:t>
            </a:r>
            <a:r>
              <a:rPr lang="uk-UA" b="1" dirty="0"/>
              <a:t>має ієрархічну структуру</a:t>
            </a:r>
            <a:r>
              <a:rPr lang="uk-UA" dirty="0"/>
              <a:t>, що складається з об'єктів. Об'єкти поділяються на три основні категорії:</a:t>
            </a:r>
          </a:p>
          <a:p>
            <a:r>
              <a:rPr lang="uk-UA" dirty="0"/>
              <a:t>ресурси (наприклад, принтери);</a:t>
            </a:r>
          </a:p>
          <a:p>
            <a:r>
              <a:rPr lang="uk-UA" dirty="0"/>
              <a:t>служби (наприклад, електронна пошта);</a:t>
            </a:r>
          </a:p>
          <a:p>
            <a:r>
              <a:rPr lang="uk-UA" dirty="0"/>
              <a:t>люди (облікові записи користувачів і груп користувачів).</a:t>
            </a:r>
          </a:p>
          <a:p>
            <a:pPr marL="0" indent="0">
              <a:buNone/>
            </a:pPr>
            <a:r>
              <a:rPr lang="en-US" dirty="0"/>
              <a:t>Active Directory </a:t>
            </a:r>
            <a:r>
              <a:rPr lang="uk-UA" dirty="0"/>
              <a:t>виконує наступні функції:</a:t>
            </a:r>
          </a:p>
          <a:p>
            <a:r>
              <a:rPr lang="uk-UA" dirty="0"/>
              <a:t>надає інформацію про об'єкти;</a:t>
            </a:r>
          </a:p>
          <a:p>
            <a:r>
              <a:rPr lang="uk-UA" dirty="0"/>
              <a:t>дозволяє організовувати об'єкти;</a:t>
            </a:r>
          </a:p>
          <a:p>
            <a:r>
              <a:rPr lang="uk-UA" dirty="0"/>
              <a:t>дозволяє керувати доступом до об'єктів;</a:t>
            </a:r>
          </a:p>
          <a:p>
            <a:r>
              <a:rPr lang="uk-UA" dirty="0"/>
              <a:t>встановлює правила безпеки.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579296" cy="6126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uk-UA" b="1" dirty="0"/>
              <a:t>Переваги </a:t>
            </a:r>
            <a:r>
              <a:rPr lang="en-GB" b="1" dirty="0"/>
              <a:t>Active Directory</a:t>
            </a:r>
          </a:p>
          <a:p>
            <a:pPr marL="0" indent="0">
              <a:buNone/>
            </a:pPr>
            <a:r>
              <a:rPr lang="en-GB" dirty="0"/>
              <a:t>Active Directory </a:t>
            </a:r>
            <a:r>
              <a:rPr lang="uk-UA" dirty="0"/>
              <a:t>пропонує широкий спектр переваг для організацій будь-якого розміру, тому це є головним компонентом багатьох ІТ-</a:t>
            </a:r>
            <a:r>
              <a:rPr lang="uk-UA" dirty="0" err="1"/>
              <a:t>інфраструктур</a:t>
            </a:r>
            <a:r>
              <a:rPr lang="uk-UA" dirty="0"/>
              <a:t>. Нижче наведено деякі ключові переваги використання </a:t>
            </a:r>
            <a:r>
              <a:rPr lang="en-GB" dirty="0"/>
              <a:t>Active Directory:</a:t>
            </a:r>
          </a:p>
          <a:p>
            <a:pPr marL="0" indent="0">
              <a:buNone/>
            </a:pPr>
            <a:r>
              <a:rPr lang="uk-UA" b="1" dirty="0"/>
              <a:t>Централізовані служби автентифікації та авторизації: </a:t>
            </a:r>
            <a:r>
              <a:rPr lang="uk-UA" dirty="0"/>
              <a:t>дозволяють користувачам входити в мережу та отримувати доступ до ресурсів, наданих їм адміністраторами.</a:t>
            </a:r>
          </a:p>
          <a:p>
            <a:pPr marL="0" indent="0">
              <a:buNone/>
            </a:pPr>
            <a:r>
              <a:rPr lang="uk-UA" b="1" dirty="0"/>
              <a:t>Підтримка єдиного входу (</a:t>
            </a:r>
            <a:r>
              <a:rPr lang="en-GB" b="1" dirty="0"/>
              <a:t>SSO): </a:t>
            </a:r>
            <a:r>
              <a:rPr lang="uk-UA" dirty="0"/>
              <a:t>дозволяє користувачам отримувати доступ до кількох ресурсів у мережі без необхідності входу в кожен ресурс окремо.</a:t>
            </a:r>
          </a:p>
          <a:p>
            <a:pPr marL="0" indent="0">
              <a:buNone/>
            </a:pPr>
            <a:r>
              <a:rPr lang="uk-UA" b="1" dirty="0"/>
              <a:t>Групова політика (</a:t>
            </a:r>
            <a:r>
              <a:rPr lang="en-GB" b="1" dirty="0"/>
              <a:t>Group Policy): </a:t>
            </a:r>
            <a:r>
              <a:rPr lang="uk-UA" dirty="0"/>
              <a:t>дозволяє адміністраторам визначати та застосовувати параметри безпеки, налаштувань та політики для кількох комп’ютерів і користувачів у мережі.</a:t>
            </a:r>
          </a:p>
          <a:p>
            <a:pPr marL="0" indent="0">
              <a:buNone/>
            </a:pPr>
            <a:r>
              <a:rPr lang="uk-UA" b="1" dirty="0"/>
              <a:t>Централізоване управління мережевими ресурсами: </a:t>
            </a:r>
            <a:r>
              <a:rPr lang="uk-UA" dirty="0"/>
              <a:t>такими як користувачі, групи, комп’ютери, принтери та мережеві пристрої.</a:t>
            </a:r>
          </a:p>
          <a:p>
            <a:pPr marL="0" indent="0">
              <a:buNone/>
            </a:pPr>
            <a:r>
              <a:rPr lang="uk-UA" b="1" dirty="0"/>
              <a:t>Захисні функції:</a:t>
            </a:r>
            <a:r>
              <a:rPr lang="uk-UA" dirty="0"/>
              <a:t> такі як шифрування, контроль доступу та аудит для захисту конфіденційної інформації.</a:t>
            </a:r>
          </a:p>
          <a:p>
            <a:pPr marL="0" indent="0">
              <a:buNone/>
            </a:pPr>
            <a:r>
              <a:rPr lang="uk-UA" b="1" dirty="0"/>
              <a:t>Масштабованість:</a:t>
            </a:r>
            <a:r>
              <a:rPr lang="uk-UA" dirty="0"/>
              <a:t> підтримує тисячі або навіть мільйони користувачів, комп’ютерів, груп та інших об’єктів в одному каталозі.</a:t>
            </a:r>
          </a:p>
          <a:p>
            <a:pPr marL="0" indent="0">
              <a:buNone/>
            </a:pPr>
            <a:r>
              <a:rPr lang="uk-UA" b="1" dirty="0"/>
              <a:t>Інтеграція з іншими продуктами та сервісами </a:t>
            </a:r>
            <a:r>
              <a:rPr lang="en-GB" b="1" dirty="0"/>
              <a:t>Microsoft:</a:t>
            </a:r>
            <a:r>
              <a:rPr lang="en-GB" dirty="0"/>
              <a:t> </a:t>
            </a:r>
            <a:r>
              <a:rPr lang="uk-UA" dirty="0"/>
              <a:t>такими як </a:t>
            </a:r>
            <a:r>
              <a:rPr lang="en-GB" dirty="0"/>
              <a:t>Microsoft Exchange Server, SharePoint, Microsoft 365 </a:t>
            </a:r>
            <a:r>
              <a:rPr lang="uk-UA" dirty="0"/>
              <a:t>та </a:t>
            </a:r>
            <a:r>
              <a:rPr lang="en-GB" dirty="0"/>
              <a:t>Azure.</a:t>
            </a:r>
          </a:p>
        </p:txBody>
      </p:sp>
    </p:spTree>
    <p:extLst>
      <p:ext uri="{BB962C8B-B14F-4D97-AF65-F5344CB8AC3E}">
        <p14:creationId xmlns:p14="http://schemas.microsoft.com/office/powerpoint/2010/main" val="27387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579296" cy="6126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uk-UA" dirty="0"/>
              <a:t>Служби, які надає або підтримує </a:t>
            </a:r>
            <a:r>
              <a:rPr lang="en-GB" dirty="0"/>
              <a:t>AD, </a:t>
            </a:r>
            <a:r>
              <a:rPr lang="uk-UA" dirty="0"/>
              <a:t>включають:</a:t>
            </a:r>
          </a:p>
          <a:p>
            <a:pPr marL="0" indent="0">
              <a:buNone/>
            </a:pPr>
            <a:r>
              <a:rPr lang="uk-UA" b="1" dirty="0"/>
              <a:t>Автентифікація:</a:t>
            </a:r>
            <a:r>
              <a:rPr lang="uk-UA" dirty="0"/>
              <a:t> процес перевірки того, що користувачі є тими, за кого вони себе видають.</a:t>
            </a:r>
          </a:p>
          <a:p>
            <a:pPr marL="0" indent="0">
              <a:buNone/>
            </a:pPr>
            <a:r>
              <a:rPr lang="uk-UA" b="1" dirty="0"/>
              <a:t>Авторизація: </a:t>
            </a:r>
            <a:r>
              <a:rPr lang="uk-UA" dirty="0"/>
              <a:t>процес визначення, чи дозволити користувачеві доступ до запитуваних ресурсів на основі їхніх ролей та членства в групах безпеки.</a:t>
            </a:r>
          </a:p>
          <a:p>
            <a:pPr marL="0" indent="0">
              <a:buNone/>
            </a:pPr>
            <a:r>
              <a:rPr lang="uk-UA" b="1" dirty="0"/>
              <a:t>Управління ресурсами:</a:t>
            </a:r>
            <a:r>
              <a:rPr lang="uk-UA" dirty="0"/>
              <a:t> центральне сховище для управління мережевими ресурсами, такими як комп’ютери, сервери, принтери та мережеві пристрої.</a:t>
            </a:r>
          </a:p>
          <a:p>
            <a:pPr marL="0" indent="0">
              <a:buNone/>
            </a:pPr>
            <a:r>
              <a:rPr lang="uk-UA" b="1" dirty="0"/>
              <a:t>Групова політика (</a:t>
            </a:r>
            <a:r>
              <a:rPr lang="en-GB" b="1" dirty="0"/>
              <a:t>Group Policy):</a:t>
            </a:r>
            <a:r>
              <a:rPr lang="en-GB" dirty="0"/>
              <a:t> </a:t>
            </a:r>
            <a:r>
              <a:rPr lang="uk-UA" dirty="0"/>
              <a:t>забезпечує визначення та впровадження політик безпеки і налаштувань.</a:t>
            </a:r>
          </a:p>
          <a:p>
            <a:pPr marL="0" indent="0">
              <a:buNone/>
            </a:pPr>
            <a:r>
              <a:rPr lang="uk-UA" b="1" dirty="0"/>
              <a:t>Служби каталогу:</a:t>
            </a:r>
            <a:r>
              <a:rPr lang="uk-UA" dirty="0"/>
              <a:t> зберігають інформацію про мережеві об’єкти, такі як користувачі, групи, комп’ютери та принтери.</a:t>
            </a:r>
          </a:p>
          <a:p>
            <a:pPr marL="0" indent="0">
              <a:buNone/>
            </a:pPr>
            <a:r>
              <a:rPr lang="en-GB" b="1" dirty="0"/>
              <a:t>LDAP:</a:t>
            </a:r>
            <a:r>
              <a:rPr lang="en-GB" dirty="0"/>
              <a:t> </a:t>
            </a:r>
            <a:r>
              <a:rPr lang="uk-UA" dirty="0"/>
              <a:t>підтримка протоколу </a:t>
            </a:r>
            <a:r>
              <a:rPr lang="en-GB" dirty="0"/>
              <a:t>Lightweight Directory Access Protocol </a:t>
            </a:r>
            <a:r>
              <a:rPr lang="uk-UA" dirty="0"/>
              <a:t>для стандартного доступу до даних каталогу.</a:t>
            </a:r>
          </a:p>
          <a:p>
            <a:pPr marL="0" indent="0">
              <a:buNone/>
            </a:pPr>
            <a:r>
              <a:rPr lang="en-GB" b="1" dirty="0"/>
              <a:t>DNS: </a:t>
            </a:r>
            <a:r>
              <a:rPr lang="uk-UA" dirty="0"/>
              <a:t>інтеграція з системою доменних імен для надання послуг розпізнавання імен у мережі.</a:t>
            </a:r>
          </a:p>
          <a:p>
            <a:pPr marL="0" indent="0">
              <a:buNone/>
            </a:pPr>
            <a:r>
              <a:rPr lang="uk-UA" b="1" dirty="0"/>
              <a:t>Довірливі відносини: </a:t>
            </a:r>
            <a:r>
              <a:rPr lang="uk-UA" dirty="0"/>
              <a:t>підтримка довірчих відносин між доменами для доступу до ресурсів у різних доменах.</a:t>
            </a:r>
          </a:p>
          <a:p>
            <a:pPr marL="0" indent="0">
              <a:buNone/>
            </a:pPr>
            <a:r>
              <a:rPr lang="uk-UA" b="1" dirty="0"/>
              <a:t>Реплікація:</a:t>
            </a:r>
            <a:r>
              <a:rPr lang="uk-UA" dirty="0"/>
              <a:t> забезпечення синхронізації даних каталогу між усіма контролерами домену.</a:t>
            </a:r>
          </a:p>
        </p:txBody>
      </p:sp>
    </p:spTree>
    <p:extLst>
      <p:ext uri="{BB962C8B-B14F-4D97-AF65-F5344CB8AC3E}">
        <p14:creationId xmlns:p14="http://schemas.microsoft.com/office/powerpoint/2010/main" val="3837346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87213"/>
            <a:ext cx="8579296" cy="6126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uk-UA" b="1" dirty="0"/>
              <a:t>Структура </a:t>
            </a:r>
            <a:r>
              <a:rPr lang="en-GB" b="1" dirty="0"/>
              <a:t>Active Directory</a:t>
            </a:r>
          </a:p>
          <a:p>
            <a:pPr marL="0" indent="0">
              <a:buNone/>
            </a:pPr>
            <a:r>
              <a:rPr lang="en-GB" dirty="0"/>
              <a:t>Active Directory </a:t>
            </a:r>
            <a:r>
              <a:rPr lang="uk-UA" dirty="0"/>
              <a:t>має ієрархічну структуру з такими компонентами:</a:t>
            </a:r>
          </a:p>
          <a:p>
            <a:pPr marL="0" indent="0">
              <a:buNone/>
            </a:pPr>
            <a:r>
              <a:rPr lang="en-GB" b="1" dirty="0"/>
              <a:t>Forest (</a:t>
            </a:r>
            <a:r>
              <a:rPr lang="uk-UA" b="1" dirty="0"/>
              <a:t>Ліс):</a:t>
            </a:r>
            <a:r>
              <a:rPr lang="uk-UA" dirty="0"/>
              <a:t> контейнер верхнього рівня в </a:t>
            </a:r>
            <a:r>
              <a:rPr lang="en-GB" dirty="0"/>
              <a:t>Active Directory </a:t>
            </a:r>
            <a:r>
              <a:rPr lang="uk-UA" dirty="0"/>
              <a:t>та межа безпеки, що містить один або більше доменів.</a:t>
            </a:r>
          </a:p>
          <a:p>
            <a:pPr marL="0" indent="0">
              <a:buNone/>
            </a:pPr>
            <a:r>
              <a:rPr lang="en-GB" b="1" dirty="0"/>
              <a:t>Tree (</a:t>
            </a:r>
            <a:r>
              <a:rPr lang="uk-UA" b="1" dirty="0"/>
              <a:t>Дерево): </a:t>
            </a:r>
            <a:r>
              <a:rPr lang="uk-UA" dirty="0"/>
              <a:t>ієрархічна структура в межах лісу, що складається з одного або більше доменів.</a:t>
            </a:r>
          </a:p>
          <a:p>
            <a:pPr marL="0" indent="0">
              <a:buNone/>
            </a:pPr>
            <a:r>
              <a:rPr lang="en-GB" b="1" dirty="0"/>
              <a:t>Domain (</a:t>
            </a:r>
            <a:r>
              <a:rPr lang="uk-UA" b="1" dirty="0"/>
              <a:t>Домен):</a:t>
            </a:r>
            <a:r>
              <a:rPr lang="uk-UA" dirty="0"/>
              <a:t> група користувачів, комп’ютерів та інших об’єктів, які зберігаються в одній базі даних </a:t>
            </a:r>
            <a:r>
              <a:rPr lang="en-GB" dirty="0"/>
              <a:t>Active Directory.</a:t>
            </a:r>
          </a:p>
          <a:p>
            <a:pPr marL="0" indent="0">
              <a:buNone/>
            </a:pPr>
            <a:r>
              <a:rPr lang="en-GB" b="1" dirty="0"/>
              <a:t>OU (</a:t>
            </a:r>
            <a:r>
              <a:rPr lang="uk-UA" b="1" dirty="0"/>
              <a:t>Організаційний підрозділ):</a:t>
            </a:r>
            <a:r>
              <a:rPr lang="uk-UA" dirty="0"/>
              <a:t> контейнери в домені для організації та управління підмножинами об’єктів </a:t>
            </a:r>
            <a:r>
              <a:rPr lang="en-GB" dirty="0"/>
              <a:t>AD.</a:t>
            </a:r>
          </a:p>
          <a:p>
            <a:pPr marL="0" indent="0">
              <a:buNone/>
            </a:pPr>
            <a:r>
              <a:rPr lang="en-GB" b="1" dirty="0"/>
              <a:t>AD object (</a:t>
            </a:r>
            <a:r>
              <a:rPr lang="uk-UA" b="1" dirty="0"/>
              <a:t>Об’єкт </a:t>
            </a:r>
            <a:r>
              <a:rPr lang="en-GB" b="1" dirty="0"/>
              <a:t>AD):</a:t>
            </a:r>
            <a:r>
              <a:rPr lang="en-GB" dirty="0"/>
              <a:t> </a:t>
            </a:r>
            <a:r>
              <a:rPr lang="uk-UA" dirty="0"/>
              <a:t>об’єкти </a:t>
            </a:r>
            <a:r>
              <a:rPr lang="en-GB" dirty="0"/>
              <a:t>Active Directory, </a:t>
            </a:r>
            <a:r>
              <a:rPr lang="uk-UA" dirty="0"/>
              <a:t>включаючи облікові записи користувачів, комп’ютерів та групи безпеки.</a:t>
            </a:r>
          </a:p>
          <a:p>
            <a:pPr marL="0" indent="0">
              <a:buNone/>
            </a:pPr>
            <a:r>
              <a:rPr lang="uk-UA" b="1" dirty="0"/>
              <a:t>Контролери домену </a:t>
            </a:r>
            <a:r>
              <a:rPr lang="en-GB" b="1" dirty="0"/>
              <a:t>Active Directory</a:t>
            </a:r>
          </a:p>
          <a:p>
            <a:pPr marL="0" indent="0">
              <a:buNone/>
            </a:pPr>
            <a:r>
              <a:rPr lang="uk-UA" dirty="0"/>
              <a:t>Кожен домен має один або більше контролерів домену (</a:t>
            </a:r>
            <a:r>
              <a:rPr lang="en-GB" dirty="0"/>
              <a:t>DC), </a:t>
            </a:r>
            <a:r>
              <a:rPr lang="uk-UA" dirty="0"/>
              <a:t>які зберігають базу даних </a:t>
            </a:r>
            <a:r>
              <a:rPr lang="en-GB" dirty="0"/>
              <a:t>Active Directory </a:t>
            </a:r>
            <a:r>
              <a:rPr lang="uk-UA" dirty="0"/>
              <a:t>і забезпечують автентифікацію та авторизацію. У разі наявності декількох контролерів домену, зміни в базі даних </a:t>
            </a:r>
            <a:r>
              <a:rPr lang="en-GB" dirty="0"/>
              <a:t>AD </a:t>
            </a:r>
            <a:r>
              <a:rPr lang="uk-UA" dirty="0"/>
              <a:t>на одному контролері </a:t>
            </a:r>
            <a:r>
              <a:rPr lang="uk-UA" dirty="0" err="1"/>
              <a:t>реплікуються</a:t>
            </a:r>
            <a:r>
              <a:rPr lang="uk-UA" dirty="0"/>
              <a:t> на інші, що забезпечує </a:t>
            </a:r>
            <a:r>
              <a:rPr lang="uk-UA" dirty="0" err="1"/>
              <a:t>відмовостійкість</a:t>
            </a:r>
            <a:r>
              <a:rPr lang="uk-U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2750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01" y="4797152"/>
            <a:ext cx="8229600" cy="96897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uk-UA" dirty="0"/>
              <a:t>Відносини між доменами, підрозділами, деревами і лісами </a:t>
            </a:r>
            <a:r>
              <a:rPr lang="en-US" dirty="0"/>
              <a:t>Active Directory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98" y="2060848"/>
            <a:ext cx="9201198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085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5775731"/>
            <a:ext cx="8229600" cy="854488"/>
          </a:xfrm>
        </p:spPr>
        <p:txBody>
          <a:bodyPr/>
          <a:lstStyle/>
          <a:p>
            <a:pPr marL="0" indent="0" algn="ctr">
              <a:buNone/>
            </a:pPr>
            <a:r>
              <a:rPr lang="uk-UA" dirty="0"/>
              <a:t>Дерево доменів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2462"/>
            <a:ext cx="7200800" cy="4873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4002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0"/>
            <a:ext cx="8589640" cy="6702227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uk-UA" b="1" dirty="0"/>
              <a:t>Ліс</a:t>
            </a:r>
          </a:p>
          <a:p>
            <a:pPr marL="0" indent="0">
              <a:buNone/>
            </a:pPr>
            <a:r>
              <a:rPr lang="uk-UA" dirty="0"/>
              <a:t>Лісом (</a:t>
            </a:r>
            <a:r>
              <a:rPr lang="en-US" dirty="0"/>
              <a:t>forest) </a:t>
            </a:r>
            <a:r>
              <a:rPr lang="uk-UA" dirty="0"/>
              <a:t>називається </a:t>
            </a:r>
            <a:r>
              <a:rPr lang="uk-UA" dirty="0" smtClean="0"/>
              <a:t>сукупність у вигляді ієрархічної системи, </a:t>
            </a:r>
            <a:r>
              <a:rPr lang="uk-UA" dirty="0"/>
              <a:t>що складається з одного або декількох повністю незалежних один від одного дерев доменів. </a:t>
            </a:r>
          </a:p>
          <a:p>
            <a:pPr marL="0" indent="0">
              <a:buNone/>
            </a:pPr>
            <a:r>
              <a:rPr lang="uk-UA" dirty="0"/>
              <a:t>Нижче перераховані загальні характеристики </a:t>
            </a:r>
            <a:r>
              <a:rPr lang="uk-UA" dirty="0" smtClean="0"/>
              <a:t>лісів: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•	Всі домени в складі лісу побудовані на основі загальної схеми.</a:t>
            </a:r>
          </a:p>
          <a:p>
            <a:pPr marL="0" indent="0">
              <a:buNone/>
            </a:pPr>
            <a:r>
              <a:rPr lang="uk-UA" dirty="0"/>
              <a:t>•	Всі домени лісу зв'язані неявними двосторонніми транзитивними довірчими відносинами.</a:t>
            </a:r>
          </a:p>
          <a:p>
            <a:pPr marL="0" indent="0">
              <a:buNone/>
            </a:pPr>
            <a:r>
              <a:rPr lang="uk-UA" dirty="0"/>
              <a:t>•	Структури імен дерев лісу різняться </a:t>
            </a:r>
            <a:r>
              <a:rPr lang="uk-UA" dirty="0" smtClean="0"/>
              <a:t>у</a:t>
            </a:r>
            <a:r>
              <a:rPr lang="en-US" dirty="0" smtClean="0"/>
              <a:t> </a:t>
            </a:r>
            <a:r>
              <a:rPr lang="uk-UA" dirty="0"/>
              <a:t>відповідності з доменами.</a:t>
            </a:r>
          </a:p>
          <a:p>
            <a:pPr marL="0" indent="0">
              <a:buNone/>
            </a:pPr>
            <a:r>
              <a:rPr lang="uk-UA" dirty="0"/>
              <a:t>•	Домени в складі лісу функціонують незалежно один від одного, але в той же час ліс забезпечує шляхи інформаційного обміну в масштабі всієї організації.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82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229200"/>
            <a:ext cx="9036496" cy="648072"/>
          </a:xfrm>
        </p:spPr>
        <p:txBody>
          <a:bodyPr/>
          <a:lstStyle/>
          <a:p>
            <a:pPr marL="0" indent="0" algn="ctr">
              <a:buNone/>
            </a:pPr>
            <a:r>
              <a:rPr lang="uk-UA" dirty="0"/>
              <a:t>Ліс дерев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53158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7510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229200"/>
            <a:ext cx="9036496" cy="6480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uk-UA" b="1" dirty="0" err="1"/>
              <a:t>Deploying</a:t>
            </a:r>
            <a:r>
              <a:rPr lang="uk-UA" b="1" dirty="0"/>
              <a:t> a Windows Server 2008 </a:t>
            </a:r>
            <a:r>
              <a:rPr lang="uk-UA" b="1" dirty="0" err="1"/>
              <a:t>forest</a:t>
            </a:r>
            <a:r>
              <a:rPr lang="uk-UA" b="1" dirty="0"/>
              <a:t> </a:t>
            </a:r>
            <a:r>
              <a:rPr lang="uk-UA" b="1" dirty="0" err="1"/>
              <a:t>root</a:t>
            </a:r>
            <a:r>
              <a:rPr lang="uk-UA" b="1" dirty="0"/>
              <a:t> </a:t>
            </a:r>
            <a:r>
              <a:rPr lang="uk-UA" b="1" dirty="0" err="1"/>
              <a:t>domain</a:t>
            </a:r>
            <a:endParaRPr lang="uk-UA" b="1" dirty="0"/>
          </a:p>
        </p:txBody>
      </p:sp>
      <p:pic>
        <p:nvPicPr>
          <p:cNvPr id="4" name="Рисунок 3" descr="Illustration that shows the overall process of deploying a forest root domain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620" y="757446"/>
            <a:ext cx="2410564" cy="41837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319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949280"/>
            <a:ext cx="9036496" cy="648072"/>
          </a:xfrm>
        </p:spPr>
        <p:txBody>
          <a:bodyPr>
            <a:normAutofit/>
          </a:bodyPr>
          <a:lstStyle/>
          <a:p>
            <a:r>
              <a:rPr lang="uk-UA" b="1" dirty="0" err="1"/>
              <a:t>Deploying</a:t>
            </a:r>
            <a:r>
              <a:rPr lang="uk-UA" b="1" dirty="0"/>
              <a:t> Windows Server 2008 </a:t>
            </a:r>
            <a:r>
              <a:rPr lang="uk-UA" b="1" dirty="0" err="1"/>
              <a:t>regional</a:t>
            </a:r>
            <a:r>
              <a:rPr lang="uk-UA" b="1" dirty="0"/>
              <a:t> </a:t>
            </a:r>
            <a:r>
              <a:rPr lang="uk-UA" b="1" dirty="0" err="1"/>
              <a:t>domains</a:t>
            </a:r>
            <a:endParaRPr lang="uk-UA" b="1" dirty="0"/>
          </a:p>
        </p:txBody>
      </p:sp>
      <p:pic>
        <p:nvPicPr>
          <p:cNvPr id="5" name="Рисунок 4" descr="AD DS requirements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830" y="404664"/>
            <a:ext cx="2275314" cy="51998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6172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uk-UA" dirty="0"/>
              <a:t>Будь-який сайт служить цілям фізичної організації комп'ютерів і оптимізації мережевого </a:t>
            </a:r>
            <a:r>
              <a:rPr lang="uk-UA" dirty="0" smtClean="0"/>
              <a:t>трафіку. </a:t>
            </a:r>
            <a:r>
              <a:rPr lang="uk-UA" dirty="0"/>
              <a:t>Сайти дозволяють обмежити область перевірки </a:t>
            </a:r>
            <a:r>
              <a:rPr lang="uk-UA" dirty="0" smtClean="0"/>
              <a:t>справжності </a:t>
            </a:r>
            <a:r>
              <a:rPr lang="uk-UA" dirty="0"/>
              <a:t>і трафік реплікації локальними пристроями. Оскільки мережевий трафік при цьому не пропускається через повільні канали глобальної мережі (</a:t>
            </a:r>
            <a:r>
              <a:rPr lang="en-US" dirty="0"/>
              <a:t>WAN), </a:t>
            </a:r>
            <a:r>
              <a:rPr lang="uk-UA" dirty="0"/>
              <a:t>навантаження на неї також знижується. </a:t>
            </a:r>
          </a:p>
          <a:p>
            <a:pPr marL="0" indent="0">
              <a:buNone/>
            </a:pPr>
            <a:r>
              <a:rPr lang="uk-UA" dirty="0"/>
              <a:t>Існує </a:t>
            </a:r>
            <a:r>
              <a:rPr lang="uk-UA" b="1" dirty="0"/>
              <a:t>дві основні ролі </a:t>
            </a:r>
            <a:r>
              <a:rPr lang="uk-UA" dirty="0"/>
              <a:t>для </a:t>
            </a:r>
            <a:r>
              <a:rPr lang="uk-UA" dirty="0" err="1"/>
              <a:t>сайта</a:t>
            </a:r>
            <a:r>
              <a:rPr lang="uk-UA" dirty="0"/>
              <a:t>:</a:t>
            </a:r>
          </a:p>
          <a:p>
            <a:pPr marL="0" indent="0">
              <a:buNone/>
            </a:pPr>
            <a:r>
              <a:rPr lang="uk-UA" dirty="0"/>
              <a:t>•	спрощення перевірки </a:t>
            </a:r>
            <a:r>
              <a:rPr lang="uk-UA" dirty="0" smtClean="0"/>
              <a:t>справжності </a:t>
            </a:r>
            <a:r>
              <a:rPr lang="uk-UA" dirty="0"/>
              <a:t>користувачів робочих станцій  шляхом пошуку найближчого контролера;</a:t>
            </a:r>
          </a:p>
          <a:p>
            <a:pPr marL="0" indent="0">
              <a:buNone/>
            </a:pPr>
            <a:r>
              <a:rPr lang="uk-UA" dirty="0"/>
              <a:t>•	спрощення </a:t>
            </a:r>
            <a:r>
              <a:rPr lang="uk-UA" dirty="0" err="1"/>
              <a:t>міжсайтової</a:t>
            </a:r>
            <a:r>
              <a:rPr lang="uk-UA" dirty="0"/>
              <a:t> реплікації даних.</a:t>
            </a:r>
          </a:p>
          <a:p>
            <a:pPr marL="0" indent="0">
              <a:buNone/>
            </a:pPr>
            <a:r>
              <a:rPr lang="uk-UA" dirty="0"/>
              <a:t>Оскільки імена сайтів вносяться службою виявлення доменів в систему доменних імен (</a:t>
            </a:r>
            <a:r>
              <a:rPr lang="en-US" dirty="0"/>
              <a:t>Domain Name System, DNS), </a:t>
            </a:r>
            <a:r>
              <a:rPr lang="uk-UA" dirty="0"/>
              <a:t>вони повинні бути коректними іменами </a:t>
            </a:r>
            <a:r>
              <a:rPr lang="en-US" dirty="0"/>
              <a:t>DNS.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097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348880"/>
            <a:ext cx="8229600" cy="1143000"/>
          </a:xfrm>
        </p:spPr>
        <p:txBody>
          <a:bodyPr/>
          <a:lstStyle/>
          <a:p>
            <a:r>
              <a:rPr lang="uk-U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Адресація комп’ютерів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8532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60648"/>
            <a:ext cx="8928992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Для ідентифікації мережних адаптерів/інтерфейсів у сучасних</a:t>
            </a:r>
          </a:p>
          <a:p>
            <a:pPr marL="0" indent="0">
              <a:buNone/>
            </a:pPr>
            <a:r>
              <a:rPr lang="uk-UA" dirty="0"/>
              <a:t>мережах застосовується </a:t>
            </a:r>
            <a:r>
              <a:rPr lang="uk-UA" b="1" dirty="0"/>
              <a:t>три типи адрес</a:t>
            </a:r>
            <a:r>
              <a:rPr lang="uk-UA" dirty="0"/>
              <a:t>:</a:t>
            </a:r>
          </a:p>
          <a:p>
            <a:pPr marL="0" indent="0">
              <a:buNone/>
            </a:pPr>
            <a:r>
              <a:rPr lang="uk-UA" dirty="0"/>
              <a:t>– фізичні, локальні, апаратні адреси (</a:t>
            </a:r>
            <a:r>
              <a:rPr lang="en-US" dirty="0"/>
              <a:t>Physical, Local, </a:t>
            </a:r>
            <a:r>
              <a:rPr lang="en-US" dirty="0" smtClean="0"/>
              <a:t>Hardware</a:t>
            </a:r>
            <a:r>
              <a:rPr lang="uk-UA" dirty="0" smtClean="0"/>
              <a:t> </a:t>
            </a:r>
            <a:r>
              <a:rPr lang="en-US" dirty="0" smtClean="0"/>
              <a:t>Addresses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– </a:t>
            </a:r>
            <a:r>
              <a:rPr lang="uk-UA" dirty="0"/>
              <a:t>логічні, мережні адреси (</a:t>
            </a:r>
            <a:r>
              <a:rPr lang="en-US" dirty="0"/>
              <a:t>Logical, Network Addresses);</a:t>
            </a:r>
          </a:p>
          <a:p>
            <a:pPr marL="0" indent="0">
              <a:buNone/>
            </a:pPr>
            <a:r>
              <a:rPr lang="en-US" dirty="0"/>
              <a:t>– </a:t>
            </a:r>
            <a:r>
              <a:rPr lang="uk-UA" dirty="0"/>
              <a:t>символьні, текстові адреси (</a:t>
            </a:r>
            <a:r>
              <a:rPr lang="en-US" dirty="0"/>
              <a:t>Symbolic, Text Addresses).</a:t>
            </a:r>
          </a:p>
        </p:txBody>
      </p:sp>
    </p:spTree>
    <p:extLst>
      <p:ext uri="{BB962C8B-B14F-4D97-AF65-F5344CB8AC3E}">
        <p14:creationId xmlns:p14="http://schemas.microsoft.com/office/powerpoint/2010/main" val="1988909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836712"/>
            <a:ext cx="6805811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348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28663"/>
            <a:ext cx="579120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кутник 1"/>
          <p:cNvSpPr/>
          <p:nvPr/>
        </p:nvSpPr>
        <p:spPr>
          <a:xfrm>
            <a:off x="2627784" y="6309320"/>
            <a:ext cx="3072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1" dirty="0"/>
              <a:t>Фізичні або апаратні адреси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40349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6632"/>
            <a:ext cx="8579296" cy="6009531"/>
          </a:xfrm>
        </p:spPr>
        <p:txBody>
          <a:bodyPr/>
          <a:lstStyle/>
          <a:p>
            <a:pPr marL="0" indent="0">
              <a:buNone/>
            </a:pPr>
            <a:r>
              <a:rPr lang="uk-UA" b="1" dirty="0"/>
              <a:t>Фізичні або апаратні адреси </a:t>
            </a:r>
            <a:r>
              <a:rPr lang="uk-UA" dirty="0"/>
              <a:t>– це адреси, які призначаються </a:t>
            </a:r>
            <a:r>
              <a:rPr lang="uk-UA" dirty="0" smtClean="0"/>
              <a:t>мережним адаптерам/інтерфейсам </a:t>
            </a:r>
            <a:r>
              <a:rPr lang="uk-UA" dirty="0"/>
              <a:t>на етапі виробництва. </a:t>
            </a:r>
            <a:r>
              <a:rPr lang="uk-UA" dirty="0" smtClean="0"/>
              <a:t>Формально вважається</a:t>
            </a:r>
            <a:r>
              <a:rPr lang="uk-UA" dirty="0"/>
              <a:t>, що ці адреси змінити не можливо. Прикладами апаратних адрес можуть бути </a:t>
            </a:r>
            <a:r>
              <a:rPr lang="en-US" dirty="0"/>
              <a:t>MAC-</a:t>
            </a:r>
            <a:r>
              <a:rPr lang="uk-UA" dirty="0"/>
              <a:t>адреси технологій </a:t>
            </a:r>
            <a:r>
              <a:rPr lang="en-US" dirty="0"/>
              <a:t>Ethernet, Wi-Fi</a:t>
            </a:r>
            <a:r>
              <a:rPr lang="en-US" dirty="0" smtClean="0"/>
              <a:t>,</a:t>
            </a:r>
            <a:r>
              <a:rPr lang="uk-UA" dirty="0" smtClean="0"/>
              <a:t> </a:t>
            </a:r>
            <a:r>
              <a:rPr lang="en-US" dirty="0" err="1" smtClean="0"/>
              <a:t>BlueTooth</a:t>
            </a:r>
            <a:r>
              <a:rPr lang="en-US" dirty="0" smtClean="0"/>
              <a:t> </a:t>
            </a:r>
            <a:r>
              <a:rPr lang="uk-UA" dirty="0"/>
              <a:t>тощо; </a:t>
            </a:r>
            <a:r>
              <a:rPr lang="en-US" dirty="0"/>
              <a:t>IMEI-</a:t>
            </a:r>
            <a:r>
              <a:rPr lang="uk-UA" dirty="0"/>
              <a:t>ідентифікатори мобільних пристроїв.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73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76672"/>
            <a:ext cx="5040560" cy="53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765414" y="6165304"/>
            <a:ext cx="3613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MAC-</a:t>
            </a:r>
            <a:r>
              <a:rPr lang="uk-UA" dirty="0"/>
              <a:t>адреса, вказана виробником.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883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65414" y="6165304"/>
            <a:ext cx="2598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MAC-</a:t>
            </a:r>
            <a:r>
              <a:rPr lang="uk-UA" dirty="0"/>
              <a:t>адреса комп'ютера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67339"/>
            <a:ext cx="8278569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3113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221088"/>
            <a:ext cx="8579296" cy="11849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dirty="0"/>
              <a:t>Структура </a:t>
            </a:r>
            <a:r>
              <a:rPr lang="en-US" dirty="0"/>
              <a:t>MAC-</a:t>
            </a:r>
            <a:r>
              <a:rPr lang="uk-UA" dirty="0"/>
              <a:t>адреси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20"/>
            <a:ext cx="8834163" cy="3021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517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0"/>
            <a:ext cx="6480720" cy="6759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773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6632"/>
            <a:ext cx="9036496" cy="6741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IP-</a:t>
            </a:r>
            <a:r>
              <a:rPr lang="ru-RU" dirty="0"/>
              <a:t>адреса </a:t>
            </a:r>
            <a:r>
              <a:rPr lang="ru-RU" dirty="0" err="1"/>
              <a:t>версії</a:t>
            </a:r>
            <a:r>
              <a:rPr lang="ru-RU" dirty="0"/>
              <a:t> 4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довжину</a:t>
            </a:r>
            <a:r>
              <a:rPr lang="ru-RU" dirty="0"/>
              <a:t> 32 </a:t>
            </a:r>
            <a:r>
              <a:rPr lang="ru-RU" dirty="0" err="1"/>
              <a:t>біти</a:t>
            </a:r>
            <a:r>
              <a:rPr lang="ru-RU" dirty="0"/>
              <a:t> (4 </a:t>
            </a:r>
            <a:r>
              <a:rPr lang="ru-RU" dirty="0" err="1"/>
              <a:t>байти</a:t>
            </a:r>
            <a:r>
              <a:rPr lang="ru-RU" dirty="0"/>
              <a:t>). </a:t>
            </a:r>
            <a:endParaRPr lang="ru-RU" dirty="0" smtClean="0"/>
          </a:p>
          <a:p>
            <a:pPr marL="0" indent="0">
              <a:buNone/>
            </a:pPr>
            <a:r>
              <a:rPr lang="ru-RU" b="1" dirty="0" err="1" smtClean="0"/>
              <a:t>Діапазон</a:t>
            </a:r>
            <a:r>
              <a:rPr lang="ru-RU" b="1" dirty="0" smtClean="0"/>
              <a:t> </a:t>
            </a:r>
            <a:r>
              <a:rPr lang="ru-RU" b="1" dirty="0" err="1"/>
              <a:t>можливих</a:t>
            </a:r>
            <a:r>
              <a:rPr lang="ru-RU" b="1" dirty="0"/>
              <a:t> </a:t>
            </a:r>
            <a:r>
              <a:rPr lang="en-US" b="1" dirty="0"/>
              <a:t>IP-</a:t>
            </a:r>
            <a:r>
              <a:rPr lang="ru-RU" b="1" dirty="0"/>
              <a:t>адрес </a:t>
            </a:r>
            <a:r>
              <a:rPr lang="ru-RU" dirty="0" err="1"/>
              <a:t>версії</a:t>
            </a:r>
            <a:r>
              <a:rPr lang="ru-RU" dirty="0"/>
              <a:t> 4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вигляд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0.0.0.0 – 255.255.255.255</a:t>
            </a:r>
          </a:p>
          <a:p>
            <a:pPr marL="0" indent="0">
              <a:buNone/>
            </a:pPr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діапазоні</a:t>
            </a:r>
            <a:r>
              <a:rPr lang="ru-RU" dirty="0"/>
              <a:t> </a:t>
            </a:r>
            <a:r>
              <a:rPr lang="ru-RU" dirty="0" err="1"/>
              <a:t>наявно</a:t>
            </a:r>
            <a:r>
              <a:rPr lang="ru-RU" dirty="0"/>
              <a:t> 4294967296 </a:t>
            </a:r>
            <a:r>
              <a:rPr lang="en-US" dirty="0" smtClean="0"/>
              <a:t>IP-</a:t>
            </a:r>
            <a:r>
              <a:rPr lang="ru-RU" dirty="0"/>
              <a:t>адрес. </a:t>
            </a:r>
            <a:r>
              <a:rPr lang="ru-RU" dirty="0" err="1"/>
              <a:t>Фактично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за </a:t>
            </a:r>
            <a:r>
              <a:rPr lang="ru-RU" dirty="0" err="1"/>
              <a:t>рахунок</a:t>
            </a:r>
            <a:r>
              <a:rPr lang="ru-RU" dirty="0"/>
              <a:t> </a:t>
            </a:r>
            <a:r>
              <a:rPr lang="ru-RU" dirty="0" err="1"/>
              <a:t>певних</a:t>
            </a:r>
            <a:r>
              <a:rPr lang="ru-RU" dirty="0"/>
              <a:t> правил та </a:t>
            </a:r>
            <a:r>
              <a:rPr lang="ru-RU" dirty="0" err="1"/>
              <a:t>винятків</a:t>
            </a:r>
            <a:r>
              <a:rPr lang="ru-RU" dirty="0"/>
              <a:t>, </a:t>
            </a:r>
            <a:r>
              <a:rPr lang="ru-RU" dirty="0" err="1"/>
              <a:t>застосовується</a:t>
            </a:r>
            <a:r>
              <a:rPr lang="ru-RU" dirty="0"/>
              <a:t> </a:t>
            </a:r>
            <a:r>
              <a:rPr lang="ru-RU" dirty="0" err="1"/>
              <a:t>менша</a:t>
            </a:r>
            <a:r>
              <a:rPr lang="ru-RU" dirty="0"/>
              <a:t> </a:t>
            </a:r>
            <a:r>
              <a:rPr lang="ru-RU" dirty="0" err="1" smtClean="0"/>
              <a:t>кількість</a:t>
            </a:r>
            <a:r>
              <a:rPr lang="ru-RU" dirty="0" smtClean="0"/>
              <a:t> </a:t>
            </a:r>
            <a:r>
              <a:rPr lang="ru-RU" dirty="0"/>
              <a:t>адрес. </a:t>
            </a:r>
            <a:r>
              <a:rPr lang="ru-RU" dirty="0" err="1"/>
              <a:t>Насправді</a:t>
            </a:r>
            <a:r>
              <a:rPr lang="ru-RU" dirty="0"/>
              <a:t> </a:t>
            </a:r>
            <a:r>
              <a:rPr lang="ru-RU" dirty="0" err="1"/>
              <a:t>доступних</a:t>
            </a:r>
            <a:r>
              <a:rPr lang="ru-RU" dirty="0"/>
              <a:t> </a:t>
            </a:r>
            <a:r>
              <a:rPr lang="en-US" dirty="0"/>
              <a:t>IP-</a:t>
            </a:r>
            <a:r>
              <a:rPr lang="ru-RU" dirty="0"/>
              <a:t>адрес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менше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 smtClean="0"/>
              <a:t>частина</a:t>
            </a:r>
            <a:r>
              <a:rPr lang="ru-RU" dirty="0" smtClean="0"/>
              <a:t> </a:t>
            </a:r>
            <a:r>
              <a:rPr lang="ru-RU" dirty="0"/>
              <a:t>з адрес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спеціальне</a:t>
            </a:r>
            <a:r>
              <a:rPr lang="ru-RU" dirty="0"/>
              <a:t> </a:t>
            </a:r>
            <a:r>
              <a:rPr lang="ru-RU" dirty="0" err="1"/>
              <a:t>призначення</a:t>
            </a:r>
            <a:r>
              <a:rPr lang="ru-RU" dirty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13063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6632"/>
            <a:ext cx="9036496" cy="6741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/>
              <a:t>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застосування</a:t>
            </a:r>
            <a:r>
              <a:rPr lang="ru-RU" dirty="0"/>
              <a:t> IP-адреса </a:t>
            </a:r>
            <a:r>
              <a:rPr lang="ru-RU" dirty="0" err="1"/>
              <a:t>версії</a:t>
            </a:r>
            <a:r>
              <a:rPr lang="ru-RU" dirty="0"/>
              <a:t> 4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 smtClean="0"/>
              <a:t>ідентифі</a:t>
            </a:r>
            <a:r>
              <a:rPr lang="uk-UA" dirty="0" smtClean="0"/>
              <a:t>кована </a:t>
            </a:r>
            <a:r>
              <a:rPr lang="uk-UA" dirty="0"/>
              <a:t>як:</a:t>
            </a:r>
          </a:p>
          <a:p>
            <a:r>
              <a:rPr lang="uk-UA" dirty="0"/>
              <a:t>– унікальна </a:t>
            </a:r>
            <a:r>
              <a:rPr lang="en-US" dirty="0"/>
              <a:t>IP-</a:t>
            </a:r>
            <a:r>
              <a:rPr lang="uk-UA" dirty="0"/>
              <a:t>адреса (</a:t>
            </a:r>
            <a:r>
              <a:rPr lang="en-US" dirty="0"/>
              <a:t>Unicast IP-Address);</a:t>
            </a:r>
          </a:p>
          <a:p>
            <a:r>
              <a:rPr lang="uk-UA" dirty="0"/>
              <a:t>– групова </a:t>
            </a:r>
            <a:r>
              <a:rPr lang="en-US" dirty="0"/>
              <a:t>IP-</a:t>
            </a:r>
            <a:r>
              <a:rPr lang="uk-UA" dirty="0"/>
              <a:t>адреса (</a:t>
            </a:r>
            <a:r>
              <a:rPr lang="en-US" dirty="0"/>
              <a:t>Multicast IP-Address);</a:t>
            </a:r>
          </a:p>
          <a:p>
            <a:r>
              <a:rPr lang="uk-UA" dirty="0"/>
              <a:t>– широкомовна </a:t>
            </a:r>
            <a:r>
              <a:rPr lang="en-US" dirty="0"/>
              <a:t>IP-</a:t>
            </a:r>
            <a:r>
              <a:rPr lang="uk-UA" dirty="0"/>
              <a:t>адреса (</a:t>
            </a:r>
            <a:r>
              <a:rPr lang="en-US" dirty="0"/>
              <a:t>Broadcast IP-Address</a:t>
            </a:r>
            <a:r>
              <a:rPr lang="en-US" dirty="0" smtClean="0"/>
              <a:t>).</a:t>
            </a:r>
            <a:endParaRPr lang="uk-UA" dirty="0" smtClean="0"/>
          </a:p>
          <a:p>
            <a:pPr marL="0" indent="0">
              <a:buNone/>
            </a:pPr>
            <a:r>
              <a:rPr lang="uk-UA" dirty="0"/>
              <a:t>Поділ </a:t>
            </a:r>
            <a:r>
              <a:rPr lang="en-US" dirty="0"/>
              <a:t>IP-</a:t>
            </a:r>
            <a:r>
              <a:rPr lang="uk-UA" dirty="0"/>
              <a:t>адреси версії 4 на частини здійснюється з </a:t>
            </a:r>
            <a:r>
              <a:rPr lang="uk-UA" dirty="0" smtClean="0"/>
              <a:t>використанням </a:t>
            </a:r>
            <a:r>
              <a:rPr lang="uk-UA" dirty="0"/>
              <a:t>двох підходів:</a:t>
            </a:r>
          </a:p>
          <a:p>
            <a:pPr marL="0" indent="0">
              <a:buNone/>
            </a:pPr>
            <a:r>
              <a:rPr lang="uk-UA" dirty="0"/>
              <a:t>– класовий, класова </a:t>
            </a:r>
            <a:r>
              <a:rPr lang="en-US" dirty="0"/>
              <a:t>IP-</a:t>
            </a:r>
            <a:r>
              <a:rPr lang="uk-UA" dirty="0"/>
              <a:t>адресація (</a:t>
            </a:r>
            <a:r>
              <a:rPr lang="en-US" dirty="0" err="1"/>
              <a:t>Classful</a:t>
            </a:r>
            <a:r>
              <a:rPr lang="en-US" dirty="0"/>
              <a:t> IP-Addressing);</a:t>
            </a:r>
          </a:p>
          <a:p>
            <a:pPr marL="0" indent="0">
              <a:buNone/>
            </a:pPr>
            <a:r>
              <a:rPr lang="en-US" dirty="0"/>
              <a:t>– </a:t>
            </a:r>
            <a:r>
              <a:rPr lang="uk-UA" dirty="0"/>
              <a:t>безкласовий, безкласова </a:t>
            </a:r>
            <a:r>
              <a:rPr lang="en-US" dirty="0"/>
              <a:t>IP-</a:t>
            </a:r>
            <a:r>
              <a:rPr lang="uk-UA" dirty="0"/>
              <a:t>адресація (</a:t>
            </a:r>
            <a:r>
              <a:rPr lang="en-US" dirty="0"/>
              <a:t>Classless IP-Addressing).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67222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6632"/>
            <a:ext cx="9036496" cy="6741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Маска мережі/</a:t>
            </a:r>
            <a:r>
              <a:rPr lang="uk-UA" dirty="0" err="1"/>
              <a:t>підмережі</a:t>
            </a:r>
            <a:r>
              <a:rPr lang="uk-UA" dirty="0"/>
              <a:t> (</a:t>
            </a:r>
            <a:r>
              <a:rPr lang="en-US" dirty="0"/>
              <a:t>Network/Subnet Mask) – </a:t>
            </a:r>
            <a:r>
              <a:rPr lang="uk-UA" dirty="0" smtClean="0"/>
              <a:t>додаткова </a:t>
            </a:r>
            <a:r>
              <a:rPr lang="ru-RU" dirty="0" err="1" smtClean="0"/>
              <a:t>спеціальним</a:t>
            </a:r>
            <a:r>
              <a:rPr lang="ru-RU" dirty="0" smtClean="0"/>
              <a:t> </a:t>
            </a:r>
            <a:r>
              <a:rPr lang="ru-RU" dirty="0"/>
              <a:t>чином сформована IP-адреса,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 smtClean="0"/>
              <a:t>якої</a:t>
            </a:r>
            <a:r>
              <a:rPr lang="ru-RU" dirty="0" smtClean="0"/>
              <a:t> </a:t>
            </a:r>
            <a:r>
              <a:rPr lang="ru-RU" dirty="0" err="1" smtClean="0"/>
              <a:t>зазначається</a:t>
            </a:r>
            <a:r>
              <a:rPr lang="ru-RU" dirty="0"/>
              <a:t>, яка </a:t>
            </a:r>
            <a:r>
              <a:rPr lang="ru-RU" dirty="0" err="1"/>
              <a:t>частина</a:t>
            </a:r>
            <a:r>
              <a:rPr lang="ru-RU" dirty="0"/>
              <a:t> IP-</a:t>
            </a:r>
            <a:r>
              <a:rPr lang="ru-RU" dirty="0" err="1"/>
              <a:t>адреси</a:t>
            </a:r>
            <a:r>
              <a:rPr lang="ru-RU" dirty="0"/>
              <a:t> є IP-</a:t>
            </a:r>
            <a:r>
              <a:rPr lang="ru-RU" dirty="0" err="1"/>
              <a:t>адресою</a:t>
            </a:r>
            <a:r>
              <a:rPr lang="ru-RU" dirty="0"/>
              <a:t> </a:t>
            </a:r>
            <a:r>
              <a:rPr lang="ru-RU" dirty="0" err="1"/>
              <a:t>мережі</a:t>
            </a:r>
            <a:r>
              <a:rPr lang="ru-RU" dirty="0"/>
              <a:t>, а яка </a:t>
            </a:r>
            <a:r>
              <a:rPr lang="ru-RU" dirty="0" smtClean="0"/>
              <a:t>– IP-</a:t>
            </a:r>
            <a:r>
              <a:rPr lang="ru-RU" dirty="0" err="1" smtClean="0"/>
              <a:t>адресою</a:t>
            </a:r>
            <a:r>
              <a:rPr lang="ru-RU" dirty="0" smtClean="0"/>
              <a:t> </a:t>
            </a:r>
            <a:r>
              <a:rPr lang="ru-RU" dirty="0" err="1"/>
              <a:t>вузла</a:t>
            </a:r>
            <a:r>
              <a:rPr lang="ru-RU" dirty="0"/>
              <a:t>. У </a:t>
            </a:r>
            <a:r>
              <a:rPr lang="ru-RU" dirty="0" err="1"/>
              <a:t>сучасній</a:t>
            </a:r>
            <a:r>
              <a:rPr lang="ru-RU" dirty="0"/>
              <a:t> </a:t>
            </a:r>
            <a:r>
              <a:rPr lang="ru-RU" dirty="0" err="1"/>
              <a:t>практиці</a:t>
            </a:r>
            <a:r>
              <a:rPr lang="ru-RU" dirty="0"/>
              <a:t> </a:t>
            </a:r>
            <a:r>
              <a:rPr lang="ru-RU" dirty="0" smtClean="0"/>
              <a:t>маски </a:t>
            </a:r>
            <a:r>
              <a:rPr lang="ru-RU" dirty="0" err="1" smtClean="0"/>
              <a:t>застосовуються</a:t>
            </a:r>
            <a:r>
              <a:rPr lang="ru-RU" dirty="0" smtClean="0"/>
              <a:t> </a:t>
            </a:r>
            <a:r>
              <a:rPr lang="ru-RU" dirty="0"/>
              <a:t>як </a:t>
            </a:r>
            <a:r>
              <a:rPr lang="ru-RU" dirty="0" err="1" smtClean="0"/>
              <a:t>укласовій</a:t>
            </a:r>
            <a:r>
              <a:rPr lang="ru-RU" dirty="0"/>
              <a:t>, так і у </a:t>
            </a:r>
            <a:r>
              <a:rPr lang="ru-RU" dirty="0" err="1"/>
              <a:t>безкласовій</a:t>
            </a:r>
            <a:r>
              <a:rPr lang="ru-RU" dirty="0"/>
              <a:t> </a:t>
            </a:r>
            <a:r>
              <a:rPr lang="ru-RU" dirty="0" err="1"/>
              <a:t>адресації</a:t>
            </a:r>
            <a:r>
              <a:rPr lang="ru-RU" dirty="0"/>
              <a:t>. Для </a:t>
            </a:r>
            <a:r>
              <a:rPr lang="ru-RU" dirty="0" err="1"/>
              <a:t>класової</a:t>
            </a:r>
            <a:r>
              <a:rPr lang="ru-RU" dirty="0"/>
              <a:t> </a:t>
            </a:r>
            <a:r>
              <a:rPr lang="ru-RU" dirty="0" err="1"/>
              <a:t>адресації</a:t>
            </a:r>
            <a:r>
              <a:rPr lang="ru-RU" dirty="0"/>
              <a:t> </a:t>
            </a:r>
            <a:r>
              <a:rPr lang="ru-RU" dirty="0" smtClean="0"/>
              <a:t>маска </a:t>
            </a:r>
            <a:r>
              <a:rPr lang="ru-RU" dirty="0" err="1" smtClean="0"/>
              <a:t>мережі</a:t>
            </a:r>
            <a:r>
              <a:rPr lang="ru-RU" dirty="0" smtClean="0"/>
              <a:t> </a:t>
            </a:r>
            <a:r>
              <a:rPr lang="ru-RU" dirty="0" err="1"/>
              <a:t>фактично</a:t>
            </a:r>
            <a:r>
              <a:rPr lang="ru-RU" dirty="0"/>
              <a:t> є </a:t>
            </a:r>
            <a:r>
              <a:rPr lang="ru-RU" dirty="0" err="1"/>
              <a:t>записом</a:t>
            </a:r>
            <a:r>
              <a:rPr lang="ru-RU" dirty="0"/>
              <a:t> правила </a:t>
            </a:r>
            <a:r>
              <a:rPr lang="ru-RU" dirty="0" smtClean="0"/>
              <a:t>І.</a:t>
            </a:r>
          </a:p>
          <a:p>
            <a:pPr marL="0" indent="0">
              <a:buNone/>
            </a:pPr>
            <a:r>
              <a:rPr lang="uk-UA" dirty="0" smtClean="0"/>
              <a:t>Виділяють </a:t>
            </a:r>
            <a:r>
              <a:rPr lang="uk-UA" dirty="0"/>
              <a:t>три види масок:</a:t>
            </a:r>
          </a:p>
          <a:p>
            <a:r>
              <a:rPr lang="uk-UA" dirty="0"/>
              <a:t>– пряма маска (</a:t>
            </a:r>
            <a:r>
              <a:rPr lang="en-US" dirty="0"/>
              <a:t>Subnet Mask);</a:t>
            </a:r>
          </a:p>
          <a:p>
            <a:r>
              <a:rPr lang="uk-UA" dirty="0"/>
              <a:t>– інверсна маска (</a:t>
            </a:r>
            <a:r>
              <a:rPr lang="en-US" dirty="0"/>
              <a:t>Inverse Mask);</a:t>
            </a:r>
          </a:p>
          <a:p>
            <a:r>
              <a:rPr lang="uk-UA" dirty="0"/>
              <a:t>– шаблонна маска (</a:t>
            </a:r>
            <a:r>
              <a:rPr lang="en-US" dirty="0"/>
              <a:t>Wildcard Mask).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11311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6632"/>
            <a:ext cx="9036496" cy="674136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i="1" dirty="0"/>
              <a:t>IP-</a:t>
            </a:r>
            <a:r>
              <a:rPr lang="uk-UA" b="1" i="1" dirty="0"/>
              <a:t>адресація версії 6</a:t>
            </a:r>
          </a:p>
          <a:p>
            <a:pPr marL="0" indent="0">
              <a:buNone/>
            </a:pPr>
            <a:r>
              <a:rPr lang="ru-RU" dirty="0"/>
              <a:t>IP-адреса </a:t>
            </a:r>
            <a:r>
              <a:rPr lang="ru-RU" dirty="0" err="1"/>
              <a:t>версії</a:t>
            </a:r>
            <a:r>
              <a:rPr lang="ru-RU" dirty="0"/>
              <a:t> 6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довжину</a:t>
            </a:r>
            <a:r>
              <a:rPr lang="ru-RU" dirty="0"/>
              <a:t> 128 </a:t>
            </a:r>
            <a:r>
              <a:rPr lang="ru-RU" dirty="0" err="1"/>
              <a:t>бітів</a:t>
            </a:r>
            <a:r>
              <a:rPr lang="ru-RU" dirty="0"/>
              <a:t> (16 </a:t>
            </a:r>
            <a:r>
              <a:rPr lang="ru-RU" dirty="0" err="1"/>
              <a:t>байтів</a:t>
            </a:r>
            <a:r>
              <a:rPr lang="ru-RU" dirty="0"/>
              <a:t>). </a:t>
            </a:r>
            <a:r>
              <a:rPr lang="ru-RU" dirty="0" err="1"/>
              <a:t>Запис</a:t>
            </a:r>
            <a:r>
              <a:rPr lang="ru-RU" dirty="0"/>
              <a:t> </a:t>
            </a:r>
            <a:r>
              <a:rPr lang="ru-RU" dirty="0" err="1" smtClean="0"/>
              <a:t>такої</a:t>
            </a:r>
            <a:r>
              <a:rPr lang="ru-RU" dirty="0" smtClean="0"/>
              <a:t> </a:t>
            </a:r>
            <a:r>
              <a:rPr lang="ru-RU" dirty="0" err="1" smtClean="0"/>
              <a:t>адреси</a:t>
            </a:r>
            <a:r>
              <a:rPr lang="ru-RU" dirty="0" smtClean="0"/>
              <a:t> </a:t>
            </a:r>
            <a:r>
              <a:rPr lang="ru-RU" dirty="0" err="1"/>
              <a:t>здійснюється</a:t>
            </a:r>
            <a:r>
              <a:rPr lang="ru-RU" dirty="0"/>
              <a:t> у </a:t>
            </a:r>
            <a:r>
              <a:rPr lang="ru-RU" dirty="0" err="1"/>
              <a:t>шістнадцятковій</a:t>
            </a:r>
            <a:r>
              <a:rPr lang="ru-RU" dirty="0"/>
              <a:t> </a:t>
            </a:r>
            <a:r>
              <a:rPr lang="ru-RU" dirty="0" err="1"/>
              <a:t>формі</a:t>
            </a:r>
            <a:r>
              <a:rPr lang="ru-RU" dirty="0"/>
              <a:t> </a:t>
            </a:r>
            <a:r>
              <a:rPr lang="ru-RU" dirty="0" err="1"/>
              <a:t>числення</a:t>
            </a:r>
            <a:r>
              <a:rPr lang="ru-RU" dirty="0"/>
              <a:t> як </a:t>
            </a:r>
            <a:r>
              <a:rPr lang="ru-RU" dirty="0" err="1" smtClean="0"/>
              <a:t>вісім</a:t>
            </a:r>
            <a:r>
              <a:rPr lang="ru-RU" dirty="0" smtClean="0"/>
              <a:t> </a:t>
            </a:r>
            <a:r>
              <a:rPr lang="ru-RU" dirty="0" err="1" smtClean="0"/>
              <a:t>груп</a:t>
            </a:r>
            <a:r>
              <a:rPr lang="ru-RU" dirty="0" smtClean="0"/>
              <a:t> </a:t>
            </a:r>
            <a:r>
              <a:rPr lang="ru-RU" dirty="0"/>
              <a:t>по 16 </a:t>
            </a:r>
            <a:r>
              <a:rPr lang="ru-RU" dirty="0" err="1"/>
              <a:t>бітів</a:t>
            </a:r>
            <a:r>
              <a:rPr lang="ru-RU" dirty="0"/>
              <a:t> (два </a:t>
            </a:r>
            <a:r>
              <a:rPr lang="ru-RU" dirty="0" err="1"/>
              <a:t>байти</a:t>
            </a:r>
            <a:r>
              <a:rPr lang="ru-RU" dirty="0"/>
              <a:t>), як </a:t>
            </a:r>
            <a:r>
              <a:rPr lang="ru-RU" dirty="0" err="1"/>
              <a:t>роздільник</a:t>
            </a:r>
            <a:r>
              <a:rPr lang="ru-RU" dirty="0"/>
              <a:t> </a:t>
            </a:r>
            <a:r>
              <a:rPr lang="ru-RU" dirty="0" err="1"/>
              <a:t>груп</a:t>
            </a:r>
            <a:r>
              <a:rPr lang="ru-RU" dirty="0"/>
              <a:t> </a:t>
            </a:r>
            <a:r>
              <a:rPr lang="ru-RU" dirty="0" err="1"/>
              <a:t>застосовується</a:t>
            </a:r>
            <a:r>
              <a:rPr lang="ru-RU" dirty="0"/>
              <a:t> </a:t>
            </a:r>
            <a:r>
              <a:rPr lang="ru-RU" dirty="0" err="1" smtClean="0"/>
              <a:t>дво</a:t>
            </a:r>
            <a:r>
              <a:rPr lang="uk-UA" dirty="0" smtClean="0"/>
              <a:t>крапка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Діапазон можливих </a:t>
            </a:r>
            <a:r>
              <a:rPr lang="en-US" dirty="0"/>
              <a:t>IP-</a:t>
            </a:r>
            <a:r>
              <a:rPr lang="uk-UA" dirty="0"/>
              <a:t>адрес версії 6 містить 2128 </a:t>
            </a:r>
            <a:r>
              <a:rPr lang="en-US" dirty="0"/>
              <a:t>IP-</a:t>
            </a:r>
            <a:r>
              <a:rPr lang="uk-UA" dirty="0"/>
              <a:t>адрес і має вигляд:</a:t>
            </a:r>
          </a:p>
          <a:p>
            <a:r>
              <a:rPr lang="en-US" dirty="0"/>
              <a:t>0000:0000:0000:0000:0000:0000:0000:0000 –</a:t>
            </a:r>
          </a:p>
          <a:p>
            <a:r>
              <a:rPr lang="en-US" dirty="0"/>
              <a:t>FFFF:FFFF:FFFF:FFFF:FFFF:FFFF:FFFF:FFFF.</a:t>
            </a:r>
          </a:p>
          <a:p>
            <a:pPr marL="0" indent="0">
              <a:buNone/>
            </a:pPr>
            <a:r>
              <a:rPr lang="ru-RU" dirty="0"/>
              <a:t>На </a:t>
            </a:r>
            <a:r>
              <a:rPr lang="ru-RU" dirty="0" err="1"/>
              <a:t>практиці</a:t>
            </a:r>
            <a:r>
              <a:rPr lang="ru-RU" dirty="0"/>
              <a:t> </a:t>
            </a:r>
            <a:r>
              <a:rPr lang="ru-RU" dirty="0" err="1"/>
              <a:t>застосовуються</a:t>
            </a:r>
            <a:r>
              <a:rPr lang="ru-RU" dirty="0"/>
              <a:t> </a:t>
            </a:r>
            <a:r>
              <a:rPr lang="ru-RU" dirty="0" err="1"/>
              <a:t>повна</a:t>
            </a:r>
            <a:r>
              <a:rPr lang="ru-RU" dirty="0"/>
              <a:t> і </a:t>
            </a:r>
            <a:r>
              <a:rPr lang="ru-RU" dirty="0" err="1"/>
              <a:t>спрощена</a:t>
            </a:r>
            <a:r>
              <a:rPr lang="ru-RU" dirty="0"/>
              <a:t> </a:t>
            </a:r>
            <a:r>
              <a:rPr lang="ru-RU" dirty="0" err="1"/>
              <a:t>форми</a:t>
            </a:r>
            <a:r>
              <a:rPr lang="ru-RU" dirty="0"/>
              <a:t> </a:t>
            </a:r>
            <a:r>
              <a:rPr lang="ru-RU" dirty="0" err="1"/>
              <a:t>запису</a:t>
            </a:r>
            <a:r>
              <a:rPr lang="ru-RU" dirty="0"/>
              <a:t> </a:t>
            </a:r>
            <a:r>
              <a:rPr lang="ru-RU" dirty="0" smtClean="0"/>
              <a:t>IP- адрес </a:t>
            </a:r>
            <a:r>
              <a:rPr lang="ru-RU" dirty="0" err="1"/>
              <a:t>версії</a:t>
            </a:r>
            <a:r>
              <a:rPr lang="ru-RU" dirty="0"/>
              <a:t> 6. </a:t>
            </a:r>
            <a:r>
              <a:rPr lang="ru-RU" dirty="0" err="1"/>
              <a:t>Повна</a:t>
            </a:r>
            <a:r>
              <a:rPr lang="ru-RU" dirty="0"/>
              <a:t> форма </a:t>
            </a:r>
            <a:r>
              <a:rPr lang="ru-RU" dirty="0" err="1"/>
              <a:t>передбачає</a:t>
            </a:r>
            <a:r>
              <a:rPr lang="ru-RU" dirty="0"/>
              <a:t> </a:t>
            </a:r>
            <a:r>
              <a:rPr lang="ru-RU" dirty="0" err="1"/>
              <a:t>запис</a:t>
            </a:r>
            <a:r>
              <a:rPr lang="ru-RU" dirty="0"/>
              <a:t> </a:t>
            </a:r>
            <a:r>
              <a:rPr lang="ru-RU" dirty="0" err="1"/>
              <a:t>усіх</a:t>
            </a:r>
            <a:r>
              <a:rPr lang="ru-RU" dirty="0"/>
              <a:t> цифр IP-</a:t>
            </a:r>
            <a:r>
              <a:rPr lang="ru-RU" dirty="0" err="1"/>
              <a:t>адреси</a:t>
            </a:r>
            <a:r>
              <a:rPr lang="ru-RU" dirty="0" smtClean="0"/>
              <a:t>. </a:t>
            </a:r>
            <a:r>
              <a:rPr lang="ru-RU" dirty="0" err="1" smtClean="0"/>
              <a:t>Спрощена</a:t>
            </a:r>
            <a:r>
              <a:rPr lang="ru-RU" dirty="0" smtClean="0"/>
              <a:t> </a:t>
            </a:r>
            <a:r>
              <a:rPr lang="ru-RU" dirty="0"/>
              <a:t>форма </a:t>
            </a:r>
            <a:r>
              <a:rPr lang="ru-RU" dirty="0" err="1"/>
              <a:t>дозволяє</a:t>
            </a:r>
            <a:r>
              <a:rPr lang="ru-RU" dirty="0"/>
              <a:t> не </a:t>
            </a:r>
            <a:r>
              <a:rPr lang="ru-RU" dirty="0" err="1"/>
              <a:t>записувати</a:t>
            </a:r>
            <a:r>
              <a:rPr lang="ru-RU" dirty="0"/>
              <a:t> </a:t>
            </a:r>
            <a:r>
              <a:rPr lang="ru-RU" dirty="0" err="1"/>
              <a:t>ведучі</a:t>
            </a:r>
            <a:r>
              <a:rPr lang="ru-RU" dirty="0"/>
              <a:t> </a:t>
            </a:r>
            <a:r>
              <a:rPr lang="ru-RU" dirty="0" err="1"/>
              <a:t>нулі</a:t>
            </a:r>
            <a:r>
              <a:rPr lang="ru-RU" dirty="0"/>
              <a:t> у </a:t>
            </a:r>
            <a:r>
              <a:rPr lang="ru-RU" dirty="0" err="1"/>
              <a:t>групах</a:t>
            </a:r>
            <a:r>
              <a:rPr lang="ru-RU" dirty="0"/>
              <a:t> </a:t>
            </a:r>
            <a:r>
              <a:rPr lang="ru-RU" dirty="0" smtClean="0"/>
              <a:t>та </a:t>
            </a:r>
            <a:r>
              <a:rPr lang="ru-RU" dirty="0" err="1" smtClean="0"/>
              <a:t>замінювати</a:t>
            </a:r>
            <a:r>
              <a:rPr lang="ru-RU" dirty="0" smtClean="0"/>
              <a:t> </a:t>
            </a:r>
            <a:r>
              <a:rPr lang="ru-RU" dirty="0"/>
              <a:t>одну з </a:t>
            </a:r>
            <a:r>
              <a:rPr lang="ru-RU" dirty="0" err="1"/>
              <a:t>послідовностей</a:t>
            </a:r>
            <a:r>
              <a:rPr lang="ru-RU" dirty="0"/>
              <a:t> </a:t>
            </a:r>
            <a:r>
              <a:rPr lang="ru-RU" dirty="0" err="1"/>
              <a:t>нульових</a:t>
            </a:r>
            <a:r>
              <a:rPr lang="ru-RU" dirty="0"/>
              <a:t> </a:t>
            </a:r>
            <a:r>
              <a:rPr lang="ru-RU" dirty="0" err="1"/>
              <a:t>груп</a:t>
            </a:r>
            <a:r>
              <a:rPr lang="ru-RU" dirty="0"/>
              <a:t> </a:t>
            </a:r>
            <a:r>
              <a:rPr lang="ru-RU" dirty="0" err="1" smtClean="0"/>
              <a:t>записом</a:t>
            </a:r>
            <a:r>
              <a:rPr lang="ru-RU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80169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68960"/>
            <a:ext cx="8517632" cy="1143000"/>
          </a:xfrm>
        </p:spPr>
        <p:txBody>
          <a:bodyPr>
            <a:normAutofit fontScale="90000"/>
          </a:bodyPr>
          <a:lstStyle/>
          <a:p>
            <a:r>
              <a:rPr lang="uk-UA" dirty="0" smtClean="0"/>
              <a:t>Особливості установки </a:t>
            </a:r>
            <a:r>
              <a:rPr lang="en-US" dirty="0" smtClean="0"/>
              <a:t>Active Directory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9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204" y="4797152"/>
            <a:ext cx="8229600" cy="1325563"/>
          </a:xfrm>
        </p:spPr>
        <p:txBody>
          <a:bodyPr/>
          <a:lstStyle/>
          <a:p>
            <a:r>
              <a:rPr lang="ru-RU" sz="2000" dirty="0" err="1"/>
              <a:t>Натиснути</a:t>
            </a:r>
            <a:r>
              <a:rPr lang="ru-RU" sz="2000" dirty="0"/>
              <a:t> на кнопку "ОК". </a:t>
            </a:r>
            <a:r>
              <a:rPr lang="ru-RU" sz="2000" dirty="0" err="1"/>
              <a:t>Варто</a:t>
            </a:r>
            <a:r>
              <a:rPr lang="ru-RU" sz="2000" dirty="0"/>
              <a:t> </a:t>
            </a:r>
            <a:r>
              <a:rPr lang="ru-RU" sz="2000" dirty="0" err="1"/>
              <a:t>зауважити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подібні</a:t>
            </a:r>
            <a:r>
              <a:rPr lang="ru-RU" sz="2000" dirty="0"/>
              <a:t> </a:t>
            </a:r>
            <a:r>
              <a:rPr lang="ru-RU" sz="2000" dirty="0" err="1"/>
              <a:t>значення</a:t>
            </a:r>
            <a:r>
              <a:rPr lang="ru-RU" sz="2000" dirty="0"/>
              <a:t> не є </a:t>
            </a:r>
            <a:r>
              <a:rPr lang="ru-RU" sz="2000" dirty="0" err="1"/>
              <a:t>обов'язковими</a:t>
            </a:r>
            <a:r>
              <a:rPr lang="ru-RU" sz="2000" dirty="0"/>
              <a:t>. </a:t>
            </a:r>
            <a:r>
              <a:rPr lang="en-US" sz="2000" dirty="0" err="1"/>
              <a:t>Можна</a:t>
            </a:r>
            <a:r>
              <a:rPr lang="en-US" sz="2000" dirty="0"/>
              <a:t> </a:t>
            </a:r>
            <a:r>
              <a:rPr lang="en-US" sz="2000" dirty="0" err="1"/>
              <a:t>використовувати</a:t>
            </a:r>
            <a:r>
              <a:rPr lang="en-US" sz="2000" dirty="0"/>
              <a:t> IP </a:t>
            </a:r>
            <a:r>
              <a:rPr lang="en-US" sz="2000" dirty="0" err="1"/>
              <a:t>адреса</a:t>
            </a:r>
            <a:r>
              <a:rPr lang="en-US" sz="2000" dirty="0"/>
              <a:t> і DNS </a:t>
            </a:r>
            <a:r>
              <a:rPr lang="en-US" sz="2000" dirty="0" err="1"/>
              <a:t>зі</a:t>
            </a:r>
            <a:r>
              <a:rPr lang="en-US" sz="2000" dirty="0"/>
              <a:t> </a:t>
            </a:r>
            <a:r>
              <a:rPr lang="en-US" sz="2000" dirty="0" err="1"/>
              <a:t>своєї</a:t>
            </a:r>
            <a:r>
              <a:rPr lang="en-US" sz="2000" dirty="0"/>
              <a:t> </a:t>
            </a:r>
            <a:r>
              <a:rPr lang="en-US" sz="2000" dirty="0" err="1"/>
              <a:t>мережі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5616" y="33606"/>
            <a:ext cx="66484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080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2843808" y="5805264"/>
            <a:ext cx="3166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IP </a:t>
            </a:r>
            <a:r>
              <a:rPr lang="en-US" dirty="0" err="1"/>
              <a:t>адреса</a:t>
            </a:r>
            <a:r>
              <a:rPr lang="en-US" dirty="0"/>
              <a:t> і DNS </a:t>
            </a:r>
            <a:r>
              <a:rPr lang="en-US" dirty="0" err="1"/>
              <a:t>зі</a:t>
            </a:r>
            <a:r>
              <a:rPr lang="en-US" dirty="0"/>
              <a:t> </a:t>
            </a:r>
            <a:r>
              <a:rPr lang="en-US" dirty="0" err="1"/>
              <a:t>своєї</a:t>
            </a:r>
            <a:r>
              <a:rPr lang="en-US" dirty="0"/>
              <a:t> </a:t>
            </a:r>
            <a:r>
              <a:rPr lang="en-US" dirty="0" err="1"/>
              <a:t>мережі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7775" y="933450"/>
            <a:ext cx="66484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30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301208"/>
            <a:ext cx="8229600" cy="1325563"/>
          </a:xfrm>
        </p:spPr>
        <p:txBody>
          <a:bodyPr/>
          <a:lstStyle/>
          <a:p>
            <a:r>
              <a:rPr lang="ru-RU" sz="2400" dirty="0" err="1"/>
              <a:t>Далі</a:t>
            </a:r>
            <a:r>
              <a:rPr lang="ru-RU" sz="2400" dirty="0"/>
              <a:t> </a:t>
            </a:r>
            <a:r>
              <a:rPr lang="ru-RU" sz="2400" dirty="0" err="1"/>
              <a:t>потрібно</a:t>
            </a:r>
            <a:r>
              <a:rPr lang="ru-RU" sz="2400" dirty="0"/>
              <a:t> зайти в меню "Пуск", </a:t>
            </a:r>
            <a:r>
              <a:rPr lang="ru-RU" sz="2400" dirty="0" err="1"/>
              <a:t>вибрати</a:t>
            </a:r>
            <a:r>
              <a:rPr lang="ru-RU" sz="2400" dirty="0"/>
              <a:t> "</a:t>
            </a:r>
            <a:r>
              <a:rPr lang="ru-RU" sz="2400" dirty="0" err="1"/>
              <a:t>Адміністрування</a:t>
            </a:r>
            <a:r>
              <a:rPr lang="ru-RU" sz="2400" dirty="0"/>
              <a:t>" і ""</a:t>
            </a:r>
            <a:endParaRPr lang="en-US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3648" y="404664"/>
            <a:ext cx="619125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84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301208"/>
            <a:ext cx="8229600" cy="1325563"/>
          </a:xfrm>
        </p:spPr>
        <p:txBody>
          <a:bodyPr/>
          <a:lstStyle/>
          <a:p>
            <a:r>
              <a:rPr lang="ru-RU" sz="2000" dirty="0"/>
              <a:t>Перейти до пункту "</a:t>
            </a:r>
            <a:r>
              <a:rPr lang="ru-RU" sz="2000" dirty="0" err="1"/>
              <a:t>Ролі</a:t>
            </a:r>
            <a:r>
              <a:rPr lang="ru-RU" sz="2000" dirty="0"/>
              <a:t>", </a:t>
            </a:r>
            <a:r>
              <a:rPr lang="ru-RU" sz="2000" dirty="0" err="1"/>
              <a:t>вибрати</a:t>
            </a:r>
            <a:r>
              <a:rPr lang="ru-RU" sz="2000" dirty="0"/>
              <a:t> поле "</a:t>
            </a:r>
            <a:r>
              <a:rPr lang="en-US" sz="2000" dirty="0"/>
              <a:t> </a:t>
            </a:r>
            <a:r>
              <a:rPr lang="ru-RU" sz="2000" b="1" dirty="0" err="1"/>
              <a:t>Додати</a:t>
            </a:r>
            <a:r>
              <a:rPr lang="ru-RU" sz="2000" b="1" dirty="0"/>
              <a:t> </a:t>
            </a:r>
            <a:r>
              <a:rPr lang="ru-RU" sz="2000" b="1" dirty="0" err="1"/>
              <a:t>ролі</a:t>
            </a:r>
            <a:r>
              <a:rPr lang="ru-RU" sz="2000" dirty="0"/>
              <a:t>”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9672" y="773629"/>
            <a:ext cx="619125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5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661248"/>
            <a:ext cx="8229600" cy="1037531"/>
          </a:xfrm>
        </p:spPr>
        <p:txBody>
          <a:bodyPr/>
          <a:lstStyle/>
          <a:p>
            <a:r>
              <a:rPr lang="ru-RU" sz="2000" dirty="0" err="1"/>
              <a:t>Вибрати</a:t>
            </a:r>
            <a:r>
              <a:rPr lang="ru-RU" sz="2000" dirty="0"/>
              <a:t> пункт "</a:t>
            </a:r>
            <a:r>
              <a:rPr lang="ru-RU" sz="2000" dirty="0" err="1"/>
              <a:t>Доменні</a:t>
            </a:r>
            <a:r>
              <a:rPr lang="ru-RU" sz="2000" dirty="0"/>
              <a:t> </a:t>
            </a:r>
            <a:r>
              <a:rPr lang="ru-RU" sz="2000" dirty="0" err="1"/>
              <a:t>служби</a:t>
            </a:r>
            <a:r>
              <a:rPr lang="ru-RU" sz="2000" dirty="0"/>
              <a:t> </a:t>
            </a:r>
            <a:r>
              <a:rPr lang="en-US" sz="2000" dirty="0"/>
              <a:t>Active Directory</a:t>
            </a:r>
            <a:r>
              <a:rPr lang="ru-RU" sz="2000" dirty="0"/>
              <a:t>" </a:t>
            </a:r>
            <a:r>
              <a:rPr lang="ru-RU" sz="2000" dirty="0" err="1"/>
              <a:t>двічі</a:t>
            </a:r>
            <a:r>
              <a:rPr lang="ru-RU" sz="2000" dirty="0"/>
              <a:t> </a:t>
            </a:r>
            <a:r>
              <a:rPr lang="ru-RU" sz="2000" dirty="0" err="1"/>
              <a:t>натиснути</a:t>
            </a:r>
            <a:r>
              <a:rPr lang="ru-RU" sz="2000" dirty="0"/>
              <a:t> "</a:t>
            </a:r>
            <a:r>
              <a:rPr lang="ru-RU" sz="2000" dirty="0" err="1"/>
              <a:t>Далі</a:t>
            </a:r>
            <a:r>
              <a:rPr lang="ru-RU" sz="2000" dirty="0"/>
              <a:t>", а </a:t>
            </a:r>
            <a:r>
              <a:rPr lang="ru-RU" sz="2000" dirty="0" err="1"/>
              <a:t>після</a:t>
            </a:r>
            <a:r>
              <a:rPr lang="ru-RU" sz="2000" dirty="0"/>
              <a:t> "</a:t>
            </a:r>
            <a:r>
              <a:rPr lang="ru-RU" sz="2000" dirty="0" err="1"/>
              <a:t>Встановити</a:t>
            </a:r>
            <a:r>
              <a:rPr lang="ru-RU" sz="2000" dirty="0"/>
              <a:t>"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86719" y="836712"/>
            <a:ext cx="61912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76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877272"/>
            <a:ext cx="8229600" cy="893515"/>
          </a:xfrm>
        </p:spPr>
        <p:txBody>
          <a:bodyPr/>
          <a:lstStyle/>
          <a:p>
            <a:r>
              <a:rPr lang="en-US" sz="2400" dirty="0" err="1"/>
              <a:t>Дочекатися</a:t>
            </a:r>
            <a:r>
              <a:rPr lang="en-US" sz="2400" dirty="0"/>
              <a:t> </a:t>
            </a:r>
            <a:r>
              <a:rPr lang="en-US" sz="2400" dirty="0" err="1"/>
              <a:t>закінчення</a:t>
            </a:r>
            <a:r>
              <a:rPr lang="en-US" sz="2400" dirty="0"/>
              <a:t> </a:t>
            </a:r>
            <a:r>
              <a:rPr lang="en-US" sz="2400" dirty="0" err="1"/>
              <a:t>установки</a:t>
            </a:r>
            <a:endParaRPr lang="en-US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5656" y="764704"/>
            <a:ext cx="61912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29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085185"/>
            <a:ext cx="8229600" cy="1325563"/>
          </a:xfrm>
        </p:spPr>
        <p:txBody>
          <a:bodyPr/>
          <a:lstStyle/>
          <a:p>
            <a:r>
              <a:rPr lang="ru-RU" sz="2000" dirty="0" err="1"/>
              <a:t>Відкрити</a:t>
            </a:r>
            <a:r>
              <a:rPr lang="ru-RU" sz="2000" dirty="0"/>
              <a:t> меню "Пуск" - "</a:t>
            </a:r>
            <a:r>
              <a:rPr lang="en-US" sz="2000" dirty="0"/>
              <a:t> </a:t>
            </a:r>
            <a:r>
              <a:rPr lang="ru-RU" sz="2000" b="1" dirty="0" err="1"/>
              <a:t>виконати</a:t>
            </a:r>
            <a:r>
              <a:rPr lang="ru-RU" sz="2000" dirty="0"/>
              <a:t>". В поле ввести </a:t>
            </a:r>
            <a:r>
              <a:rPr lang="en-US" sz="2000" dirty="0" err="1"/>
              <a:t>dcpromo</a:t>
            </a:r>
            <a:r>
              <a:rPr lang="ru-RU" sz="2000" dirty="0"/>
              <a:t>.</a:t>
            </a:r>
            <a:r>
              <a:rPr lang="en-US" sz="2000" dirty="0"/>
              <a:t>exe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31640" y="620688"/>
            <a:ext cx="61912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93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53" y="5877273"/>
            <a:ext cx="8229600" cy="677491"/>
          </a:xfrm>
        </p:spPr>
        <p:txBody>
          <a:bodyPr/>
          <a:lstStyle/>
          <a:p>
            <a:r>
              <a:rPr lang="en-US" sz="2400" dirty="0" err="1"/>
              <a:t>Клікнути</a:t>
            </a:r>
            <a:r>
              <a:rPr lang="en-US" sz="2400" dirty="0"/>
              <a:t> "</a:t>
            </a:r>
            <a:r>
              <a:rPr lang="en-US" sz="2400" dirty="0" err="1"/>
              <a:t>Далі</a:t>
            </a:r>
            <a:r>
              <a:rPr lang="en-US" sz="2400" dirty="0"/>
              <a:t>".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95736" y="908720"/>
            <a:ext cx="47910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266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805264"/>
            <a:ext cx="8229600" cy="1052736"/>
          </a:xfrm>
        </p:spPr>
        <p:txBody>
          <a:bodyPr/>
          <a:lstStyle/>
          <a:p>
            <a:r>
              <a:rPr lang="ru-RU" sz="2000" dirty="0" err="1"/>
              <a:t>Вибрати</a:t>
            </a:r>
            <a:r>
              <a:rPr lang="ru-RU" sz="2000" dirty="0"/>
              <a:t> пункт "</a:t>
            </a:r>
            <a:r>
              <a:rPr lang="en-US" sz="2000" dirty="0"/>
              <a:t> </a:t>
            </a:r>
            <a:r>
              <a:rPr lang="ru-RU" sz="2000" b="1" dirty="0" err="1"/>
              <a:t>Створити</a:t>
            </a:r>
            <a:r>
              <a:rPr lang="ru-RU" sz="2000" b="1" dirty="0"/>
              <a:t> </a:t>
            </a:r>
            <a:r>
              <a:rPr lang="ru-RU" sz="2000" b="1" dirty="0" err="1"/>
              <a:t>новий</a:t>
            </a:r>
            <a:r>
              <a:rPr lang="ru-RU" sz="2000" b="1" dirty="0"/>
              <a:t> домен у новому </a:t>
            </a:r>
            <a:r>
              <a:rPr lang="ru-RU" sz="2000" b="1" dirty="0" err="1" smtClean="0"/>
              <a:t>лісі</a:t>
            </a:r>
            <a:r>
              <a:rPr lang="ru-RU" sz="2000" dirty="0" smtClean="0"/>
              <a:t>" І </a:t>
            </a:r>
            <a:r>
              <a:rPr lang="ru-RU" sz="2000" dirty="0" err="1"/>
              <a:t>знову</a:t>
            </a:r>
            <a:r>
              <a:rPr lang="ru-RU" sz="2000" dirty="0"/>
              <a:t> </a:t>
            </a:r>
            <a:r>
              <a:rPr lang="ru-RU" sz="2000" dirty="0" err="1" smtClean="0"/>
              <a:t>натиснути</a:t>
            </a:r>
            <a:r>
              <a:rPr lang="ru-RU" sz="2000" dirty="0" smtClean="0"/>
              <a:t> "</a:t>
            </a:r>
            <a:r>
              <a:rPr lang="ru-RU" sz="2000" dirty="0" err="1" smtClean="0"/>
              <a:t>Далі</a:t>
            </a:r>
            <a:r>
              <a:rPr lang="ru-RU" sz="2000" dirty="0" smtClean="0"/>
              <a:t> </a:t>
            </a:r>
            <a:r>
              <a:rPr lang="ru-RU" sz="2000" dirty="0"/>
              <a:t>".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76462" y="1162050"/>
            <a:ext cx="47910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92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532437"/>
            <a:ext cx="8229600" cy="1325563"/>
          </a:xfrm>
        </p:spPr>
        <p:txBody>
          <a:bodyPr/>
          <a:lstStyle/>
          <a:p>
            <a:r>
              <a:rPr lang="ru-RU" sz="2000" dirty="0"/>
              <a:t>У </a:t>
            </a:r>
            <a:r>
              <a:rPr lang="ru-RU" sz="2000" dirty="0" err="1"/>
              <a:t>наступному</a:t>
            </a:r>
            <a:r>
              <a:rPr lang="ru-RU" sz="2000" dirty="0"/>
              <a:t> </a:t>
            </a:r>
            <a:r>
              <a:rPr lang="ru-RU" sz="2000" dirty="0" err="1"/>
              <a:t>вікні</a:t>
            </a:r>
            <a:r>
              <a:rPr lang="ru-RU" sz="2000" dirty="0"/>
              <a:t> ввести </a:t>
            </a:r>
            <a:r>
              <a:rPr lang="ru-RU" sz="2000" dirty="0" err="1"/>
              <a:t>назву</a:t>
            </a:r>
            <a:r>
              <a:rPr lang="ru-RU" sz="2000" dirty="0"/>
              <a:t>, </a:t>
            </a:r>
            <a:r>
              <a:rPr lang="ru-RU" sz="2000" dirty="0" err="1"/>
              <a:t>натиснути</a:t>
            </a:r>
            <a:r>
              <a:rPr lang="ru-RU" sz="2000" dirty="0"/>
              <a:t> "</a:t>
            </a:r>
            <a:r>
              <a:rPr lang="ru-RU" sz="2000" dirty="0" err="1"/>
              <a:t>Далі</a:t>
            </a:r>
            <a:r>
              <a:rPr lang="ru-RU" sz="2000" dirty="0"/>
              <a:t>".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76462" y="839575"/>
            <a:ext cx="5131842" cy="485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62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733256"/>
            <a:ext cx="8229600" cy="893515"/>
          </a:xfrm>
        </p:spPr>
        <p:txBody>
          <a:bodyPr/>
          <a:lstStyle/>
          <a:p>
            <a:r>
              <a:rPr lang="ru-RU" sz="2000" dirty="0" err="1" smtClean="0"/>
              <a:t>Вибрати</a:t>
            </a:r>
            <a:r>
              <a:rPr lang="en-US" sz="2000" dirty="0" smtClean="0"/>
              <a:t> </a:t>
            </a:r>
            <a:r>
              <a:rPr lang="en-US" sz="2000" dirty="0"/>
              <a:t> </a:t>
            </a:r>
            <a:r>
              <a:rPr lang="ru-RU" sz="2000" b="1" dirty="0"/>
              <a:t>режим </a:t>
            </a:r>
            <a:r>
              <a:rPr lang="ru-RU" sz="2000" b="1" dirty="0" err="1"/>
              <a:t>сумісності</a:t>
            </a:r>
            <a:r>
              <a:rPr lang="en-US" sz="2000" dirty="0"/>
              <a:t> </a:t>
            </a:r>
            <a:r>
              <a:rPr lang="ru-RU" sz="2000" dirty="0"/>
              <a:t>(</a:t>
            </a:r>
            <a:r>
              <a:rPr lang="en-US" sz="2000" dirty="0"/>
              <a:t>Windows Server</a:t>
            </a:r>
            <a:r>
              <a:rPr lang="ru-RU" sz="2000" dirty="0"/>
              <a:t> </a:t>
            </a:r>
            <a:r>
              <a:rPr lang="ru-RU" sz="2000" dirty="0" smtClean="0"/>
              <a:t>8).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76462" y="1162050"/>
            <a:ext cx="47910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993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6165304"/>
            <a:ext cx="8229600" cy="692696"/>
          </a:xfrm>
        </p:spPr>
        <p:txBody>
          <a:bodyPr/>
          <a:lstStyle/>
          <a:p>
            <a:r>
              <a:rPr lang="ru-RU" sz="2000" dirty="0"/>
              <a:t>У </a:t>
            </a:r>
            <a:r>
              <a:rPr lang="ru-RU" sz="2000" dirty="0" err="1"/>
              <a:t>наступному</a:t>
            </a:r>
            <a:r>
              <a:rPr lang="ru-RU" sz="2000" dirty="0"/>
              <a:t> </a:t>
            </a:r>
            <a:r>
              <a:rPr lang="ru-RU" sz="2000" dirty="0" err="1"/>
              <a:t>вікні</a:t>
            </a:r>
            <a:r>
              <a:rPr lang="ru-RU" sz="2000" dirty="0"/>
              <a:t> </a:t>
            </a:r>
            <a:r>
              <a:rPr lang="ru-RU" sz="2000" dirty="0" err="1"/>
              <a:t>залишити</a:t>
            </a:r>
            <a:r>
              <a:rPr lang="ru-RU" sz="2000" dirty="0"/>
              <a:t> все за </a:t>
            </a:r>
            <a:r>
              <a:rPr lang="ru-RU" sz="2000" dirty="0" err="1"/>
              <a:t>умовчанням</a:t>
            </a:r>
            <a:r>
              <a:rPr lang="ru-RU" sz="2000" dirty="0"/>
              <a:t>.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76462" y="1162050"/>
            <a:ext cx="47910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833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093296"/>
            <a:ext cx="8229600" cy="764704"/>
          </a:xfrm>
        </p:spPr>
        <p:txBody>
          <a:bodyPr/>
          <a:lstStyle/>
          <a:p>
            <a:r>
              <a:rPr lang="en-US" sz="2000" dirty="0" err="1"/>
              <a:t>Вибрати</a:t>
            </a:r>
            <a:r>
              <a:rPr lang="en-US" sz="2000" dirty="0"/>
              <a:t> </a:t>
            </a:r>
            <a:r>
              <a:rPr lang="en-US" sz="2000" dirty="0" err="1"/>
              <a:t>директорію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установки</a:t>
            </a:r>
            <a:r>
              <a:rPr lang="en-US" sz="2000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76462" y="1162050"/>
            <a:ext cx="47910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71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6021288"/>
            <a:ext cx="8229600" cy="825897"/>
          </a:xfrm>
        </p:spPr>
        <p:txBody>
          <a:bodyPr/>
          <a:lstStyle/>
          <a:p>
            <a:r>
              <a:rPr lang="ru-RU" sz="2000" dirty="0"/>
              <a:t>Для </a:t>
            </a:r>
            <a:r>
              <a:rPr lang="ru-RU" sz="2000" dirty="0" err="1"/>
              <a:t>надійності</a:t>
            </a:r>
            <a:r>
              <a:rPr lang="ru-RU" sz="2000" dirty="0"/>
              <a:t> пароль повинен </a:t>
            </a:r>
            <a:r>
              <a:rPr lang="ru-RU" sz="2000" dirty="0" err="1"/>
              <a:t>відповідати</a:t>
            </a:r>
            <a:r>
              <a:rPr lang="ru-RU" sz="2000" dirty="0"/>
              <a:t> </a:t>
            </a:r>
            <a:r>
              <a:rPr lang="uk-UA" sz="2000" dirty="0" smtClean="0"/>
              <a:t>певним</a:t>
            </a:r>
            <a:r>
              <a:rPr lang="ru-RU" sz="2000" dirty="0" smtClean="0"/>
              <a:t> </a:t>
            </a:r>
            <a:r>
              <a:rPr lang="ru-RU" sz="2000" dirty="0" err="1" smtClean="0"/>
              <a:t>вимогам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76462" y="1162050"/>
            <a:ext cx="47910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73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805264"/>
            <a:ext cx="8229600" cy="1024186"/>
          </a:xfrm>
        </p:spPr>
        <p:txBody>
          <a:bodyPr/>
          <a:lstStyle/>
          <a:p>
            <a:r>
              <a:rPr lang="ru-RU" sz="2000" dirty="0" err="1"/>
              <a:t>Після</a:t>
            </a:r>
            <a:r>
              <a:rPr lang="ru-RU" sz="2000" dirty="0"/>
              <a:t> того як </a:t>
            </a:r>
            <a:r>
              <a:rPr lang="en-US" sz="2000" dirty="0"/>
              <a:t>AD</a:t>
            </a:r>
            <a:r>
              <a:rPr lang="ru-RU" sz="2000" dirty="0"/>
              <a:t> завершить </a:t>
            </a:r>
            <a:r>
              <a:rPr lang="ru-RU" sz="2000" dirty="0" err="1"/>
              <a:t>процес</a:t>
            </a:r>
            <a:r>
              <a:rPr lang="ru-RU" sz="2000" dirty="0"/>
              <a:t> </a:t>
            </a:r>
            <a:r>
              <a:rPr lang="ru-RU" sz="2000" dirty="0" err="1"/>
              <a:t>налаштування</a:t>
            </a:r>
            <a:r>
              <a:rPr lang="ru-RU" sz="2000" dirty="0"/>
              <a:t> </a:t>
            </a:r>
            <a:r>
              <a:rPr lang="ru-RU" sz="2000" dirty="0" err="1"/>
              <a:t>компонентів</a:t>
            </a:r>
            <a:r>
              <a:rPr lang="ru-RU" sz="2000" dirty="0"/>
              <a:t>, </a:t>
            </a:r>
            <a:r>
              <a:rPr lang="ru-RU" sz="2000" dirty="0" err="1"/>
              <a:t>необхідно</a:t>
            </a:r>
            <a:r>
              <a:rPr lang="ru-RU" sz="2000" dirty="0"/>
              <a:t> </a:t>
            </a:r>
            <a:r>
              <a:rPr lang="ru-RU" sz="2000" dirty="0" err="1"/>
              <a:t>перезавантажити</a:t>
            </a:r>
            <a:r>
              <a:rPr lang="ru-RU" sz="2000" dirty="0"/>
              <a:t> </a:t>
            </a:r>
            <a:r>
              <a:rPr lang="ru-RU" sz="2000" dirty="0" smtClean="0"/>
              <a:t>сервер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76462" y="1162050"/>
            <a:ext cx="47910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55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532437"/>
            <a:ext cx="8229600" cy="1325563"/>
          </a:xfrm>
        </p:spPr>
        <p:txBody>
          <a:bodyPr/>
          <a:lstStyle/>
          <a:p>
            <a:r>
              <a:rPr lang="ru-RU" sz="2000" dirty="0" err="1"/>
              <a:t>Налаштування</a:t>
            </a:r>
            <a:r>
              <a:rPr lang="ru-RU" sz="2000" dirty="0"/>
              <a:t> завершено, </a:t>
            </a:r>
            <a:r>
              <a:rPr lang="ru-RU" sz="2000" dirty="0" err="1"/>
              <a:t>оснащення</a:t>
            </a:r>
            <a:r>
              <a:rPr lang="ru-RU" sz="2000" dirty="0"/>
              <a:t> та роль </a:t>
            </a:r>
            <a:r>
              <a:rPr lang="ru-RU" sz="2000" dirty="0" err="1"/>
              <a:t>встановлені</a:t>
            </a:r>
            <a:r>
              <a:rPr lang="ru-RU" sz="2000" dirty="0"/>
              <a:t> в систему. </a:t>
            </a:r>
            <a:r>
              <a:rPr lang="ru-RU" sz="2000" dirty="0" err="1"/>
              <a:t>Встановити</a:t>
            </a:r>
            <a:r>
              <a:rPr lang="ru-RU" sz="2000" dirty="0"/>
              <a:t> </a:t>
            </a:r>
            <a:r>
              <a:rPr lang="en-US" sz="2000" dirty="0"/>
              <a:t>AD</a:t>
            </a:r>
            <a:r>
              <a:rPr lang="ru-RU" sz="2000" dirty="0"/>
              <a:t> </a:t>
            </a:r>
            <a:r>
              <a:rPr lang="ru-RU" sz="2000" dirty="0" err="1"/>
              <a:t>можна</a:t>
            </a:r>
            <a:r>
              <a:rPr lang="ru-RU" sz="2000" dirty="0"/>
              <a:t> </a:t>
            </a:r>
            <a:r>
              <a:rPr lang="ru-RU" sz="2000" dirty="0" err="1"/>
              <a:t>тільки</a:t>
            </a:r>
            <a:r>
              <a:rPr lang="ru-RU" sz="2000" dirty="0"/>
              <a:t> на </a:t>
            </a:r>
            <a:r>
              <a:rPr lang="en-US" sz="2000" dirty="0"/>
              <a:t>Windows</a:t>
            </a:r>
            <a:r>
              <a:rPr lang="ru-RU" sz="2000" dirty="0"/>
              <a:t> </a:t>
            </a:r>
            <a:r>
              <a:rPr lang="ru-RU" sz="2000" dirty="0" err="1"/>
              <a:t>сімейства</a:t>
            </a:r>
            <a:r>
              <a:rPr lang="ru-RU" sz="2000" dirty="0"/>
              <a:t> </a:t>
            </a:r>
            <a:r>
              <a:rPr lang="en-US" sz="2000" dirty="0" smtClean="0"/>
              <a:t>Server</a:t>
            </a:r>
            <a:endParaRPr lang="en-US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23728" y="836712"/>
            <a:ext cx="479107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342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6632"/>
            <a:ext cx="8856984" cy="662473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dirty="0" err="1"/>
              <a:t>Включаємо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ru-RU" dirty="0"/>
              <a:t>Для </a:t>
            </a:r>
            <a:r>
              <a:rPr lang="ru-RU" dirty="0" err="1"/>
              <a:t>нашого</a:t>
            </a:r>
            <a:r>
              <a:rPr lang="ru-RU" dirty="0"/>
              <a:t> стенду нам </a:t>
            </a:r>
            <a:r>
              <a:rPr lang="ru-RU" dirty="0" err="1"/>
              <a:t>доведеться</a:t>
            </a:r>
            <a:r>
              <a:rPr lang="ru-RU" dirty="0"/>
              <a:t> </a:t>
            </a:r>
            <a:r>
              <a:rPr lang="ru-RU" dirty="0" err="1"/>
              <a:t>включити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 (</a:t>
            </a:r>
            <a:r>
              <a:rPr lang="ru-RU" dirty="0" err="1"/>
              <a:t>або</a:t>
            </a:r>
            <a:r>
              <a:rPr lang="ru-RU" dirty="0"/>
              <a:t>, як вони тут </a:t>
            </a:r>
            <a:r>
              <a:rPr lang="ru-RU" dirty="0" err="1"/>
              <a:t>називаються</a:t>
            </a:r>
            <a:r>
              <a:rPr lang="ru-RU" dirty="0"/>
              <a:t>, </a:t>
            </a:r>
            <a:r>
              <a:rPr lang="ru-RU" dirty="0" err="1"/>
              <a:t>ролі</a:t>
            </a:r>
            <a:r>
              <a:rPr lang="ru-RU" dirty="0"/>
              <a:t>) на 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Server</a:t>
            </a:r>
            <a:r>
              <a:rPr lang="ru-RU" dirty="0"/>
              <a:t>:</a:t>
            </a:r>
            <a:endParaRPr lang="uk-UA" dirty="0"/>
          </a:p>
          <a:p>
            <a:pPr marL="0" lvl="0" indent="0">
              <a:buNone/>
            </a:pPr>
            <a:r>
              <a:rPr lang="ru-RU" dirty="0" err="1"/>
              <a:t>Доменні</a:t>
            </a:r>
            <a:r>
              <a:rPr lang="ru-RU" dirty="0"/>
              <a:t> </a:t>
            </a:r>
            <a:r>
              <a:rPr lang="ru-RU" dirty="0" err="1"/>
              <a:t>служби</a:t>
            </a:r>
            <a:r>
              <a:rPr lang="ru-RU" dirty="0"/>
              <a:t>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;</a:t>
            </a:r>
            <a:endParaRPr lang="uk-UA" dirty="0"/>
          </a:p>
          <a:p>
            <a:pPr marL="0" lvl="0" indent="0">
              <a:buNone/>
            </a:pPr>
            <a:r>
              <a:rPr lang="ru-RU" dirty="0"/>
              <a:t>DNS-сервер;</a:t>
            </a:r>
            <a:endParaRPr lang="uk-UA" dirty="0"/>
          </a:p>
          <a:p>
            <a:pPr marL="0" lvl="0" indent="0">
              <a:buNone/>
            </a:pPr>
            <a:r>
              <a:rPr lang="ru-RU" dirty="0"/>
              <a:t>DHCP сервер.</a:t>
            </a:r>
            <a:endParaRPr lang="uk-UA" dirty="0"/>
          </a:p>
          <a:p>
            <a:pPr marL="0" indent="0">
              <a:buNone/>
            </a:pPr>
            <a:r>
              <a:rPr lang="ru-RU" dirty="0" err="1"/>
              <a:t>Доменні</a:t>
            </a:r>
            <a:r>
              <a:rPr lang="ru-RU" dirty="0"/>
              <a:t> </a:t>
            </a:r>
            <a:r>
              <a:rPr lang="ru-RU" dirty="0" err="1"/>
              <a:t>служби</a:t>
            </a:r>
            <a:r>
              <a:rPr lang="ru-RU" dirty="0"/>
              <a:t>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endParaRPr lang="uk-UA" b="1" dirty="0"/>
          </a:p>
          <a:p>
            <a:pPr marL="0" indent="0">
              <a:buNone/>
            </a:pPr>
            <a:r>
              <a:rPr lang="ru-RU" dirty="0" err="1"/>
              <a:t>Ця</a:t>
            </a:r>
            <a:r>
              <a:rPr lang="ru-RU" dirty="0"/>
              <a:t> роль </a:t>
            </a:r>
            <a:r>
              <a:rPr lang="ru-RU" dirty="0" err="1"/>
              <a:t>фактично</a:t>
            </a:r>
            <a:r>
              <a:rPr lang="ru-RU" dirty="0"/>
              <a:t> "</a:t>
            </a:r>
            <a:r>
              <a:rPr lang="ru-RU" dirty="0" err="1"/>
              <a:t>включає</a:t>
            </a:r>
            <a:r>
              <a:rPr lang="ru-RU" dirty="0"/>
              <a:t>" </a:t>
            </a:r>
            <a:r>
              <a:rPr lang="ru-RU" dirty="0" err="1"/>
              <a:t>технологію</a:t>
            </a:r>
            <a:r>
              <a:rPr lang="ru-RU" dirty="0"/>
              <a:t>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 на </a:t>
            </a:r>
            <a:r>
              <a:rPr lang="ru-RU" dirty="0" err="1"/>
              <a:t>сервері</a:t>
            </a:r>
            <a:r>
              <a:rPr lang="ru-RU" dirty="0"/>
              <a:t> і </a:t>
            </a:r>
            <a:r>
              <a:rPr lang="ru-RU" dirty="0" err="1"/>
              <a:t>робить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контролером домену (</a:t>
            </a:r>
            <a:r>
              <a:rPr lang="ru-RU" dirty="0" err="1"/>
              <a:t>під</a:t>
            </a:r>
            <a:r>
              <a:rPr lang="ru-RU" dirty="0"/>
              <a:t> </a:t>
            </a:r>
            <a:r>
              <a:rPr lang="ru-RU" i="1" dirty="0"/>
              <a:t>доменом</a:t>
            </a:r>
            <a:r>
              <a:rPr lang="ru-RU" dirty="0"/>
              <a:t> </a:t>
            </a:r>
            <a:r>
              <a:rPr lang="ru-RU" dirty="0" err="1"/>
              <a:t>технології</a:t>
            </a:r>
            <a:r>
              <a:rPr lang="ru-RU" dirty="0"/>
              <a:t> AD </a:t>
            </a:r>
            <a:r>
              <a:rPr lang="ru-RU" dirty="0" err="1"/>
              <a:t>розуміється</a:t>
            </a:r>
            <a:r>
              <a:rPr lang="ru-RU" dirty="0"/>
              <a:t> </a:t>
            </a:r>
            <a:r>
              <a:rPr lang="ru-RU" dirty="0" err="1"/>
              <a:t>група</a:t>
            </a:r>
            <a:r>
              <a:rPr lang="ru-RU" dirty="0"/>
              <a:t> </a:t>
            </a:r>
            <a:r>
              <a:rPr lang="ru-RU" dirty="0" err="1"/>
              <a:t>логічно</a:t>
            </a:r>
            <a:r>
              <a:rPr lang="ru-RU" dirty="0"/>
              <a:t> </a:t>
            </a:r>
            <a:r>
              <a:rPr lang="ru-RU" dirty="0" err="1"/>
              <a:t>пов'язаних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r>
              <a:rPr lang="ru-RU" dirty="0"/>
              <a:t>).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цій</a:t>
            </a:r>
            <a:r>
              <a:rPr lang="ru-RU" dirty="0"/>
              <a:t> </a:t>
            </a:r>
            <a:r>
              <a:rPr lang="ru-RU" dirty="0" err="1"/>
              <a:t>ролі</a:t>
            </a:r>
            <a:r>
              <a:rPr lang="ru-RU" dirty="0"/>
              <a:t> </a:t>
            </a:r>
            <a:r>
              <a:rPr lang="ru-RU" dirty="0" err="1"/>
              <a:t>адміністратор</a:t>
            </a:r>
            <a:r>
              <a:rPr lang="ru-RU" dirty="0"/>
              <a:t> </a:t>
            </a:r>
            <a:r>
              <a:rPr lang="ru-RU" dirty="0" err="1"/>
              <a:t>отримує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керувати</a:t>
            </a:r>
            <a:r>
              <a:rPr lang="ru-RU" dirty="0"/>
              <a:t> </a:t>
            </a:r>
            <a:r>
              <a:rPr lang="ru-RU" dirty="0" err="1"/>
              <a:t>об'єктами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r>
              <a:rPr lang="ru-RU" dirty="0"/>
              <a:t>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</a:t>
            </a:r>
            <a:r>
              <a:rPr lang="ru-RU" dirty="0" err="1"/>
              <a:t>інформацію</a:t>
            </a:r>
            <a:r>
              <a:rPr lang="ru-RU" dirty="0"/>
              <a:t> про них у </a:t>
            </a:r>
            <a:r>
              <a:rPr lang="ru-RU" dirty="0" err="1"/>
              <a:t>спеціальній</a:t>
            </a:r>
            <a:r>
              <a:rPr lang="ru-RU" dirty="0"/>
              <a:t> </a:t>
            </a:r>
            <a:r>
              <a:rPr lang="ru-RU" dirty="0" err="1"/>
              <a:t>розподіленій</a:t>
            </a:r>
            <a:r>
              <a:rPr lang="ru-RU" dirty="0"/>
              <a:t> </a:t>
            </a:r>
            <a:r>
              <a:rPr lang="ru-RU" dirty="0" err="1"/>
              <a:t>базі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</a:t>
            </a:r>
            <a:endParaRPr lang="uk-UA" dirty="0"/>
          </a:p>
          <a:p>
            <a:pPr marL="0" indent="0">
              <a:buNone/>
            </a:pPr>
            <a:r>
              <a:rPr lang="ru-RU" dirty="0"/>
              <a:t> </a:t>
            </a:r>
            <a:endParaRPr lang="uk-UA" dirty="0"/>
          </a:p>
          <a:p>
            <a:pPr marL="0" indent="0">
              <a:buNone/>
            </a:pPr>
            <a:r>
              <a:rPr lang="ru-RU" dirty="0" err="1"/>
              <a:t>Ця</a:t>
            </a:r>
            <a:r>
              <a:rPr lang="ru-RU" dirty="0"/>
              <a:t> база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всю </a:t>
            </a:r>
            <a:r>
              <a:rPr lang="ru-RU" dirty="0" err="1"/>
              <a:t>інформацію</a:t>
            </a:r>
            <a:r>
              <a:rPr lang="ru-RU" dirty="0"/>
              <a:t> про </a:t>
            </a:r>
            <a:r>
              <a:rPr lang="ru-RU" dirty="0" err="1"/>
              <a:t>об'єкти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саме</a:t>
            </a:r>
            <a:r>
              <a:rPr lang="ru-RU" dirty="0"/>
              <a:t> до </a:t>
            </a:r>
            <a:r>
              <a:rPr lang="ru-RU" dirty="0" err="1"/>
              <a:t>неї</a:t>
            </a:r>
            <a:r>
              <a:rPr lang="ru-RU" dirty="0"/>
              <a:t> заноситься </a:t>
            </a:r>
            <a:r>
              <a:rPr lang="ru-RU" dirty="0" err="1"/>
              <a:t>інформація</a:t>
            </a:r>
            <a:r>
              <a:rPr lang="ru-RU" dirty="0"/>
              <a:t> про </a:t>
            </a:r>
            <a:r>
              <a:rPr lang="ru-RU" dirty="0" err="1"/>
              <a:t>облікові</a:t>
            </a:r>
            <a:r>
              <a:rPr lang="ru-RU" dirty="0"/>
              <a:t> записи </a:t>
            </a:r>
            <a:r>
              <a:rPr lang="ru-RU" dirty="0" err="1"/>
              <a:t>користувачів</a:t>
            </a:r>
            <a:r>
              <a:rPr lang="ru-RU" dirty="0"/>
              <a:t>). Коли </a:t>
            </a:r>
            <a:r>
              <a:rPr lang="ru-RU" dirty="0" err="1"/>
              <a:t>людина</a:t>
            </a:r>
            <a:r>
              <a:rPr lang="ru-RU" dirty="0"/>
              <a:t> </a:t>
            </a:r>
            <a:r>
              <a:rPr lang="ru-RU" dirty="0" err="1"/>
              <a:t>підходить</a:t>
            </a:r>
            <a:r>
              <a:rPr lang="ru-RU" dirty="0"/>
              <a:t> до </a:t>
            </a:r>
            <a:r>
              <a:rPr lang="ru-RU" dirty="0" err="1"/>
              <a:t>робочої</a:t>
            </a:r>
            <a:r>
              <a:rPr lang="ru-RU" dirty="0"/>
              <a:t> </a:t>
            </a:r>
            <a:r>
              <a:rPr lang="ru-RU" dirty="0" err="1"/>
              <a:t>станції</a:t>
            </a:r>
            <a:r>
              <a:rPr lang="ru-RU" dirty="0"/>
              <a:t> і </a:t>
            </a:r>
            <a:r>
              <a:rPr lang="ru-RU" dirty="0" err="1"/>
              <a:t>намагається</a:t>
            </a:r>
            <a:r>
              <a:rPr lang="ru-RU" dirty="0"/>
              <a:t> </a:t>
            </a:r>
            <a:r>
              <a:rPr lang="ru-RU" dirty="0" err="1"/>
              <a:t>виконати</a:t>
            </a:r>
            <a:r>
              <a:rPr lang="ru-RU" dirty="0"/>
              <a:t> </a:t>
            </a:r>
            <a:r>
              <a:rPr lang="ru-RU" dirty="0" err="1"/>
              <a:t>вхід</a:t>
            </a:r>
            <a:r>
              <a:rPr lang="ru-RU" dirty="0"/>
              <a:t> у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доменний</a:t>
            </a:r>
            <a:r>
              <a:rPr lang="ru-RU" dirty="0"/>
              <a:t> </a:t>
            </a:r>
            <a:r>
              <a:rPr lang="ru-RU" dirty="0" err="1"/>
              <a:t>обліковий</a:t>
            </a:r>
            <a:r>
              <a:rPr lang="ru-RU" dirty="0"/>
              <a:t> </a:t>
            </a:r>
            <a:r>
              <a:rPr lang="ru-RU" dirty="0" err="1"/>
              <a:t>запис</a:t>
            </a:r>
            <a:r>
              <a:rPr lang="ru-RU" dirty="0"/>
              <a:t>, </a:t>
            </a:r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робоча</a:t>
            </a:r>
            <a:r>
              <a:rPr lang="ru-RU" dirty="0"/>
              <a:t> </a:t>
            </a:r>
            <a:r>
              <a:rPr lang="ru-RU" dirty="0" err="1"/>
              <a:t>станція</a:t>
            </a:r>
            <a:r>
              <a:rPr lang="ru-RU" dirty="0"/>
              <a:t> </a:t>
            </a:r>
            <a:r>
              <a:rPr lang="ru-RU" dirty="0" err="1"/>
              <a:t>зв'язується</a:t>
            </a:r>
            <a:r>
              <a:rPr lang="ru-RU" dirty="0"/>
              <a:t> з контролером домену </a:t>
            </a:r>
            <a:r>
              <a:rPr lang="ru-RU" dirty="0" err="1"/>
              <a:t>із</a:t>
            </a:r>
            <a:r>
              <a:rPr lang="ru-RU" dirty="0"/>
              <a:t> запитом на </a:t>
            </a:r>
            <a:r>
              <a:rPr lang="ru-RU" dirty="0" err="1"/>
              <a:t>автентифікацію</a:t>
            </a:r>
            <a:r>
              <a:rPr lang="ru-RU" dirty="0"/>
              <a:t>, і в </a:t>
            </a:r>
            <a:r>
              <a:rPr lang="ru-RU" dirty="0" err="1"/>
              <a:t>разі</a:t>
            </a:r>
            <a:r>
              <a:rPr lang="ru-RU" dirty="0"/>
              <a:t> </a:t>
            </a:r>
            <a:r>
              <a:rPr lang="ru-RU" dirty="0" err="1"/>
              <a:t>успіху</a:t>
            </a:r>
            <a:r>
              <a:rPr lang="ru-RU" dirty="0"/>
              <a:t> </a:t>
            </a:r>
            <a:r>
              <a:rPr lang="ru-RU" dirty="0" err="1"/>
              <a:t>завантажує</a:t>
            </a:r>
            <a:r>
              <a:rPr lang="ru-RU" dirty="0"/>
              <a:t> </a:t>
            </a:r>
            <a:r>
              <a:rPr lang="ru-RU" dirty="0" err="1"/>
              <a:t>робочий</a:t>
            </a:r>
            <a:r>
              <a:rPr lang="ru-RU" dirty="0"/>
              <a:t> </a:t>
            </a:r>
            <a:r>
              <a:rPr lang="ru-RU" dirty="0" err="1"/>
              <a:t>стіл</a:t>
            </a:r>
            <a:r>
              <a:rPr lang="ru-RU" dirty="0"/>
              <a:t>.</a:t>
            </a:r>
            <a:endParaRPr lang="uk-UA" dirty="0"/>
          </a:p>
          <a:p>
            <a:pPr marL="0" indent="0">
              <a:buNone/>
            </a:pPr>
            <a:r>
              <a:rPr lang="ru-RU" dirty="0"/>
              <a:t> </a:t>
            </a:r>
            <a:endParaRPr lang="uk-UA" dirty="0"/>
          </a:p>
          <a:p>
            <a:pPr marL="0" indent="0">
              <a:buNone/>
            </a:pPr>
            <a:r>
              <a:rPr lang="ru-RU" dirty="0" err="1"/>
              <a:t>Однак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робити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контролер домену </a:t>
            </a:r>
            <a:r>
              <a:rPr lang="ru-RU" dirty="0" err="1"/>
              <a:t>вийде</a:t>
            </a:r>
            <a:r>
              <a:rPr lang="ru-RU" dirty="0"/>
              <a:t> з ладу (</a:t>
            </a:r>
            <a:r>
              <a:rPr lang="ru-RU" dirty="0" err="1"/>
              <a:t>або</a:t>
            </a:r>
            <a:r>
              <a:rPr lang="ru-RU" dirty="0"/>
              <a:t> просто буде </a:t>
            </a:r>
            <a:r>
              <a:rPr lang="ru-RU" dirty="0" err="1"/>
              <a:t>недоступний</a:t>
            </a:r>
            <a:r>
              <a:rPr lang="ru-RU" dirty="0"/>
              <a:t> для </a:t>
            </a:r>
            <a:r>
              <a:rPr lang="ru-RU" dirty="0" err="1"/>
              <a:t>робочих</a:t>
            </a:r>
            <a:r>
              <a:rPr lang="ru-RU" dirty="0"/>
              <a:t> </a:t>
            </a:r>
            <a:r>
              <a:rPr lang="ru-RU" dirty="0" err="1"/>
              <a:t>станцій</a:t>
            </a:r>
            <a:r>
              <a:rPr lang="ru-RU" dirty="0"/>
              <a:t>)?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налаштували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один контролер домену, то </a:t>
            </a:r>
            <a:r>
              <a:rPr lang="ru-RU" dirty="0" err="1"/>
              <a:t>ваші</a:t>
            </a:r>
            <a:r>
              <a:rPr lang="ru-RU" dirty="0"/>
              <a:t> </a:t>
            </a:r>
            <a:r>
              <a:rPr lang="ru-RU" dirty="0" err="1"/>
              <a:t>справи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/>
              <a:t>погані</a:t>
            </a:r>
            <a:r>
              <a:rPr lang="ru-RU" dirty="0"/>
              <a:t> - без </a:t>
            </a:r>
            <a:r>
              <a:rPr lang="ru-RU" dirty="0" err="1"/>
              <a:t>зв'язку</a:t>
            </a:r>
            <a:r>
              <a:rPr lang="ru-RU" dirty="0"/>
              <a:t> з </a:t>
            </a:r>
            <a:r>
              <a:rPr lang="ru-RU" dirty="0" err="1"/>
              <a:t>робочим</a:t>
            </a:r>
            <a:r>
              <a:rPr lang="ru-RU" dirty="0"/>
              <a:t> контролером домену </a:t>
            </a:r>
            <a:r>
              <a:rPr lang="ru-RU" dirty="0" err="1"/>
              <a:t>користувачі</a:t>
            </a:r>
            <a:r>
              <a:rPr lang="ru-RU" dirty="0"/>
              <a:t> не </a:t>
            </a:r>
            <a:r>
              <a:rPr lang="ru-RU" dirty="0" err="1"/>
              <a:t>зможуть</a:t>
            </a:r>
            <a:r>
              <a:rPr lang="ru-RU" dirty="0"/>
              <a:t> </a:t>
            </a:r>
            <a:r>
              <a:rPr lang="ru-RU" dirty="0" err="1"/>
              <a:t>виконати</a:t>
            </a:r>
            <a:r>
              <a:rPr lang="ru-RU" dirty="0"/>
              <a:t> </a:t>
            </a:r>
            <a:r>
              <a:rPr lang="ru-RU" dirty="0" err="1"/>
              <a:t>вхід</a:t>
            </a:r>
            <a:r>
              <a:rPr lang="ru-RU" dirty="0"/>
              <a:t> на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робочі</a:t>
            </a:r>
            <a:r>
              <a:rPr lang="ru-RU" dirty="0"/>
              <a:t> </a:t>
            </a:r>
            <a:r>
              <a:rPr lang="ru-RU" dirty="0" err="1"/>
              <a:t>місця</a:t>
            </a:r>
            <a:r>
              <a:rPr lang="ru-RU" dirty="0"/>
              <a:t>. Тому в </a:t>
            </a:r>
            <a:r>
              <a:rPr lang="ru-RU" dirty="0" err="1"/>
              <a:t>реальних</a:t>
            </a:r>
            <a:r>
              <a:rPr lang="ru-RU" dirty="0"/>
              <a:t> мережах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рекомендується</a:t>
            </a:r>
            <a:r>
              <a:rPr lang="ru-RU" dirty="0"/>
              <a:t> </a:t>
            </a:r>
            <a:r>
              <a:rPr lang="ru-RU" dirty="0" err="1"/>
              <a:t>встановлювати</a:t>
            </a:r>
            <a:r>
              <a:rPr lang="ru-RU" dirty="0"/>
              <a:t> </a:t>
            </a:r>
            <a:r>
              <a:rPr lang="ru-RU" b="1" dirty="0"/>
              <a:t>як </a:t>
            </a:r>
            <a:r>
              <a:rPr lang="ru-RU" b="1" dirty="0" err="1"/>
              <a:t>мінімум</a:t>
            </a:r>
            <a:r>
              <a:rPr lang="ru-RU" b="1" dirty="0"/>
              <a:t> два</a:t>
            </a:r>
            <a:r>
              <a:rPr lang="ru-RU" dirty="0"/>
              <a:t> </a:t>
            </a:r>
            <a:r>
              <a:rPr lang="ru-RU" dirty="0" err="1"/>
              <a:t>контролери</a:t>
            </a:r>
            <a:r>
              <a:rPr lang="ru-RU" dirty="0"/>
              <a:t> на </a:t>
            </a:r>
            <a:r>
              <a:rPr lang="ru-RU" dirty="0" err="1"/>
              <a:t>кожен</a:t>
            </a:r>
            <a:r>
              <a:rPr lang="ru-RU" dirty="0"/>
              <a:t> домен. </a:t>
            </a:r>
            <a:r>
              <a:rPr lang="ru-RU" dirty="0" err="1"/>
              <a:t>Кожен</a:t>
            </a:r>
            <a:r>
              <a:rPr lang="ru-RU" dirty="0"/>
              <a:t> контролер домену </a:t>
            </a:r>
            <a:r>
              <a:rPr lang="ru-RU" dirty="0" err="1"/>
              <a:t>бере</a:t>
            </a:r>
            <a:r>
              <a:rPr lang="ru-RU" dirty="0"/>
              <a:t> участь у так званому </a:t>
            </a:r>
            <a:r>
              <a:rPr lang="ru-RU" dirty="0" err="1"/>
              <a:t>механізмі</a:t>
            </a:r>
            <a:r>
              <a:rPr lang="ru-RU" dirty="0"/>
              <a:t> </a:t>
            </a:r>
            <a:r>
              <a:rPr lang="ru-RU" i="1" dirty="0" err="1"/>
              <a:t>реплікації</a:t>
            </a:r>
            <a:r>
              <a:rPr lang="ru-RU" dirty="0"/>
              <a:t> ,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чому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контролери</a:t>
            </a:r>
            <a:r>
              <a:rPr lang="ru-RU" dirty="0"/>
              <a:t> домену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повну</a:t>
            </a:r>
            <a:r>
              <a:rPr lang="ru-RU" dirty="0"/>
              <a:t> </a:t>
            </a:r>
            <a:r>
              <a:rPr lang="ru-RU" dirty="0" err="1"/>
              <a:t>копію</a:t>
            </a:r>
            <a:r>
              <a:rPr lang="ru-RU" dirty="0"/>
              <a:t>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з </a:t>
            </a:r>
            <a:r>
              <a:rPr lang="ru-RU" dirty="0" err="1"/>
              <a:t>усіма</a:t>
            </a:r>
            <a:r>
              <a:rPr lang="ru-RU" dirty="0"/>
              <a:t> </a:t>
            </a:r>
            <a:r>
              <a:rPr lang="ru-RU" dirty="0" err="1"/>
              <a:t>об'єктами</a:t>
            </a:r>
            <a:r>
              <a:rPr lang="ru-RU" dirty="0"/>
              <a:t> домену. </a:t>
            </a:r>
            <a:r>
              <a:rPr lang="ru-RU" dirty="0" err="1"/>
              <a:t>Якщо</a:t>
            </a:r>
            <a:r>
              <a:rPr lang="ru-RU" dirty="0"/>
              <a:t> з </a:t>
            </a:r>
            <a:r>
              <a:rPr lang="ru-RU" dirty="0" err="1"/>
              <a:t>якоїсь</a:t>
            </a:r>
            <a:r>
              <a:rPr lang="ru-RU" dirty="0"/>
              <a:t> причини один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контролерів</a:t>
            </a:r>
            <a:r>
              <a:rPr lang="ru-RU" dirty="0"/>
              <a:t> </a:t>
            </a:r>
            <a:r>
              <a:rPr lang="ru-RU" dirty="0" err="1"/>
              <a:t>вийде</a:t>
            </a:r>
            <a:r>
              <a:rPr lang="ru-RU" dirty="0"/>
              <a:t> з ладу,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місце</a:t>
            </a:r>
            <a:r>
              <a:rPr lang="ru-RU" dirty="0"/>
              <a:t>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зайняти</a:t>
            </a:r>
            <a:r>
              <a:rPr lang="ru-RU" dirty="0"/>
              <a:t> </a:t>
            </a:r>
            <a:r>
              <a:rPr lang="ru-RU" dirty="0" err="1"/>
              <a:t>резервний</a:t>
            </a:r>
            <a:r>
              <a:rPr lang="ru-RU" dirty="0"/>
              <a:t> контролер – і </a:t>
            </a:r>
            <a:r>
              <a:rPr lang="ru-RU" dirty="0" err="1"/>
              <a:t>користувачі</a:t>
            </a:r>
            <a:r>
              <a:rPr lang="ru-RU" dirty="0"/>
              <a:t>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нічого</a:t>
            </a:r>
            <a:r>
              <a:rPr lang="ru-RU" dirty="0"/>
              <a:t> не </a:t>
            </a:r>
            <a:r>
              <a:rPr lang="ru-RU" dirty="0" err="1"/>
              <a:t>помітять</a:t>
            </a:r>
            <a:r>
              <a:rPr lang="ru-RU" dirty="0"/>
              <a:t>.</a:t>
            </a:r>
            <a:endParaRPr lang="uk-UA" dirty="0"/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 err="1" smtClean="0"/>
              <a:t>Однак</a:t>
            </a:r>
            <a:r>
              <a:rPr lang="ru-RU" dirty="0" smtClean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туторіал</a:t>
            </a:r>
            <a:r>
              <a:rPr lang="ru-RU" dirty="0"/>
              <a:t> </a:t>
            </a:r>
            <a:r>
              <a:rPr lang="ru-RU" dirty="0" err="1"/>
              <a:t>розрахований</a:t>
            </a:r>
            <a:r>
              <a:rPr lang="ru-RU" dirty="0"/>
              <a:t> на </a:t>
            </a:r>
            <a:r>
              <a:rPr lang="ru-RU" dirty="0" err="1"/>
              <a:t>просте</a:t>
            </a:r>
            <a:r>
              <a:rPr lang="ru-RU" dirty="0"/>
              <a:t> </a:t>
            </a:r>
            <a:r>
              <a:rPr lang="ru-RU" dirty="0" err="1"/>
              <a:t>ознайомлення</a:t>
            </a:r>
            <a:r>
              <a:rPr lang="ru-RU" dirty="0"/>
              <a:t> з </a:t>
            </a:r>
            <a:r>
              <a:rPr lang="ru-RU" dirty="0" err="1"/>
              <a:t>технологією</a:t>
            </a:r>
            <a:r>
              <a:rPr lang="ru-RU" dirty="0"/>
              <a:t> AD на </a:t>
            </a:r>
            <a:r>
              <a:rPr lang="ru-RU" dirty="0" err="1"/>
              <a:t>віртуалках</a:t>
            </a:r>
            <a:r>
              <a:rPr lang="ru-RU" dirty="0"/>
              <a:t>, тому тут не буде </a:t>
            </a:r>
            <a:r>
              <a:rPr lang="ru-RU" dirty="0" err="1"/>
              <a:t>розглядатися</a:t>
            </a:r>
            <a:r>
              <a:rPr lang="ru-RU" dirty="0"/>
              <a:t> </a:t>
            </a:r>
            <a:r>
              <a:rPr lang="ru-RU" dirty="0" err="1"/>
              <a:t>питання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декількох</a:t>
            </a:r>
            <a:r>
              <a:rPr lang="ru-RU" dirty="0"/>
              <a:t> </a:t>
            </a:r>
            <a:r>
              <a:rPr lang="ru-RU" dirty="0" err="1"/>
              <a:t>контролерів</a:t>
            </a:r>
            <a:r>
              <a:rPr lang="ru-RU" dirty="0"/>
              <a:t> AD в одному </a:t>
            </a:r>
            <a:r>
              <a:rPr lang="ru-RU" dirty="0" err="1"/>
              <a:t>домені</a:t>
            </a:r>
            <a:r>
              <a:rPr lang="ru-RU" dirty="0"/>
              <a:t>.</a:t>
            </a:r>
            <a:endParaRPr lang="uk-UA" dirty="0"/>
          </a:p>
          <a:p>
            <a:pPr marL="0" indent="0">
              <a:buNone/>
            </a:pPr>
            <a:r>
              <a:rPr lang="ru-RU" dirty="0" smtClean="0"/>
              <a:t>З </a:t>
            </a:r>
            <a:r>
              <a:rPr lang="ru-RU" dirty="0" err="1"/>
              <a:t>цим</a:t>
            </a:r>
            <a:r>
              <a:rPr lang="ru-RU" dirty="0"/>
              <a:t> пунктом все </a:t>
            </a:r>
            <a:r>
              <a:rPr lang="ru-RU" dirty="0" err="1"/>
              <a:t>більш-менш</a:t>
            </a:r>
            <a:r>
              <a:rPr lang="ru-RU" dirty="0"/>
              <a:t> </a:t>
            </a:r>
            <a:r>
              <a:rPr lang="ru-RU" dirty="0" err="1"/>
              <a:t>зрозуміло</a:t>
            </a:r>
            <a:r>
              <a:rPr lang="ru-RU" dirty="0"/>
              <a:t>, а </a:t>
            </a:r>
            <a:r>
              <a:rPr lang="ru-RU" dirty="0" err="1"/>
              <a:t>навіщо</a:t>
            </a:r>
            <a:r>
              <a:rPr lang="ru-RU" dirty="0"/>
              <a:t> нам </a:t>
            </a:r>
            <a:r>
              <a:rPr lang="ru-RU" dirty="0" err="1"/>
              <a:t>включати</a:t>
            </a:r>
            <a:r>
              <a:rPr lang="ru-RU" dirty="0"/>
              <a:t> </a:t>
            </a:r>
            <a:r>
              <a:rPr lang="ru-RU" dirty="0" err="1"/>
              <a:t>додатково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DNS-сервер?</a:t>
            </a: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ru-RU" dirty="0"/>
              <a:t>DNS-сервер</a:t>
            </a:r>
            <a:endParaRPr lang="uk-UA" b="1" dirty="0"/>
          </a:p>
          <a:p>
            <a:pPr marL="0" indent="0">
              <a:buNone/>
            </a:pPr>
            <a:r>
              <a:rPr lang="ru-RU" dirty="0" err="1" smtClean="0"/>
              <a:t>Зазвичай</a:t>
            </a:r>
            <a:r>
              <a:rPr lang="ru-RU" dirty="0" smtClean="0"/>
              <a:t> </a:t>
            </a:r>
            <a:r>
              <a:rPr lang="ru-RU" dirty="0"/>
              <a:t>протокол DNS (</a:t>
            </a:r>
            <a:r>
              <a:rPr lang="ru-RU" dirty="0" err="1"/>
              <a:t>Domain</a:t>
            </a:r>
            <a:r>
              <a:rPr lang="ru-RU" dirty="0"/>
              <a:t> </a:t>
            </a:r>
            <a:r>
              <a:rPr lang="ru-RU" dirty="0" err="1"/>
              <a:t>Name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)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звернення</a:t>
            </a:r>
            <a:r>
              <a:rPr lang="ru-RU" dirty="0"/>
              <a:t> до </a:t>
            </a:r>
            <a:r>
              <a:rPr lang="ru-RU" dirty="0" err="1"/>
              <a:t>вузлів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r>
              <a:rPr lang="ru-RU" dirty="0"/>
              <a:t> не за </a:t>
            </a:r>
            <a:r>
              <a:rPr lang="ru-RU" dirty="0" err="1"/>
              <a:t>їх</a:t>
            </a:r>
            <a:r>
              <a:rPr lang="ru-RU" dirty="0"/>
              <a:t> IP-</a:t>
            </a:r>
            <a:r>
              <a:rPr lang="ru-RU" dirty="0" err="1"/>
              <a:t>адресою</a:t>
            </a:r>
            <a:r>
              <a:rPr lang="ru-RU" dirty="0"/>
              <a:t>, а по доменного </a:t>
            </a:r>
            <a:r>
              <a:rPr lang="ru-RU" dirty="0" err="1"/>
              <a:t>імені</a:t>
            </a:r>
            <a:r>
              <a:rPr lang="ru-RU" dirty="0"/>
              <a:t> (</a:t>
            </a:r>
            <a:r>
              <a:rPr lang="ru-RU" dirty="0" err="1"/>
              <a:t>рядковий</a:t>
            </a:r>
            <a:r>
              <a:rPr lang="ru-RU" dirty="0"/>
              <a:t> </a:t>
            </a:r>
            <a:r>
              <a:rPr lang="ru-RU" dirty="0" err="1"/>
              <a:t>ідентифікатор</a:t>
            </a:r>
            <a:r>
              <a:rPr lang="ru-RU" dirty="0"/>
              <a:t>), </a:t>
            </a:r>
            <a:r>
              <a:rPr lang="ru-RU" dirty="0" err="1"/>
              <a:t>що</a:t>
            </a:r>
            <a:r>
              <a:rPr lang="ru-RU" dirty="0"/>
              <a:t>, </a:t>
            </a:r>
            <a:r>
              <a:rPr lang="ru-RU" dirty="0" err="1"/>
              <a:t>звичайно</a:t>
            </a:r>
            <a:r>
              <a:rPr lang="ru-RU" dirty="0"/>
              <a:t>, </a:t>
            </a:r>
            <a:r>
              <a:rPr lang="ru-RU" dirty="0" err="1"/>
              <a:t>набагато</a:t>
            </a:r>
            <a:r>
              <a:rPr lang="ru-RU" dirty="0"/>
              <a:t> </a:t>
            </a:r>
            <a:r>
              <a:rPr lang="ru-RU" dirty="0" err="1"/>
              <a:t>зручніше</a:t>
            </a:r>
            <a:r>
              <a:rPr lang="ru-RU" dirty="0"/>
              <a:t>. </a:t>
            </a:r>
            <a:r>
              <a:rPr lang="ru-RU" dirty="0" err="1"/>
              <a:t>Іншими</a:t>
            </a:r>
            <a:r>
              <a:rPr lang="ru-RU" dirty="0"/>
              <a:t> словами, DNS </a:t>
            </a:r>
            <a:r>
              <a:rPr lang="ru-RU" dirty="0" err="1"/>
              <a:t>найчастіше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дозволу</a:t>
            </a:r>
            <a:r>
              <a:rPr lang="ru-RU" dirty="0"/>
              <a:t> </a:t>
            </a:r>
            <a:r>
              <a:rPr lang="ru-RU" dirty="0" err="1"/>
              <a:t>доменних</a:t>
            </a:r>
            <a:r>
              <a:rPr lang="ru-RU" dirty="0"/>
              <a:t> </a:t>
            </a:r>
            <a:r>
              <a:rPr lang="ru-RU" dirty="0" err="1"/>
              <a:t>імен</a:t>
            </a:r>
            <a:r>
              <a:rPr lang="ru-RU" dirty="0"/>
              <a:t>.</a:t>
            </a:r>
            <a:endParaRPr lang="uk-UA" dirty="0"/>
          </a:p>
          <a:p>
            <a:pPr marL="0" indent="0">
              <a:buNone/>
            </a:pPr>
            <a:r>
              <a:rPr lang="ru-RU" dirty="0" smtClean="0"/>
              <a:t>Але </a:t>
            </a:r>
            <a:r>
              <a:rPr lang="ru-RU" dirty="0"/>
              <a:t>сфера </a:t>
            </a:r>
            <a:r>
              <a:rPr lang="ru-RU" dirty="0" err="1"/>
              <a:t>застосування</a:t>
            </a:r>
            <a:r>
              <a:rPr lang="ru-RU" dirty="0"/>
              <a:t> протоколу DNS не </a:t>
            </a:r>
            <a:r>
              <a:rPr lang="ru-RU" dirty="0" err="1"/>
              <a:t>обмежується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зіставленням</a:t>
            </a:r>
            <a:r>
              <a:rPr lang="ru-RU" dirty="0"/>
              <a:t> </a:t>
            </a:r>
            <a:r>
              <a:rPr lang="ru-RU" dirty="0" err="1"/>
              <a:t>хостового</a:t>
            </a:r>
            <a:r>
              <a:rPr lang="ru-RU" dirty="0"/>
              <a:t> </a:t>
            </a:r>
            <a:r>
              <a:rPr lang="ru-RU" dirty="0" err="1"/>
              <a:t>імені</a:t>
            </a:r>
            <a:r>
              <a:rPr lang="ru-RU" dirty="0"/>
              <a:t> та IP-</a:t>
            </a:r>
            <a:r>
              <a:rPr lang="ru-RU" dirty="0" err="1"/>
              <a:t>адреси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якраз</a:t>
            </a:r>
            <a:r>
              <a:rPr lang="ru-RU" dirty="0"/>
              <a:t> </a:t>
            </a:r>
            <a:r>
              <a:rPr lang="ru-RU" dirty="0" err="1"/>
              <a:t>підтверджує</a:t>
            </a:r>
            <a:r>
              <a:rPr lang="ru-RU" dirty="0"/>
              <a:t> </a:t>
            </a:r>
            <a:r>
              <a:rPr lang="ru-RU" dirty="0" err="1"/>
              <a:t>технологія</a:t>
            </a:r>
            <a:r>
              <a:rPr lang="ru-RU" dirty="0"/>
              <a:t>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. Справа в тому,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Microsoft</a:t>
            </a:r>
            <a:r>
              <a:rPr lang="ru-RU" dirty="0"/>
              <a:t> </a:t>
            </a:r>
            <a:r>
              <a:rPr lang="ru-RU" dirty="0" err="1"/>
              <a:t>вирішила</a:t>
            </a:r>
            <a:r>
              <a:rPr lang="ru-RU" dirty="0"/>
              <a:t> </a:t>
            </a:r>
            <a:r>
              <a:rPr lang="ru-RU" dirty="0" err="1"/>
              <a:t>збудувати</a:t>
            </a:r>
            <a:r>
              <a:rPr lang="ru-RU" dirty="0"/>
              <a:t> </a:t>
            </a:r>
            <a:r>
              <a:rPr lang="ru-RU" dirty="0" err="1"/>
              <a:t>технологію</a:t>
            </a:r>
            <a:r>
              <a:rPr lang="ru-RU" dirty="0"/>
              <a:t>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 не з нуля, а на </a:t>
            </a:r>
            <a:r>
              <a:rPr lang="ru-RU" dirty="0" err="1"/>
              <a:t>основі</a:t>
            </a:r>
            <a:r>
              <a:rPr lang="ru-RU" dirty="0"/>
              <a:t> протоколу DNS. </a:t>
            </a:r>
            <a:r>
              <a:rPr lang="ru-RU" dirty="0" err="1"/>
              <a:t>Зокрема</a:t>
            </a:r>
            <a:r>
              <a:rPr lang="ru-RU" dirty="0"/>
              <a:t>, протокол DNS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визначення</a:t>
            </a:r>
            <a:r>
              <a:rPr lang="ru-RU" dirty="0"/>
              <a:t> </a:t>
            </a:r>
            <a:r>
              <a:rPr lang="ru-RU" dirty="0" err="1"/>
              <a:t>місцезнаходження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ключових</a:t>
            </a:r>
            <a:r>
              <a:rPr lang="ru-RU" dirty="0"/>
              <a:t> </a:t>
            </a:r>
            <a:r>
              <a:rPr lang="ru-RU" dirty="0" err="1"/>
              <a:t>сервісів</a:t>
            </a:r>
            <a:r>
              <a:rPr lang="ru-RU" dirty="0"/>
              <a:t>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 у </a:t>
            </a:r>
            <a:r>
              <a:rPr lang="ru-RU" dirty="0" err="1"/>
              <a:t>мережі</a:t>
            </a:r>
            <a:r>
              <a:rPr lang="ru-RU" dirty="0"/>
              <a:t>. </a:t>
            </a:r>
            <a:r>
              <a:rPr lang="ru-RU" dirty="0" err="1"/>
              <a:t>Іншими</a:t>
            </a:r>
            <a:r>
              <a:rPr lang="ru-RU" dirty="0"/>
              <a:t> словами, </a:t>
            </a:r>
            <a:r>
              <a:rPr lang="ru-RU" dirty="0" err="1"/>
              <a:t>робоча</a:t>
            </a:r>
            <a:r>
              <a:rPr lang="ru-RU" dirty="0"/>
              <a:t> </a:t>
            </a:r>
            <a:r>
              <a:rPr lang="ru-RU" dirty="0" err="1"/>
              <a:t>станція</a:t>
            </a:r>
            <a:r>
              <a:rPr lang="ru-RU" dirty="0"/>
              <a:t> при </a:t>
            </a:r>
            <a:r>
              <a:rPr lang="ru-RU" dirty="0" err="1"/>
              <a:t>підключенні</a:t>
            </a:r>
            <a:r>
              <a:rPr lang="ru-RU" dirty="0"/>
              <a:t> до контролера домену </a:t>
            </a:r>
            <a:r>
              <a:rPr lang="ru-RU" dirty="0" err="1"/>
              <a:t>розуміє</a:t>
            </a:r>
            <a:r>
              <a:rPr lang="ru-RU" dirty="0"/>
              <a:t>, "</a:t>
            </a:r>
            <a:r>
              <a:rPr lang="ru-RU" dirty="0" err="1"/>
              <a:t>куди</a:t>
            </a:r>
            <a:r>
              <a:rPr lang="ru-RU" dirty="0"/>
              <a:t>" </a:t>
            </a:r>
            <a:r>
              <a:rPr lang="ru-RU" dirty="0" err="1"/>
              <a:t>їй</a:t>
            </a:r>
            <a:r>
              <a:rPr lang="ru-RU" dirty="0"/>
              <a:t> треба </a:t>
            </a:r>
            <a:r>
              <a:rPr lang="ru-RU" dirty="0" err="1"/>
              <a:t>звертатися</a:t>
            </a:r>
            <a:r>
              <a:rPr lang="ru-RU" dirty="0"/>
              <a:t> </a:t>
            </a:r>
            <a:r>
              <a:rPr lang="ru-RU" dirty="0" err="1"/>
              <a:t>саме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протоколу DNS.</a:t>
            </a:r>
            <a:endParaRPr lang="uk-UA" dirty="0"/>
          </a:p>
          <a:p>
            <a:pPr marL="0" indent="0">
              <a:buNone/>
            </a:pPr>
            <a:r>
              <a:rPr lang="ru-RU" dirty="0" err="1" smtClean="0"/>
              <a:t>Всі</a:t>
            </a:r>
            <a:r>
              <a:rPr lang="ru-RU" dirty="0" smtClean="0"/>
              <a:t> </a:t>
            </a:r>
            <a:r>
              <a:rPr lang="ru-RU" dirty="0"/>
              <a:t>DNS-записи (в тому </a:t>
            </a:r>
            <a:r>
              <a:rPr lang="ru-RU" dirty="0" err="1"/>
              <a:t>числі</a:t>
            </a:r>
            <a:r>
              <a:rPr lang="ru-RU" dirty="0"/>
              <a:t> з </a:t>
            </a:r>
            <a:r>
              <a:rPr lang="ru-RU" dirty="0" err="1"/>
              <a:t>інформацією</a:t>
            </a:r>
            <a:r>
              <a:rPr lang="ru-RU" dirty="0"/>
              <a:t> про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) </a:t>
            </a:r>
            <a:r>
              <a:rPr lang="ru-RU" dirty="0" err="1"/>
              <a:t>зберігаються</a:t>
            </a:r>
            <a:r>
              <a:rPr lang="ru-RU" dirty="0"/>
              <a:t> на DNS-</a:t>
            </a:r>
            <a:r>
              <a:rPr lang="ru-RU" dirty="0" err="1"/>
              <a:t>сервері</a:t>
            </a:r>
            <a:r>
              <a:rPr lang="ru-RU" dirty="0"/>
              <a:t>, а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означає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нам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власний</a:t>
            </a:r>
            <a:r>
              <a:rPr lang="ru-RU" dirty="0"/>
              <a:t> DNS-сервер! Ось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питання</a:t>
            </a:r>
            <a:r>
              <a:rPr lang="ru-RU" dirty="0"/>
              <a:t>, </a:t>
            </a:r>
            <a:r>
              <a:rPr lang="ru-RU" dirty="0" err="1"/>
              <a:t>звідки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взяти</a:t>
            </a:r>
            <a:r>
              <a:rPr lang="ru-RU" dirty="0"/>
              <a:t>? Є два </a:t>
            </a:r>
            <a:r>
              <a:rPr lang="ru-RU" dirty="0" err="1"/>
              <a:t>варіанти</a:t>
            </a:r>
            <a:r>
              <a:rPr lang="ru-RU" dirty="0"/>
              <a:t>:</a:t>
            </a:r>
            <a:endParaRPr lang="uk-UA" dirty="0"/>
          </a:p>
          <a:p>
            <a:pPr marL="0" lvl="0" indent="0">
              <a:buNone/>
            </a:pPr>
            <a:r>
              <a:rPr lang="ru-RU" dirty="0" err="1" smtClean="0"/>
              <a:t>Використовувати</a:t>
            </a:r>
            <a:r>
              <a:rPr lang="ru-RU" dirty="0" smtClean="0"/>
              <a:t> </a:t>
            </a:r>
            <a:r>
              <a:rPr lang="ru-RU" dirty="0" err="1"/>
              <a:t>окрему</a:t>
            </a:r>
            <a:r>
              <a:rPr lang="ru-RU" dirty="0"/>
              <a:t> машину як DNS-сервера;</a:t>
            </a:r>
            <a:endParaRPr lang="uk-UA" dirty="0"/>
          </a:p>
          <a:p>
            <a:pPr marL="0" lvl="0" indent="0">
              <a:buNone/>
            </a:pPr>
            <a:r>
              <a:rPr lang="ru-RU" dirty="0" err="1"/>
              <a:t>Використовувати</a:t>
            </a:r>
            <a:r>
              <a:rPr lang="ru-RU" dirty="0"/>
              <a:t> саму машину </a:t>
            </a:r>
            <a:r>
              <a:rPr lang="ru-RU" dirty="0" err="1"/>
              <a:t>windows_server</a:t>
            </a:r>
            <a:r>
              <a:rPr lang="ru-RU" dirty="0"/>
              <a:t> як DNS-сервера.</a:t>
            </a:r>
            <a:endParaRPr lang="uk-UA" dirty="0"/>
          </a:p>
          <a:p>
            <a:pPr marL="0" indent="0">
              <a:buNone/>
            </a:pPr>
            <a:r>
              <a:rPr lang="ru-RU" dirty="0" smtClean="0"/>
              <a:t>Перший </a:t>
            </a:r>
            <a:r>
              <a:rPr lang="ru-RU" dirty="0" err="1"/>
              <a:t>варіант</a:t>
            </a:r>
            <a:r>
              <a:rPr lang="ru-RU" dirty="0"/>
              <a:t>, </a:t>
            </a:r>
            <a:r>
              <a:rPr lang="ru-RU" dirty="0" err="1"/>
              <a:t>безумовно</a:t>
            </a:r>
            <a:r>
              <a:rPr lang="ru-RU" dirty="0"/>
              <a:t>, </a:t>
            </a:r>
            <a:r>
              <a:rPr lang="ru-RU" dirty="0" err="1"/>
              <a:t>найправильніший</a:t>
            </a:r>
            <a:r>
              <a:rPr lang="ru-RU" dirty="0"/>
              <a:t> — </a:t>
            </a:r>
            <a:r>
              <a:rPr lang="ru-RU" dirty="0" err="1"/>
              <a:t>саме</a:t>
            </a:r>
            <a:r>
              <a:rPr lang="ru-RU" dirty="0"/>
              <a:t> так і треба </a:t>
            </a:r>
            <a:r>
              <a:rPr lang="ru-RU" dirty="0" err="1"/>
              <a:t>чинити</a:t>
            </a:r>
            <a:r>
              <a:rPr lang="ru-RU" dirty="0"/>
              <a:t> при реальному </a:t>
            </a:r>
            <a:r>
              <a:rPr lang="ru-RU" dirty="0" err="1"/>
              <a:t>адмініструванні</a:t>
            </a:r>
            <a:r>
              <a:rPr lang="ru-RU" dirty="0"/>
              <a:t> мереж (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розносите</a:t>
            </a:r>
            <a:r>
              <a:rPr lang="ru-RU" dirty="0"/>
              <a:t> </a:t>
            </a:r>
            <a:r>
              <a:rPr lang="ru-RU" dirty="0" err="1"/>
              <a:t>логіку</a:t>
            </a:r>
            <a:r>
              <a:rPr lang="ru-RU" dirty="0"/>
              <a:t> </a:t>
            </a:r>
            <a:r>
              <a:rPr lang="ru-RU" dirty="0" err="1"/>
              <a:t>різними</a:t>
            </a:r>
            <a:r>
              <a:rPr lang="ru-RU" dirty="0"/>
              <a:t> </a:t>
            </a:r>
            <a:r>
              <a:rPr lang="ru-RU" dirty="0" err="1"/>
              <a:t>вузлами</a:t>
            </a:r>
            <a:r>
              <a:rPr lang="ru-RU" dirty="0"/>
              <a:t> в </a:t>
            </a:r>
            <a:r>
              <a:rPr lang="ru-RU" dirty="0" err="1"/>
              <a:t>мережі</a:t>
            </a:r>
            <a:r>
              <a:rPr lang="ru-RU" dirty="0"/>
              <a:t> — </a:t>
            </a:r>
            <a:r>
              <a:rPr lang="ru-RU" dirty="0" err="1"/>
              <a:t>тим</a:t>
            </a:r>
            <a:r>
              <a:rPr lang="ru-RU" dirty="0"/>
              <a:t> </a:t>
            </a:r>
            <a:r>
              <a:rPr lang="ru-RU" dirty="0" err="1"/>
              <a:t>краще</a:t>
            </a:r>
            <a:r>
              <a:rPr lang="ru-RU" dirty="0"/>
              <a:t>). Але в </a:t>
            </a:r>
            <a:r>
              <a:rPr lang="ru-RU" dirty="0" err="1"/>
              <a:t>навчальних</a:t>
            </a:r>
            <a:r>
              <a:rPr lang="ru-RU" dirty="0"/>
              <a:t> </a:t>
            </a:r>
            <a:r>
              <a:rPr lang="ru-RU" dirty="0" err="1"/>
              <a:t>цілях</a:t>
            </a:r>
            <a:r>
              <a:rPr lang="ru-RU" dirty="0"/>
              <a:t> я </a:t>
            </a:r>
            <a:r>
              <a:rPr lang="ru-RU" dirty="0" err="1"/>
              <a:t>вирішив</a:t>
            </a:r>
            <a:r>
              <a:rPr lang="ru-RU" dirty="0"/>
              <a:t> </a:t>
            </a:r>
            <a:r>
              <a:rPr lang="ru-RU" dirty="0" err="1"/>
              <a:t>вибрати</a:t>
            </a:r>
            <a:r>
              <a:rPr lang="ru-RU" dirty="0"/>
              <a:t> </a:t>
            </a:r>
            <a:r>
              <a:rPr lang="ru-RU" dirty="0" err="1"/>
              <a:t>другий</a:t>
            </a:r>
            <a:r>
              <a:rPr lang="ru-RU" dirty="0"/>
              <a:t> </a:t>
            </a:r>
            <a:r>
              <a:rPr lang="ru-RU" dirty="0" err="1"/>
              <a:t>варіант</a:t>
            </a:r>
            <a:r>
              <a:rPr lang="ru-RU" dirty="0"/>
              <a:t> (</a:t>
            </a:r>
            <a:r>
              <a:rPr lang="ru-RU" dirty="0" err="1"/>
              <a:t>хоча</a:t>
            </a:r>
            <a:r>
              <a:rPr lang="ru-RU" dirty="0"/>
              <a:t> б тому, </a:t>
            </a:r>
            <a:r>
              <a:rPr lang="ru-RU" dirty="0" err="1"/>
              <a:t>що</a:t>
            </a:r>
            <a:r>
              <a:rPr lang="ru-RU" dirty="0"/>
              <a:t> не </a:t>
            </a:r>
            <a:r>
              <a:rPr lang="ru-RU" dirty="0" err="1"/>
              <a:t>доведеться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одну </a:t>
            </a:r>
            <a:r>
              <a:rPr lang="ru-RU" dirty="0" err="1"/>
              <a:t>віртуальну</a:t>
            </a:r>
            <a:r>
              <a:rPr lang="ru-RU" dirty="0"/>
              <a:t> машину).</a:t>
            </a:r>
            <a:endParaRPr lang="uk-UA" dirty="0"/>
          </a:p>
          <a:p>
            <a:pPr marL="0" indent="0">
              <a:buNone/>
            </a:pPr>
            <a:r>
              <a:rPr lang="ru-RU" dirty="0" err="1" smtClean="0"/>
              <a:t>Саме</a:t>
            </a:r>
            <a:r>
              <a:rPr lang="ru-RU" dirty="0" smtClean="0"/>
              <a:t> </a:t>
            </a:r>
            <a:r>
              <a:rPr lang="ru-RU" dirty="0"/>
              <a:t>тому </a:t>
            </a:r>
            <a:r>
              <a:rPr lang="ru-RU" dirty="0" err="1"/>
              <a:t>цю</a:t>
            </a:r>
            <a:r>
              <a:rPr lang="ru-RU" dirty="0"/>
              <a:t> роль (DNS-сервера)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до ролей </a:t>
            </a:r>
            <a:r>
              <a:rPr lang="ru-RU" dirty="0" err="1"/>
              <a:t>машини</a:t>
            </a:r>
            <a:r>
              <a:rPr lang="ru-RU" dirty="0"/>
              <a:t> </a:t>
            </a:r>
            <a:r>
              <a:rPr lang="ru-RU" dirty="0" err="1"/>
              <a:t>windows_server</a:t>
            </a:r>
            <a:r>
              <a:rPr lang="ru-RU" dirty="0"/>
              <a:t>.</a:t>
            </a:r>
            <a:endParaRPr lang="uk-UA" dirty="0"/>
          </a:p>
          <a:p>
            <a:pPr marL="0" indent="0">
              <a:buNone/>
            </a:pPr>
            <a:r>
              <a:rPr lang="ru-RU" dirty="0" smtClean="0"/>
              <a:t>До </a:t>
            </a:r>
            <a:r>
              <a:rPr lang="ru-RU" dirty="0" err="1"/>
              <a:t>речі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не </a:t>
            </a:r>
            <a:r>
              <a:rPr lang="ru-RU" dirty="0" err="1"/>
              <a:t>додати</a:t>
            </a:r>
            <a:r>
              <a:rPr lang="ru-RU" dirty="0"/>
              <a:t> роль DNS-сервер зараз, то в </a:t>
            </a:r>
            <a:r>
              <a:rPr lang="ru-RU" dirty="0" err="1"/>
              <a:t>майбутньому</a:t>
            </a:r>
            <a:r>
              <a:rPr lang="ru-RU" dirty="0"/>
              <a:t> у вас </a:t>
            </a:r>
            <a:r>
              <a:rPr lang="ru-RU" dirty="0" err="1"/>
              <a:t>ще</a:t>
            </a:r>
            <a:r>
              <a:rPr lang="ru-RU" dirty="0"/>
              <a:t> буде </a:t>
            </a:r>
            <a:r>
              <a:rPr lang="ru-RU" dirty="0" err="1"/>
              <a:t>така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при </a:t>
            </a:r>
            <a:r>
              <a:rPr lang="ru-RU" dirty="0" err="1"/>
              <a:t>конфігуруванні</a:t>
            </a:r>
            <a:r>
              <a:rPr lang="ru-RU" dirty="0"/>
              <a:t> контролера домену AD.</a:t>
            </a:r>
            <a:endParaRPr lang="uk-UA" dirty="0"/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uk-UA" dirty="0"/>
          </a:p>
          <a:p>
            <a:pPr marL="0" indent="0">
              <a:buNone/>
            </a:pPr>
            <a:r>
              <a:rPr lang="ru-RU" dirty="0"/>
              <a:t>DHCP-сервер</a:t>
            </a:r>
            <a:endParaRPr lang="uk-UA" b="1" dirty="0"/>
          </a:p>
          <a:p>
            <a:pPr marL="0" indent="0">
              <a:buNone/>
            </a:pPr>
            <a:r>
              <a:rPr lang="ru-RU" dirty="0" smtClean="0"/>
              <a:t>Протокол </a:t>
            </a:r>
            <a:r>
              <a:rPr lang="ru-RU" dirty="0"/>
              <a:t>DHCP (</a:t>
            </a:r>
            <a:r>
              <a:rPr lang="ru-RU" dirty="0" err="1"/>
              <a:t>Dynamic</a:t>
            </a:r>
            <a:r>
              <a:rPr lang="ru-RU" dirty="0"/>
              <a:t> </a:t>
            </a:r>
            <a:r>
              <a:rPr lang="ru-RU" dirty="0" err="1"/>
              <a:t>Host</a:t>
            </a:r>
            <a:r>
              <a:rPr lang="ru-RU" dirty="0"/>
              <a:t> </a:t>
            </a:r>
            <a:r>
              <a:rPr lang="ru-RU" dirty="0" err="1"/>
              <a:t>Configuration</a:t>
            </a:r>
            <a:r>
              <a:rPr lang="ru-RU" dirty="0"/>
              <a:t> </a:t>
            </a:r>
            <a:r>
              <a:rPr lang="ru-RU" dirty="0" err="1"/>
              <a:t>Protocol</a:t>
            </a:r>
            <a:r>
              <a:rPr lang="ru-RU" dirty="0"/>
              <a:t>) </a:t>
            </a:r>
            <a:r>
              <a:rPr lang="ru-RU" dirty="0" err="1"/>
              <a:t>необхідний</a:t>
            </a:r>
            <a:r>
              <a:rPr lang="ru-RU" dirty="0"/>
              <a:t> </a:t>
            </a:r>
            <a:r>
              <a:rPr lang="ru-RU" dirty="0" err="1"/>
              <a:t>автоматичної</a:t>
            </a:r>
            <a:r>
              <a:rPr lang="ru-RU" dirty="0"/>
              <a:t> </a:t>
            </a:r>
            <a:r>
              <a:rPr lang="ru-RU" dirty="0" err="1"/>
              <a:t>видачі</a:t>
            </a:r>
            <a:r>
              <a:rPr lang="ru-RU" dirty="0"/>
              <a:t> </a:t>
            </a:r>
            <a:r>
              <a:rPr lang="ru-RU" dirty="0" err="1"/>
              <a:t>мережевих</a:t>
            </a:r>
            <a:r>
              <a:rPr lang="ru-RU" dirty="0"/>
              <a:t> </a:t>
            </a:r>
            <a:r>
              <a:rPr lang="ru-RU" dirty="0" err="1"/>
              <a:t>налаштувань</a:t>
            </a:r>
            <a:r>
              <a:rPr lang="ru-RU" dirty="0"/>
              <a:t> </a:t>
            </a:r>
            <a:r>
              <a:rPr lang="ru-RU" dirty="0" err="1"/>
              <a:t>вузлам</a:t>
            </a:r>
            <a:r>
              <a:rPr lang="ru-RU" dirty="0"/>
              <a:t> у </a:t>
            </a:r>
            <a:r>
              <a:rPr lang="ru-RU" dirty="0" err="1"/>
              <a:t>мережі</a:t>
            </a:r>
            <a:r>
              <a:rPr lang="ru-RU" dirty="0"/>
              <a:t>.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мережними</a:t>
            </a:r>
            <a:r>
              <a:rPr lang="ru-RU" dirty="0"/>
              <a:t> </a:t>
            </a:r>
            <a:r>
              <a:rPr lang="ru-RU" dirty="0" err="1"/>
              <a:t>налаштуваннями</a:t>
            </a:r>
            <a:r>
              <a:rPr lang="ru-RU" dirty="0"/>
              <a:t> </a:t>
            </a:r>
            <a:r>
              <a:rPr lang="ru-RU" dirty="0" err="1"/>
              <a:t>розуміється</a:t>
            </a:r>
            <a:r>
              <a:rPr lang="ru-RU" dirty="0"/>
              <a:t> IP-адреса, адреса шлюзу за </a:t>
            </a:r>
            <a:r>
              <a:rPr lang="ru-RU" dirty="0" err="1"/>
              <a:t>замовчуванням</a:t>
            </a:r>
            <a:r>
              <a:rPr lang="ru-RU" dirty="0"/>
              <a:t>, адреса DNS-сервера, і </a:t>
            </a:r>
            <a:r>
              <a:rPr lang="ru-RU" dirty="0" err="1"/>
              <a:t>ще</a:t>
            </a:r>
            <a:r>
              <a:rPr lang="ru-RU" dirty="0"/>
              <a:t> ряд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налаштувань</a:t>
            </a:r>
            <a:r>
              <a:rPr lang="ru-RU" dirty="0"/>
              <a:t>. </a:t>
            </a:r>
            <a:r>
              <a:rPr lang="ru-RU" dirty="0" err="1"/>
              <a:t>Цей</a:t>
            </a:r>
            <a:r>
              <a:rPr lang="ru-RU" dirty="0"/>
              <a:t> протокол </a:t>
            </a:r>
            <a:r>
              <a:rPr lang="ru-RU" dirty="0" err="1"/>
              <a:t>надзвичайно</a:t>
            </a:r>
            <a:r>
              <a:rPr lang="ru-RU" dirty="0"/>
              <a:t> </a:t>
            </a:r>
            <a:r>
              <a:rPr lang="ru-RU" dirty="0" err="1"/>
              <a:t>зручний</a:t>
            </a:r>
            <a:r>
              <a:rPr lang="ru-RU" dirty="0"/>
              <a:t> при </a:t>
            </a:r>
            <a:r>
              <a:rPr lang="ru-RU" dirty="0" err="1"/>
              <a:t>адмініструванні</a:t>
            </a:r>
            <a:r>
              <a:rPr lang="ru-RU" dirty="0"/>
              <a:t> мереж, особливо великих.</a:t>
            </a:r>
            <a:endParaRPr lang="uk-UA" dirty="0"/>
          </a:p>
          <a:p>
            <a:pPr marL="0" indent="0">
              <a:buNone/>
            </a:pPr>
            <a:r>
              <a:rPr lang="ru-RU" dirty="0" smtClean="0"/>
              <a:t>Протокол </a:t>
            </a:r>
            <a:r>
              <a:rPr lang="ru-RU" dirty="0"/>
              <a:t>DHCP не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жодного</a:t>
            </a:r>
            <a:r>
              <a:rPr lang="ru-RU" dirty="0"/>
              <a:t> </a:t>
            </a:r>
            <a:r>
              <a:rPr lang="ru-RU" dirty="0" err="1"/>
              <a:t>відношення</a:t>
            </a:r>
            <a:r>
              <a:rPr lang="ru-RU" dirty="0"/>
              <a:t> до </a:t>
            </a:r>
            <a:r>
              <a:rPr lang="ru-RU" dirty="0" err="1"/>
              <a:t>технології</a:t>
            </a:r>
            <a:r>
              <a:rPr lang="ru-RU" dirty="0"/>
              <a:t>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, і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б </a:t>
            </a:r>
            <a:r>
              <a:rPr lang="ru-RU" dirty="0" err="1"/>
              <a:t>обійтися</a:t>
            </a:r>
            <a:r>
              <a:rPr lang="ru-RU" dirty="0"/>
              <a:t> </a:t>
            </a:r>
            <a:r>
              <a:rPr lang="ru-RU" dirty="0" err="1"/>
              <a:t>зовсім</a:t>
            </a:r>
            <a:r>
              <a:rPr lang="ru-RU" dirty="0"/>
              <a:t> без </a:t>
            </a:r>
            <a:r>
              <a:rPr lang="ru-RU" dirty="0" err="1"/>
              <a:t>нього</a:t>
            </a:r>
            <a:r>
              <a:rPr lang="ru-RU" dirty="0"/>
              <a:t> (</a:t>
            </a:r>
            <a:r>
              <a:rPr lang="ru-RU" dirty="0" err="1"/>
              <a:t>достатньо</a:t>
            </a:r>
            <a:r>
              <a:rPr lang="ru-RU" dirty="0"/>
              <a:t> </a:t>
            </a:r>
            <a:r>
              <a:rPr lang="ru-RU" dirty="0" err="1"/>
              <a:t>прописати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налаштування</a:t>
            </a:r>
            <a:r>
              <a:rPr lang="ru-RU" dirty="0"/>
              <a:t> </a:t>
            </a:r>
            <a:r>
              <a:rPr lang="ru-RU" dirty="0" err="1"/>
              <a:t>мережі</a:t>
            </a:r>
            <a:r>
              <a:rPr lang="ru-RU" dirty="0"/>
              <a:t> на </a:t>
            </a:r>
            <a:r>
              <a:rPr lang="ru-RU" dirty="0" err="1"/>
              <a:t>робочій</a:t>
            </a:r>
            <a:r>
              <a:rPr lang="ru-RU" dirty="0"/>
              <a:t> </a:t>
            </a:r>
            <a:r>
              <a:rPr lang="ru-RU" dirty="0" err="1"/>
              <a:t>станції</a:t>
            </a:r>
            <a:r>
              <a:rPr lang="ru-RU" dirty="0"/>
              <a:t> </a:t>
            </a:r>
            <a:r>
              <a:rPr lang="ru-RU" dirty="0" err="1"/>
              <a:t>самостійно</a:t>
            </a:r>
            <a:r>
              <a:rPr lang="ru-RU" dirty="0"/>
              <a:t>), але я </a:t>
            </a:r>
            <a:r>
              <a:rPr lang="ru-RU" dirty="0" err="1"/>
              <a:t>вирішив</a:t>
            </a:r>
            <a:r>
              <a:rPr lang="ru-RU" dirty="0"/>
              <a:t> </a:t>
            </a:r>
            <a:r>
              <a:rPr lang="ru-RU" dirty="0" err="1"/>
              <a:t>включити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протокол в </a:t>
            </a:r>
            <a:r>
              <a:rPr lang="ru-RU" dirty="0" err="1"/>
              <a:t>даний</a:t>
            </a:r>
            <a:r>
              <a:rPr lang="ru-RU" dirty="0"/>
              <a:t> </a:t>
            </a:r>
            <a:r>
              <a:rPr lang="ru-RU" dirty="0" err="1"/>
              <a:t>туторіал</a:t>
            </a:r>
            <a:r>
              <a:rPr lang="ru-RU" dirty="0"/>
              <a:t> просто для </a:t>
            </a:r>
            <a:r>
              <a:rPr lang="ru-RU" dirty="0" err="1"/>
              <a:t>загального</a:t>
            </a:r>
            <a:r>
              <a:rPr lang="ru-RU" dirty="0"/>
              <a:t> </a:t>
            </a:r>
            <a:r>
              <a:rPr lang="ru-RU" dirty="0" err="1"/>
              <a:t>ознайомлення</a:t>
            </a:r>
            <a:r>
              <a:rPr lang="ru-RU" dirty="0"/>
              <a:t>. До того ж, </a:t>
            </a:r>
            <a:r>
              <a:rPr lang="ru-RU" dirty="0" err="1"/>
              <a:t>така</a:t>
            </a:r>
            <a:r>
              <a:rPr lang="ru-RU" dirty="0"/>
              <a:t> </a:t>
            </a:r>
            <a:r>
              <a:rPr lang="ru-RU" dirty="0" err="1"/>
              <a:t>зв'язка</a:t>
            </a:r>
            <a:r>
              <a:rPr lang="ru-RU" dirty="0"/>
              <a:t> "Контролер AD - DNS-сервер - DHCP-сервер" </a:t>
            </a:r>
            <a:r>
              <a:rPr lang="ru-RU" dirty="0" err="1"/>
              <a:t>досить</a:t>
            </a:r>
            <a:r>
              <a:rPr lang="ru-RU" dirty="0"/>
              <a:t> часто </a:t>
            </a:r>
            <a:r>
              <a:rPr lang="ru-RU" dirty="0" err="1"/>
              <a:t>зустрічається</a:t>
            </a:r>
            <a:r>
              <a:rPr lang="ru-RU" dirty="0"/>
              <a:t> в реальному </a:t>
            </a:r>
            <a:r>
              <a:rPr lang="ru-RU" dirty="0" err="1"/>
              <a:t>житті</a:t>
            </a:r>
            <a:r>
              <a:rPr lang="ru-RU" dirty="0"/>
              <a:t>, тому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зручний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сервісів</a:t>
            </a:r>
            <a:r>
              <a:rPr lang="ru-RU" dirty="0"/>
              <a:t>.</a:t>
            </a:r>
            <a:endParaRPr lang="uk-UA" dirty="0"/>
          </a:p>
          <a:p>
            <a:pPr marL="0" indent="0">
              <a:buNone/>
            </a:pPr>
            <a:r>
              <a:rPr lang="ru-RU" dirty="0" smtClean="0"/>
              <a:t>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питання</a:t>
            </a:r>
            <a:r>
              <a:rPr lang="ru-RU" dirty="0"/>
              <a:t> про те,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варто</a:t>
            </a:r>
            <a:r>
              <a:rPr lang="ru-RU" dirty="0"/>
              <a:t> </a:t>
            </a:r>
            <a:r>
              <a:rPr lang="ru-RU" dirty="0" err="1"/>
              <a:t>виділяти</a:t>
            </a:r>
            <a:r>
              <a:rPr lang="ru-RU" dirty="0"/>
              <a:t> </a:t>
            </a:r>
            <a:r>
              <a:rPr lang="ru-RU" dirty="0" err="1"/>
              <a:t>окрему</a:t>
            </a:r>
            <a:r>
              <a:rPr lang="ru-RU" dirty="0"/>
              <a:t> машину </a:t>
            </a:r>
            <a:r>
              <a:rPr lang="ru-RU" dirty="0" err="1"/>
              <a:t>під</a:t>
            </a:r>
            <a:r>
              <a:rPr lang="ru-RU" dirty="0"/>
              <a:t> DHCP-сервер </a:t>
            </a:r>
            <a:r>
              <a:rPr lang="ru-RU" dirty="0" err="1"/>
              <a:t>залишається</a:t>
            </a:r>
            <a:r>
              <a:rPr lang="ru-RU" dirty="0"/>
              <a:t> </a:t>
            </a:r>
            <a:r>
              <a:rPr lang="ru-RU" dirty="0" err="1"/>
              <a:t>відкритим</a:t>
            </a:r>
            <a:r>
              <a:rPr lang="ru-RU" dirty="0"/>
              <a:t>. Для невеликих мереж однозначно не </a:t>
            </a:r>
            <a:r>
              <a:rPr lang="ru-RU" dirty="0" err="1"/>
              <a:t>варто</a:t>
            </a:r>
            <a:r>
              <a:rPr lang="ru-RU" dirty="0"/>
              <a:t> </a:t>
            </a:r>
            <a:r>
              <a:rPr lang="ru-RU" dirty="0" err="1"/>
              <a:t>розносити</a:t>
            </a:r>
            <a:r>
              <a:rPr lang="ru-RU" dirty="0"/>
              <a:t> DNS і DHCP-</a:t>
            </a:r>
            <a:r>
              <a:rPr lang="ru-RU" dirty="0" err="1"/>
              <a:t>сервери</a:t>
            </a:r>
            <a:r>
              <a:rPr lang="ru-RU" dirty="0"/>
              <a:t> по </a:t>
            </a:r>
            <a:r>
              <a:rPr lang="ru-RU" dirty="0" err="1"/>
              <a:t>різних</a:t>
            </a:r>
            <a:r>
              <a:rPr lang="ru-RU" dirty="0"/>
              <a:t> машинах, але для великих мереж, </a:t>
            </a:r>
            <a:r>
              <a:rPr lang="ru-RU" dirty="0" err="1"/>
              <a:t>можливо</a:t>
            </a:r>
            <a:r>
              <a:rPr lang="ru-RU" dirty="0"/>
              <a:t>, </a:t>
            </a:r>
            <a:r>
              <a:rPr lang="ru-RU" dirty="0" err="1"/>
              <a:t>має</a:t>
            </a:r>
            <a:r>
              <a:rPr lang="ru-RU" dirty="0"/>
              <a:t> </a:t>
            </a:r>
            <a:r>
              <a:rPr lang="ru-RU" u="sng" dirty="0" err="1">
                <a:hlinkClick r:id="rId2"/>
              </a:rPr>
              <a:t>сенс</a:t>
            </a:r>
            <a:r>
              <a:rPr lang="ru-RU" dirty="0"/>
              <a:t> </a:t>
            </a:r>
            <a:r>
              <a:rPr lang="ru-RU" dirty="0" err="1"/>
              <a:t>задуматися</a:t>
            </a:r>
            <a:r>
              <a:rPr lang="ru-RU" dirty="0"/>
              <a:t> про </a:t>
            </a:r>
            <a:r>
              <a:rPr lang="ru-RU" dirty="0" err="1"/>
              <a:t>це</a:t>
            </a:r>
            <a:r>
              <a:rPr lang="ru-RU" dirty="0"/>
              <a:t>. У </a:t>
            </a:r>
            <a:r>
              <a:rPr lang="ru-RU" dirty="0" err="1"/>
              <a:t>нашій</a:t>
            </a:r>
            <a:r>
              <a:rPr lang="ru-RU" dirty="0"/>
              <a:t> </a:t>
            </a:r>
            <a:r>
              <a:rPr lang="ru-RU" dirty="0" err="1"/>
              <a:t>крихітній</a:t>
            </a:r>
            <a:r>
              <a:rPr lang="ru-RU" dirty="0"/>
              <a:t> </a:t>
            </a:r>
            <a:r>
              <a:rPr lang="ru-RU" dirty="0" err="1"/>
              <a:t>мережі</a:t>
            </a:r>
            <a:r>
              <a:rPr lang="ru-RU" dirty="0"/>
              <a:t> ми абсолютно </a:t>
            </a:r>
            <a:r>
              <a:rPr lang="ru-RU" dirty="0" err="1"/>
              <a:t>нічого</a:t>
            </a:r>
            <a:r>
              <a:rPr lang="ru-RU" dirty="0"/>
              <a:t> не </a:t>
            </a:r>
            <a:r>
              <a:rPr lang="ru-RU" dirty="0" err="1"/>
              <a:t>втратимо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включимо</a:t>
            </a:r>
            <a:r>
              <a:rPr lang="ru-RU" dirty="0"/>
              <a:t> DHCP-сервер на </a:t>
            </a:r>
            <a:r>
              <a:rPr lang="ru-RU" dirty="0" err="1"/>
              <a:t>тій</a:t>
            </a:r>
            <a:r>
              <a:rPr lang="ru-RU" dirty="0"/>
              <a:t> же </a:t>
            </a:r>
            <a:r>
              <a:rPr lang="ru-RU" dirty="0" err="1"/>
              <a:t>машині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і DNS-сервер.</a:t>
            </a:r>
            <a:endParaRPr lang="uk-UA" dirty="0"/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363978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712968" cy="626469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uk-UA" b="1" dirty="0"/>
              <a:t>Встановлення ролі служб домену </a:t>
            </a:r>
            <a:r>
              <a:rPr lang="en-GB" b="1" dirty="0"/>
              <a:t>Active Directory </a:t>
            </a:r>
            <a:r>
              <a:rPr lang="uk-UA" b="1" dirty="0"/>
              <a:t>на </a:t>
            </a:r>
            <a:r>
              <a:rPr lang="en-GB" b="1" dirty="0"/>
              <a:t>Windows Server</a:t>
            </a:r>
          </a:p>
          <a:p>
            <a:pPr marL="0" indent="0">
              <a:buNone/>
            </a:pPr>
            <a:r>
              <a:rPr lang="uk-UA" dirty="0"/>
              <a:t>Увійти на </a:t>
            </a:r>
            <a:r>
              <a:rPr lang="en-GB" dirty="0"/>
              <a:t>Windows Server </a:t>
            </a:r>
            <a:r>
              <a:rPr lang="uk-UA" dirty="0"/>
              <a:t>з обліковим записом адміністратора. Відкрити </a:t>
            </a:r>
            <a:r>
              <a:rPr lang="uk-UA" b="1" i="1" dirty="0"/>
              <a:t>“</a:t>
            </a:r>
            <a:r>
              <a:rPr lang="en-GB" b="1" i="1" dirty="0"/>
              <a:t>Server Manager” (</a:t>
            </a:r>
            <a:r>
              <a:rPr lang="uk-UA" b="1" i="1" dirty="0"/>
              <a:t>диспетчер сервера)</a:t>
            </a:r>
            <a:r>
              <a:rPr lang="uk-UA" dirty="0"/>
              <a:t> або через іконку в панелі завдань, або за допомогою пошуку в меню </a:t>
            </a:r>
            <a:r>
              <a:rPr lang="uk-UA" b="1" i="1" dirty="0"/>
              <a:t>“</a:t>
            </a:r>
            <a:r>
              <a:rPr lang="en-GB" b="1" i="1" dirty="0"/>
              <a:t>Start” (</a:t>
            </a:r>
            <a:r>
              <a:rPr lang="uk-UA" b="1" i="1" dirty="0"/>
              <a:t>Пуск)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У верхньому меню натиснути </a:t>
            </a:r>
            <a:r>
              <a:rPr lang="uk-UA" b="1" i="1" dirty="0"/>
              <a:t>“</a:t>
            </a:r>
            <a:r>
              <a:rPr lang="en-GB" b="1" i="1" dirty="0"/>
              <a:t>Manage” (</a:t>
            </a:r>
            <a:r>
              <a:rPr lang="uk-UA" b="1" i="1" dirty="0"/>
              <a:t>Управління)</a:t>
            </a:r>
            <a:r>
              <a:rPr lang="uk-UA" dirty="0"/>
              <a:t> та обрати </a:t>
            </a:r>
            <a:r>
              <a:rPr lang="uk-UA" b="1" i="1" dirty="0"/>
              <a:t>“</a:t>
            </a:r>
            <a:r>
              <a:rPr lang="en-GB" b="1" i="1" dirty="0"/>
              <a:t>Add Roles and Features” (</a:t>
            </a:r>
            <a:r>
              <a:rPr lang="uk-UA" b="1" i="1" dirty="0"/>
              <a:t>Додати ролі та функції)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У </a:t>
            </a:r>
            <a:r>
              <a:rPr lang="uk-UA" b="1" i="1" dirty="0"/>
              <a:t>“</a:t>
            </a:r>
            <a:r>
              <a:rPr lang="en-GB" b="1" i="1" dirty="0"/>
              <a:t>Add roles and Features Wizard”(</a:t>
            </a:r>
            <a:r>
              <a:rPr lang="uk-UA" b="1" i="1" dirty="0"/>
              <a:t>майстрі додавання ролей та функцій)</a:t>
            </a:r>
            <a:r>
              <a:rPr lang="uk-UA" dirty="0"/>
              <a:t> обрати </a:t>
            </a:r>
            <a:r>
              <a:rPr lang="uk-UA" b="1" i="1" dirty="0"/>
              <a:t>“</a:t>
            </a:r>
            <a:r>
              <a:rPr lang="en-GB" b="1" i="1" dirty="0"/>
              <a:t>Role-based or feature-based installation” (</a:t>
            </a:r>
            <a:r>
              <a:rPr lang="uk-UA" b="1" i="1" dirty="0"/>
              <a:t>Встановлення ролей або функцій)</a:t>
            </a:r>
            <a:r>
              <a:rPr lang="uk-UA" dirty="0"/>
              <a:t> та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Переконатися, що обрано правильний сервер, та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На сторінці </a:t>
            </a:r>
            <a:r>
              <a:rPr lang="uk-UA" b="1" i="1" dirty="0"/>
              <a:t>“</a:t>
            </a:r>
            <a:r>
              <a:rPr lang="en-GB" b="1" i="1" dirty="0"/>
              <a:t>Select server roles” (</a:t>
            </a:r>
            <a:r>
              <a:rPr lang="uk-UA" b="1" i="1" dirty="0"/>
              <a:t>Вибір ролей сервера)</a:t>
            </a:r>
            <a:r>
              <a:rPr lang="uk-UA" dirty="0"/>
              <a:t> обрати </a:t>
            </a:r>
            <a:r>
              <a:rPr lang="uk-UA" b="1" i="1" dirty="0"/>
              <a:t>“</a:t>
            </a:r>
            <a:r>
              <a:rPr lang="en-GB" b="1" i="1" dirty="0"/>
              <a:t>Active Directory Domain Services”</a:t>
            </a:r>
            <a:r>
              <a:rPr lang="en-GB" dirty="0"/>
              <a:t>. </a:t>
            </a:r>
            <a:r>
              <a:rPr lang="uk-UA" dirty="0"/>
              <a:t>У вікні, що розгорнулось, натиснути </a:t>
            </a:r>
            <a:r>
              <a:rPr lang="uk-UA" b="1" i="1" dirty="0"/>
              <a:t>“</a:t>
            </a:r>
            <a:r>
              <a:rPr lang="en-GB" b="1" i="1" dirty="0"/>
              <a:t>Add Features” (</a:t>
            </a:r>
            <a:r>
              <a:rPr lang="uk-UA" b="1" i="1" dirty="0"/>
              <a:t>Додати функції)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На сторінці </a:t>
            </a:r>
            <a:r>
              <a:rPr lang="uk-UA" b="1" i="1" dirty="0"/>
              <a:t>“</a:t>
            </a:r>
            <a:r>
              <a:rPr lang="en-GB" b="1" i="1" dirty="0"/>
              <a:t>Select features” (</a:t>
            </a:r>
            <a:r>
              <a:rPr lang="uk-UA" b="1" i="1" dirty="0"/>
              <a:t>Вибір функцій)</a:t>
            </a:r>
            <a:r>
              <a:rPr lang="uk-UA" dirty="0"/>
              <a:t> не обирати додаткових функцій.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На сторінці </a:t>
            </a:r>
            <a:r>
              <a:rPr lang="uk-UA" b="1" i="1" dirty="0"/>
              <a:t>“</a:t>
            </a:r>
            <a:r>
              <a:rPr lang="en-GB" b="1" i="1" dirty="0"/>
              <a:t>Active Directory Domain Services”</a:t>
            </a:r>
            <a:r>
              <a:rPr lang="en-GB" dirty="0"/>
              <a:t> </a:t>
            </a:r>
            <a:r>
              <a:rPr lang="uk-UA" dirty="0"/>
              <a:t>переглянути інформацію та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Переглянути свої вибори для встановлення та натиснути </a:t>
            </a:r>
            <a:r>
              <a:rPr lang="uk-UA" b="1" i="1" dirty="0"/>
              <a:t>“</a:t>
            </a:r>
            <a:r>
              <a:rPr lang="en-GB" b="1" i="1" dirty="0"/>
              <a:t>Install” (</a:t>
            </a:r>
            <a:r>
              <a:rPr lang="uk-UA" b="1" i="1" dirty="0"/>
              <a:t>Встановити)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Дочекатися завершення процесу встановлення, що може зайняти кілька хвилин. Потім натиснути </a:t>
            </a:r>
            <a:r>
              <a:rPr lang="uk-UA" b="1" i="1" dirty="0"/>
              <a:t>“</a:t>
            </a:r>
            <a:r>
              <a:rPr lang="en-GB" b="1" i="1" dirty="0"/>
              <a:t>Close” (</a:t>
            </a:r>
            <a:r>
              <a:rPr lang="uk-UA" b="1" i="1" dirty="0"/>
              <a:t>Закрити)</a:t>
            </a:r>
            <a:r>
              <a:rPr lang="uk-UA" dirty="0"/>
              <a:t> для виходу з майстра.</a:t>
            </a:r>
          </a:p>
        </p:txBody>
      </p:sp>
    </p:spTree>
    <p:extLst>
      <p:ext uri="{BB962C8B-B14F-4D97-AF65-F5344CB8AC3E}">
        <p14:creationId xmlns:p14="http://schemas.microsoft.com/office/powerpoint/2010/main" val="3382851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661248"/>
            <a:ext cx="8229600" cy="965523"/>
          </a:xfrm>
        </p:spPr>
        <p:txBody>
          <a:bodyPr/>
          <a:lstStyle/>
          <a:p>
            <a:r>
              <a:rPr lang="uk-UA" sz="2000" dirty="0"/>
              <a:t>Зовнішній вигляд вікна </a:t>
            </a:r>
            <a:r>
              <a:rPr lang="en-US" sz="2000" i="1" dirty="0"/>
              <a:t>Active Directory – </a:t>
            </a:r>
            <a:r>
              <a:rPr lang="uk-UA" sz="2000" i="1" dirty="0"/>
              <a:t>користувачі та комп'ютери</a:t>
            </a:r>
            <a:endParaRPr lang="en-US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188640"/>
            <a:ext cx="7582511" cy="539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181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4509120"/>
            <a:ext cx="8424936" cy="13407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dirty="0" smtClean="0"/>
              <a:t>Мережеві сервіси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80728"/>
            <a:ext cx="7056784" cy="3341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79801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712968" cy="626469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NetBIOS-</a:t>
            </a:r>
            <a:r>
              <a:rPr lang="uk-UA" b="1" dirty="0"/>
              <a:t>ім'я </a:t>
            </a:r>
            <a:endParaRPr lang="en-US" b="1" dirty="0" smtClean="0"/>
          </a:p>
          <a:p>
            <a:pPr marL="0" indent="0">
              <a:buNone/>
            </a:pPr>
            <a:r>
              <a:rPr lang="uk-UA" b="1" dirty="0" smtClean="0"/>
              <a:t>Ми </a:t>
            </a:r>
            <a:r>
              <a:rPr lang="uk-UA" b="1" dirty="0"/>
              <a:t>бачимо, що майстер запропонував нам на вибір відразу ім'я для нашого домену — </a:t>
            </a:r>
            <a:r>
              <a:rPr lang="en-GB" b="1" dirty="0"/>
              <a:t>MYDOMAIN. </a:t>
            </a:r>
            <a:r>
              <a:rPr lang="uk-UA" b="1" dirty="0"/>
              <a:t>Але ви можете (і повинні) поставити собі питання: а що взагалі таке </a:t>
            </a:r>
            <a:r>
              <a:rPr lang="en-GB" b="1" dirty="0"/>
              <a:t>NetBIOS-</a:t>
            </a:r>
            <a:r>
              <a:rPr lang="uk-UA" b="1" dirty="0"/>
              <a:t>ім'я і навіщо воно потрібне? І хіба ми вже не на сходженні мережеве ім'я вузла (</a:t>
            </a:r>
            <a:r>
              <a:rPr lang="en-GB" b="1" dirty="0"/>
              <a:t>Hostname) </a:t>
            </a:r>
            <a:r>
              <a:rPr lang="uk-UA" b="1" dirty="0"/>
              <a:t>на самому початку? Чого ж від вас хочуть?</a:t>
            </a:r>
            <a:r>
              <a:rPr lang="en-GB" b="1" dirty="0"/>
              <a:t>NetBIOS (Network Basic Input/Output) — </a:t>
            </a:r>
            <a:r>
              <a:rPr lang="uk-UA" b="1" dirty="0"/>
              <a:t>це ще один спосіб вирішення імен вузлів у мережі (старший і </a:t>
            </a:r>
            <a:r>
              <a:rPr lang="uk-UA" b="1" dirty="0" err="1"/>
              <a:t>примітивніший</a:t>
            </a:r>
            <a:r>
              <a:rPr lang="uk-UA" b="1" dirty="0"/>
              <a:t>, ніж </a:t>
            </a:r>
            <a:r>
              <a:rPr lang="en-GB" b="1" dirty="0"/>
              <a:t>DNS). NetBIOS-</a:t>
            </a:r>
            <a:r>
              <a:rPr lang="uk-UA" b="1" dirty="0"/>
              <a:t>імена не передбачають жодної ієрархії, їх довжина обмежується лише 16 символами, і вони застосовуються лише для дозволу імені комп'ютерів у локальній мережі. Коли ми на самому початку </a:t>
            </a:r>
            <a:r>
              <a:rPr lang="uk-UA" b="1" dirty="0" err="1"/>
              <a:t>туториалу</a:t>
            </a:r>
            <a:r>
              <a:rPr lang="uk-UA" b="1" dirty="0"/>
              <a:t> вибрали мережеве ім'я </a:t>
            </a:r>
            <a:r>
              <a:rPr lang="en-GB" b="1" dirty="0" err="1"/>
              <a:t>ADController</a:t>
            </a:r>
            <a:r>
              <a:rPr lang="en-GB" b="1" dirty="0"/>
              <a:t> — </a:t>
            </a:r>
            <a:r>
              <a:rPr lang="uk-UA" b="1" dirty="0"/>
              <a:t>ми насправді задали саме </a:t>
            </a:r>
            <a:r>
              <a:rPr lang="en-GB" b="1" dirty="0"/>
              <a:t>NetBIOS-</a:t>
            </a:r>
            <a:r>
              <a:rPr lang="uk-UA" b="1" dirty="0"/>
              <a:t>ім'я для сервера. Але тепер від нас знову вимагають вибрати </a:t>
            </a:r>
            <a:r>
              <a:rPr lang="en-GB" b="1" dirty="0"/>
              <a:t>NetBIOS-</a:t>
            </a:r>
            <a:r>
              <a:rPr lang="uk-UA" b="1" dirty="0"/>
              <a:t>ім'я (та ще й інше, відмінне від </a:t>
            </a:r>
            <a:r>
              <a:rPr lang="en-GB" b="1" dirty="0" err="1"/>
              <a:t>ADContoller</a:t>
            </a:r>
            <a:r>
              <a:rPr lang="en-GB" b="1" dirty="0"/>
              <a:t>). </a:t>
            </a:r>
            <a:r>
              <a:rPr lang="uk-UA" b="1" dirty="0"/>
              <a:t>Чи мало </a:t>
            </a:r>
            <a:r>
              <a:rPr lang="en-GB" b="1" dirty="0"/>
              <a:t>NetBIOS-</a:t>
            </a:r>
            <a:r>
              <a:rPr lang="uk-UA" b="1" dirty="0"/>
              <a:t>імен для одного </a:t>
            </a:r>
            <a:r>
              <a:rPr lang="uk-UA" b="1" dirty="0" err="1"/>
              <a:t>комп'ютера?Справа</a:t>
            </a:r>
            <a:r>
              <a:rPr lang="uk-UA" b="1" dirty="0"/>
              <a:t> в тому, що </a:t>
            </a:r>
            <a:r>
              <a:rPr lang="en-GB" b="1" dirty="0"/>
              <a:t>Microsoft </a:t>
            </a:r>
            <a:r>
              <a:rPr lang="uk-UA" b="1" dirty="0"/>
              <a:t>пішла ще далі і обмежила довжину </a:t>
            </a:r>
            <a:r>
              <a:rPr lang="en-GB" b="1" dirty="0"/>
              <a:t>NetBIOS-</a:t>
            </a:r>
            <a:r>
              <a:rPr lang="uk-UA" b="1" dirty="0"/>
              <a:t>іменем не 16 символів, а 15 символів. 16-й символ при цьому забезпечений зарезервованим суфіксом , який може набувати зафіксованих значень. Залежно від значення 16-го байту входять різні класи </a:t>
            </a:r>
            <a:r>
              <a:rPr lang="en-GB" b="1" dirty="0"/>
              <a:t>NetBIOS-</a:t>
            </a:r>
            <a:r>
              <a:rPr lang="uk-UA" b="1" dirty="0"/>
              <a:t>імен. Наприклад, якщо суфікс дорівнює 00, то </a:t>
            </a:r>
            <a:r>
              <a:rPr lang="en-GB" b="1" dirty="0"/>
              <a:t>NetBIOS-</a:t>
            </a:r>
            <a:r>
              <a:rPr lang="uk-UA" b="1" dirty="0"/>
              <a:t>ім'я є ідеальним для робочої станції. Якщо суфікс дорівнює 1С, це ім'я належить до імені домену.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69361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661248"/>
            <a:ext cx="8229600" cy="965523"/>
          </a:xfrm>
        </p:spPr>
        <p:txBody>
          <a:bodyPr/>
          <a:lstStyle/>
          <a:p>
            <a:r>
              <a:rPr lang="ru-RU" dirty="0" err="1"/>
              <a:t>NetBIOS-ім'я</a:t>
            </a:r>
            <a:endParaRPr lang="uk-UA" dirty="0"/>
          </a:p>
        </p:txBody>
      </p:sp>
      <p:pic>
        <p:nvPicPr>
          <p:cNvPr id="5" name="Рисунок 4" descr="https://habrastorage.org/r/w1560/webt/c_/iw/4q/c_iw4qqaeuj5f1wyhhan750dirs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7239000" cy="5318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55423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661248"/>
            <a:ext cx="8229600" cy="965523"/>
          </a:xfrm>
        </p:spPr>
        <p:txBody>
          <a:bodyPr/>
          <a:lstStyle/>
          <a:p>
            <a:r>
              <a:rPr lang="ru-RU" dirty="0" err="1"/>
              <a:t>Розташування</a:t>
            </a:r>
            <a:r>
              <a:rPr lang="ru-RU" dirty="0"/>
              <a:t>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endParaRPr lang="uk-UA" dirty="0"/>
          </a:p>
        </p:txBody>
      </p:sp>
      <p:pic>
        <p:nvPicPr>
          <p:cNvPr id="4" name="Рисунок 3" descr="https://habrastorage.org/r/w1560/webt/qc/xd/tw/qcxdtwfwito4orthrxdmmo3ubjm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0648"/>
            <a:ext cx="7246620" cy="533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23571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991869"/>
            <a:ext cx="8229600" cy="965523"/>
          </a:xfrm>
        </p:spPr>
        <p:txBody>
          <a:bodyPr/>
          <a:lstStyle/>
          <a:p>
            <a:r>
              <a:rPr lang="ru-RU" dirty="0"/>
              <a:t>Запуск </a:t>
            </a:r>
            <a:r>
              <a:rPr lang="ru-RU" dirty="0" err="1"/>
              <a:t>авторизації</a:t>
            </a:r>
            <a:r>
              <a:rPr lang="ru-RU" dirty="0"/>
              <a:t> DHCP-сервера</a:t>
            </a:r>
            <a:endParaRPr lang="uk-UA" dirty="0"/>
          </a:p>
        </p:txBody>
      </p:sp>
      <p:pic>
        <p:nvPicPr>
          <p:cNvPr id="5" name="Рисунок 4" descr="https://habrastorage.org/r/w1560/webt/48/rn/ur/48rnurp1vs6mdffql0j9-aggjkq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945"/>
            <a:ext cx="8313440" cy="6091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40979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991869"/>
            <a:ext cx="8229600" cy="965523"/>
          </a:xfrm>
        </p:spPr>
        <p:txBody>
          <a:bodyPr/>
          <a:lstStyle/>
          <a:p>
            <a:r>
              <a:rPr lang="ru-RU" dirty="0"/>
              <a:t>Запуск </a:t>
            </a:r>
            <a:r>
              <a:rPr lang="ru-RU" dirty="0" err="1"/>
              <a:t>авторизації</a:t>
            </a:r>
            <a:r>
              <a:rPr lang="ru-RU" dirty="0"/>
              <a:t> DHCP-сервера</a:t>
            </a:r>
            <a:endParaRPr lang="uk-UA" dirty="0"/>
          </a:p>
        </p:txBody>
      </p:sp>
      <p:pic>
        <p:nvPicPr>
          <p:cNvPr id="4" name="Рисунок 3" descr="https://habrastorage.org/r/w1560/webt/ly/aj/wf/lyajwf1bqpeai3u3zzs-oilpucq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" y="1078230"/>
            <a:ext cx="8450580" cy="4701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78344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991869"/>
            <a:ext cx="8229600" cy="96552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Авторизація</a:t>
            </a:r>
            <a:r>
              <a:rPr lang="ru-RU" dirty="0"/>
              <a:t> DHCP-сервера в </a:t>
            </a:r>
            <a:r>
              <a:rPr lang="ru-RU" dirty="0" err="1"/>
              <a:t>домені</a:t>
            </a:r>
            <a:endParaRPr lang="uk-UA" dirty="0"/>
          </a:p>
        </p:txBody>
      </p:sp>
      <p:pic>
        <p:nvPicPr>
          <p:cNvPr id="5" name="Рисунок 4" descr="https://habrastorage.org/r/w1560/webt/og/tg/tr/ogtgtr2jenes1-2nmxag_w9d4wq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690" y="769620"/>
            <a:ext cx="7246620" cy="5318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08585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991869"/>
            <a:ext cx="8805664" cy="965523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Завершення</a:t>
            </a:r>
            <a:r>
              <a:rPr lang="ru-RU" dirty="0"/>
              <a:t> </a:t>
            </a:r>
            <a:r>
              <a:rPr lang="ru-RU" dirty="0" err="1"/>
              <a:t>авторизації</a:t>
            </a:r>
            <a:r>
              <a:rPr lang="ru-RU" dirty="0"/>
              <a:t> DHCP-сервера</a:t>
            </a:r>
            <a:endParaRPr lang="uk-UA" dirty="0"/>
          </a:p>
        </p:txBody>
      </p:sp>
      <p:pic>
        <p:nvPicPr>
          <p:cNvPr id="4" name="Рисунок 3" descr="https://habrastorage.org/r/w1560/webt/_b/3_/pb/_b3_pbaf2x1h4ayr2v1j5a26daq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6632"/>
            <a:ext cx="8621216" cy="6120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72630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991869"/>
            <a:ext cx="8805664" cy="965523"/>
          </a:xfrm>
        </p:spPr>
        <p:txBody>
          <a:bodyPr>
            <a:normAutofit/>
          </a:bodyPr>
          <a:lstStyle/>
          <a:p>
            <a:r>
              <a:rPr lang="ru-RU" dirty="0" err="1"/>
              <a:t>Налаштування</a:t>
            </a:r>
            <a:r>
              <a:rPr lang="ru-RU" dirty="0"/>
              <a:t> часу </a:t>
            </a:r>
            <a:r>
              <a:rPr lang="ru-RU" dirty="0" err="1"/>
              <a:t>оренди</a:t>
            </a:r>
            <a:r>
              <a:rPr lang="ru-RU" dirty="0"/>
              <a:t> адрес</a:t>
            </a:r>
            <a:endParaRPr lang="uk-UA" dirty="0"/>
          </a:p>
        </p:txBody>
      </p:sp>
      <p:pic>
        <p:nvPicPr>
          <p:cNvPr id="5" name="Рисунок 4" descr="https://habrastorage.org/r/w1560/webt/lg/e5/so/lge5soyel2a1onip2ada9s4gti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582930"/>
            <a:ext cx="7650480" cy="5692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91094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991869"/>
            <a:ext cx="8805664" cy="965523"/>
          </a:xfrm>
        </p:spPr>
        <p:txBody>
          <a:bodyPr>
            <a:normAutofit/>
          </a:bodyPr>
          <a:lstStyle/>
          <a:p>
            <a:r>
              <a:rPr lang="ru-RU" dirty="0" err="1"/>
              <a:t>Налаштувати</a:t>
            </a:r>
            <a:r>
              <a:rPr lang="ru-RU" dirty="0"/>
              <a:t> </a:t>
            </a:r>
            <a:r>
              <a:rPr lang="ru-RU" dirty="0" err="1"/>
              <a:t>додаткові</a:t>
            </a:r>
            <a:r>
              <a:rPr lang="ru-RU" dirty="0"/>
              <a:t> </a:t>
            </a:r>
            <a:r>
              <a:rPr lang="ru-RU" dirty="0" err="1"/>
              <a:t>параметри</a:t>
            </a:r>
            <a:endParaRPr lang="uk-UA" dirty="0"/>
          </a:p>
        </p:txBody>
      </p:sp>
      <p:pic>
        <p:nvPicPr>
          <p:cNvPr id="4" name="Рисунок 3" descr="https://habrastorage.org/r/w1560/webt/uu/hl/ne/uuhlnecwsjy9c6kmpy-xbdop5ou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582930"/>
            <a:ext cx="7650480" cy="5692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6951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991869"/>
            <a:ext cx="8805664" cy="965523"/>
          </a:xfrm>
        </p:spPr>
        <p:txBody>
          <a:bodyPr>
            <a:normAutofit/>
          </a:bodyPr>
          <a:lstStyle/>
          <a:p>
            <a:r>
              <a:rPr lang="ru-RU" dirty="0"/>
              <a:t>Шлюз за </a:t>
            </a:r>
            <a:r>
              <a:rPr lang="ru-RU" dirty="0" err="1"/>
              <a:t>замовчуванням</a:t>
            </a:r>
            <a:endParaRPr lang="uk-UA" dirty="0"/>
          </a:p>
        </p:txBody>
      </p:sp>
      <p:pic>
        <p:nvPicPr>
          <p:cNvPr id="5" name="Рисунок 4" descr="https://habrastorage.org/r/w1560/webt/ks/sg/lh/kssglhjbdzzlheejimtfvgjntou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582930"/>
            <a:ext cx="7650480" cy="5692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66057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4653137"/>
            <a:ext cx="8805664" cy="2304256"/>
          </a:xfrm>
        </p:spPr>
        <p:txBody>
          <a:bodyPr>
            <a:normAutofit/>
          </a:bodyPr>
          <a:lstStyle/>
          <a:p>
            <a:pPr lvl="0" algn="l"/>
            <a:r>
              <a:rPr lang="ru-RU" sz="1600" dirty="0" err="1"/>
              <a:t>Процес</a:t>
            </a:r>
            <a:r>
              <a:rPr lang="ru-RU" sz="1600" dirty="0"/>
              <a:t> </a:t>
            </a:r>
            <a:r>
              <a:rPr lang="ru-RU" sz="1600" dirty="0" err="1"/>
              <a:t>дозволу</a:t>
            </a:r>
            <a:r>
              <a:rPr lang="ru-RU" sz="1600" dirty="0"/>
              <a:t> </a:t>
            </a:r>
            <a:r>
              <a:rPr lang="ru-RU" sz="1600" dirty="0" err="1"/>
              <a:t>мережевих</a:t>
            </a:r>
            <a:r>
              <a:rPr lang="ru-RU" sz="1600" dirty="0"/>
              <a:t> </a:t>
            </a:r>
            <a:r>
              <a:rPr lang="ru-RU" sz="1600" dirty="0" err="1" smtClean="0"/>
              <a:t>імен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err="1" smtClean="0"/>
              <a:t>Пошук</a:t>
            </a:r>
            <a:r>
              <a:rPr lang="ru-RU" sz="1600" dirty="0" smtClean="0"/>
              <a:t> </a:t>
            </a:r>
            <a:r>
              <a:rPr lang="ru-RU" sz="1600" dirty="0" err="1"/>
              <a:t>інформації</a:t>
            </a:r>
            <a:r>
              <a:rPr lang="ru-RU" sz="1600" dirty="0"/>
              <a:t> в hosts.txt </a:t>
            </a:r>
            <a:r>
              <a:rPr lang="ru-RU" sz="1600" dirty="0" err="1"/>
              <a:t>або</a:t>
            </a:r>
            <a:r>
              <a:rPr lang="ru-RU" sz="1600" dirty="0"/>
              <a:t> у </a:t>
            </a:r>
            <a:r>
              <a:rPr lang="ru-RU" sz="1600" dirty="0" err="1"/>
              <a:t>кеші</a:t>
            </a:r>
            <a:r>
              <a:rPr lang="ru-RU" sz="1600" dirty="0"/>
              <a:t>;</a:t>
            </a:r>
            <a:r>
              <a:rPr lang="uk-UA" sz="1600" dirty="0"/>
              <a:t/>
            </a:r>
            <a:br>
              <a:rPr lang="uk-UA" sz="1600" dirty="0"/>
            </a:br>
            <a:r>
              <a:rPr lang="ru-RU" sz="1600" dirty="0" err="1"/>
              <a:t>Спроба</a:t>
            </a:r>
            <a:r>
              <a:rPr lang="ru-RU" sz="1600" dirty="0"/>
              <a:t> </a:t>
            </a:r>
            <a:r>
              <a:rPr lang="ru-RU" sz="1600" dirty="0" err="1"/>
              <a:t>знайти</a:t>
            </a:r>
            <a:r>
              <a:rPr lang="ru-RU" sz="1600" dirty="0"/>
              <a:t> </a:t>
            </a:r>
            <a:r>
              <a:rPr lang="ru-RU" sz="1600" dirty="0" err="1"/>
              <a:t>ім'я</a:t>
            </a:r>
            <a:r>
              <a:rPr lang="ru-RU" sz="1600" dirty="0"/>
              <a:t> через DNS;</a:t>
            </a:r>
            <a:r>
              <a:rPr lang="uk-UA" sz="1600" dirty="0"/>
              <a:t/>
            </a:r>
            <a:br>
              <a:rPr lang="uk-UA" sz="1600" dirty="0"/>
            </a:br>
            <a:r>
              <a:rPr lang="ru-RU" sz="1600" dirty="0" err="1"/>
              <a:t>Спроба</a:t>
            </a:r>
            <a:r>
              <a:rPr lang="ru-RU" sz="1600" dirty="0"/>
              <a:t> </a:t>
            </a:r>
            <a:r>
              <a:rPr lang="ru-RU" sz="1600" dirty="0" err="1"/>
              <a:t>знайти</a:t>
            </a:r>
            <a:r>
              <a:rPr lang="ru-RU" sz="1600" dirty="0"/>
              <a:t> </a:t>
            </a:r>
            <a:r>
              <a:rPr lang="ru-RU" sz="1600" dirty="0" err="1"/>
              <a:t>NetBIOS-ім'я</a:t>
            </a:r>
            <a:r>
              <a:rPr lang="ru-RU" sz="1600" dirty="0"/>
              <a:t> у </a:t>
            </a:r>
            <a:r>
              <a:rPr lang="ru-RU" sz="1600" dirty="0" err="1"/>
              <a:t>кеші</a:t>
            </a:r>
            <a:r>
              <a:rPr lang="ru-RU" sz="1600" dirty="0"/>
              <a:t>;</a:t>
            </a:r>
            <a:r>
              <a:rPr lang="uk-UA" sz="1600" dirty="0"/>
              <a:t/>
            </a:r>
            <a:br>
              <a:rPr lang="uk-UA" sz="1600" dirty="0"/>
            </a:br>
            <a:r>
              <a:rPr lang="ru-RU" sz="1600" dirty="0" err="1"/>
              <a:t>Спроба</a:t>
            </a:r>
            <a:r>
              <a:rPr lang="ru-RU" sz="1600" dirty="0"/>
              <a:t> </a:t>
            </a:r>
            <a:r>
              <a:rPr lang="ru-RU" sz="1600" dirty="0" err="1"/>
              <a:t>знайти</a:t>
            </a:r>
            <a:r>
              <a:rPr lang="ru-RU" sz="1600" dirty="0"/>
              <a:t> </a:t>
            </a:r>
            <a:r>
              <a:rPr lang="ru-RU" sz="1600" dirty="0" err="1"/>
              <a:t>NetBIOS</a:t>
            </a:r>
            <a:r>
              <a:rPr lang="ru-RU" sz="1600" dirty="0"/>
              <a:t> </a:t>
            </a:r>
            <a:r>
              <a:rPr lang="ru-RU" sz="1600" dirty="0" err="1"/>
              <a:t>ім'я</a:t>
            </a:r>
            <a:r>
              <a:rPr lang="ru-RU" sz="1600" dirty="0"/>
              <a:t> через WINS-сервер;</a:t>
            </a:r>
            <a:r>
              <a:rPr lang="uk-UA" sz="1600" dirty="0"/>
              <a:t/>
            </a:r>
            <a:br>
              <a:rPr lang="uk-UA" sz="1600" dirty="0"/>
            </a:br>
            <a:r>
              <a:rPr lang="ru-RU" sz="1600" dirty="0" err="1"/>
              <a:t>Спроба</a:t>
            </a:r>
            <a:r>
              <a:rPr lang="ru-RU" sz="1600" dirty="0"/>
              <a:t> </a:t>
            </a:r>
            <a:r>
              <a:rPr lang="ru-RU" sz="1600" dirty="0" err="1"/>
              <a:t>знайти</a:t>
            </a:r>
            <a:r>
              <a:rPr lang="ru-RU" sz="1600" dirty="0"/>
              <a:t> </a:t>
            </a:r>
            <a:r>
              <a:rPr lang="ru-RU" sz="1600" dirty="0" err="1"/>
              <a:t>NetBIOS-ім'я</a:t>
            </a:r>
            <a:r>
              <a:rPr lang="ru-RU" sz="1600" dirty="0"/>
              <a:t> шляхом </a:t>
            </a:r>
            <a:r>
              <a:rPr lang="ru-RU" sz="1600" dirty="0" err="1"/>
              <a:t>відправлення</a:t>
            </a:r>
            <a:r>
              <a:rPr lang="ru-RU" sz="1600" dirty="0"/>
              <a:t> </a:t>
            </a:r>
            <a:r>
              <a:rPr lang="ru-RU" sz="1600" dirty="0" err="1"/>
              <a:t>широкомовних</a:t>
            </a:r>
            <a:r>
              <a:rPr lang="ru-RU" sz="1600" dirty="0"/>
              <a:t> </a:t>
            </a:r>
            <a:r>
              <a:rPr lang="ru-RU" sz="1600" dirty="0" err="1"/>
              <a:t>пакетів</a:t>
            </a:r>
            <a:r>
              <a:rPr lang="ru-RU" sz="1600" dirty="0"/>
              <a:t> до </a:t>
            </a:r>
            <a:r>
              <a:rPr lang="ru-RU" sz="1600" dirty="0" err="1"/>
              <a:t>локальної</a:t>
            </a:r>
            <a:r>
              <a:rPr lang="ru-RU" sz="1600" dirty="0"/>
              <a:t> </a:t>
            </a:r>
            <a:r>
              <a:rPr lang="ru-RU" sz="1600" dirty="0" err="1"/>
              <a:t>мережі</a:t>
            </a:r>
            <a:r>
              <a:rPr lang="ru-RU" sz="1600" dirty="0"/>
              <a:t>;</a:t>
            </a:r>
            <a:r>
              <a:rPr lang="uk-UA" sz="1600" dirty="0"/>
              <a:t/>
            </a:r>
            <a:br>
              <a:rPr lang="uk-UA" sz="1600" dirty="0"/>
            </a:br>
            <a:r>
              <a:rPr lang="ru-RU" sz="1600" dirty="0" err="1"/>
              <a:t>Спроба</a:t>
            </a:r>
            <a:r>
              <a:rPr lang="ru-RU" sz="1600" dirty="0"/>
              <a:t> </a:t>
            </a:r>
            <a:r>
              <a:rPr lang="ru-RU" sz="1600" dirty="0" err="1"/>
              <a:t>знайти</a:t>
            </a:r>
            <a:r>
              <a:rPr lang="ru-RU" sz="1600" dirty="0"/>
              <a:t> </a:t>
            </a:r>
            <a:r>
              <a:rPr lang="ru-RU" sz="1600" dirty="0" err="1"/>
              <a:t>NetBIOS-ім'я</a:t>
            </a:r>
            <a:r>
              <a:rPr lang="ru-RU" sz="1600" dirty="0"/>
              <a:t> в </a:t>
            </a:r>
            <a:r>
              <a:rPr lang="ru-RU" sz="1600" dirty="0" err="1"/>
              <a:t>файлі</a:t>
            </a:r>
            <a:r>
              <a:rPr lang="ru-RU" sz="1600" dirty="0"/>
              <a:t> LMHOSTS.</a:t>
            </a:r>
            <a:r>
              <a:rPr lang="uk-UA" sz="1600" dirty="0"/>
              <a:t/>
            </a:r>
            <a:br>
              <a:rPr lang="uk-UA" sz="1600" dirty="0"/>
            </a:br>
            <a:endParaRPr lang="uk-UA" sz="1600" dirty="0"/>
          </a:p>
        </p:txBody>
      </p:sp>
      <p:pic>
        <p:nvPicPr>
          <p:cNvPr id="4" name="Рисунок 3" descr="https://habrastorage.org/r/w1560/webt/mm/ft/ql/mmftqltbbqm-ahzaluw2rr6d2cc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80" y="260648"/>
            <a:ext cx="7380312" cy="45811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43727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589239"/>
            <a:ext cx="8805664" cy="1368153"/>
          </a:xfrm>
        </p:spPr>
        <p:txBody>
          <a:bodyPr>
            <a:normAutofit/>
          </a:bodyPr>
          <a:lstStyle/>
          <a:p>
            <a:r>
              <a:rPr lang="ru-RU" dirty="0" err="1"/>
              <a:t>Налаштування</a:t>
            </a:r>
            <a:r>
              <a:rPr lang="ru-RU" dirty="0"/>
              <a:t> DNS</a:t>
            </a:r>
            <a:endParaRPr lang="uk-UA" dirty="0"/>
          </a:p>
        </p:txBody>
      </p:sp>
      <p:pic>
        <p:nvPicPr>
          <p:cNvPr id="5" name="Рисунок 4" descr="https://habrastorage.org/r/w1560/webt/ag/kq/bm/agkqbmxuftr7dp-nwl3tdf_gc54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44624"/>
            <a:ext cx="7650480" cy="5692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98270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589239"/>
            <a:ext cx="8805664" cy="1368153"/>
          </a:xfrm>
        </p:spPr>
        <p:txBody>
          <a:bodyPr>
            <a:normAutofit/>
          </a:bodyPr>
          <a:lstStyle/>
          <a:p>
            <a:r>
              <a:rPr lang="ru-RU" dirty="0"/>
              <a:t>WINS-</a:t>
            </a:r>
            <a:r>
              <a:rPr lang="ru-RU" dirty="0" err="1"/>
              <a:t>сервери</a:t>
            </a:r>
            <a:endParaRPr lang="uk-UA" dirty="0"/>
          </a:p>
        </p:txBody>
      </p:sp>
      <p:pic>
        <p:nvPicPr>
          <p:cNvPr id="4" name="Рисунок 3" descr="https://habrastorage.org/r/w1560/webt/hi/nc/ah/hincahnswayfbsuckulknxla8aa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7650480" cy="5692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2087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589239"/>
            <a:ext cx="8805664" cy="1368153"/>
          </a:xfrm>
        </p:spPr>
        <p:txBody>
          <a:bodyPr>
            <a:normAutofit/>
          </a:bodyPr>
          <a:lstStyle/>
          <a:p>
            <a:r>
              <a:rPr lang="ru-RU" dirty="0" err="1"/>
              <a:t>Активація</a:t>
            </a:r>
            <a:r>
              <a:rPr lang="ru-RU" dirty="0"/>
              <a:t> </a:t>
            </a:r>
            <a:r>
              <a:rPr lang="ru-RU" dirty="0" err="1"/>
              <a:t>області</a:t>
            </a:r>
            <a:endParaRPr lang="uk-UA" dirty="0"/>
          </a:p>
        </p:txBody>
      </p:sp>
      <p:pic>
        <p:nvPicPr>
          <p:cNvPr id="5" name="Рисунок 4" descr="https://habrastorage.org/r/w1560/webt/fi/af/1b/fiaf1bfnqoli-wynbsguydrvhcm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60648"/>
            <a:ext cx="7650480" cy="5692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71456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589239"/>
            <a:ext cx="8805664" cy="1368153"/>
          </a:xfrm>
        </p:spPr>
        <p:txBody>
          <a:bodyPr>
            <a:normAutofit/>
          </a:bodyPr>
          <a:lstStyle/>
          <a:p>
            <a:r>
              <a:rPr lang="ru-RU" sz="3200" b="1" dirty="0" err="1"/>
              <a:t>Створюємо</a:t>
            </a:r>
            <a:r>
              <a:rPr lang="ru-RU" sz="3200" b="1" dirty="0"/>
              <a:t> нового </a:t>
            </a:r>
            <a:r>
              <a:rPr lang="ru-RU" sz="3200" b="1" dirty="0" err="1"/>
              <a:t>користувача</a:t>
            </a:r>
            <a:r>
              <a:rPr lang="ru-RU" sz="3200" b="1" dirty="0"/>
              <a:t> в </a:t>
            </a:r>
            <a:r>
              <a:rPr lang="ru-RU" sz="3200" b="1" dirty="0" err="1"/>
              <a:t>домені</a:t>
            </a:r>
            <a:r>
              <a:rPr lang="ru-RU" sz="3200" b="1" dirty="0"/>
              <a:t> AD</a:t>
            </a:r>
            <a:endParaRPr lang="uk-UA" sz="3200" b="1" dirty="0"/>
          </a:p>
        </p:txBody>
      </p:sp>
      <p:pic>
        <p:nvPicPr>
          <p:cNvPr id="4" name="Рисунок 3" descr="https://habrastorage.org/r/w1560/webt/gy/ld/gu/gyldgu82-0mz4a1xvctlkrbworc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4624"/>
            <a:ext cx="7233320" cy="60190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34574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589239"/>
            <a:ext cx="8805664" cy="1368153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Введення</a:t>
            </a:r>
            <a:r>
              <a:rPr lang="ru-RU" b="1" dirty="0"/>
              <a:t> </a:t>
            </a:r>
            <a:r>
              <a:rPr lang="ru-RU" b="1" dirty="0" err="1"/>
              <a:t>робочої</a:t>
            </a:r>
            <a:r>
              <a:rPr lang="ru-RU" b="1" dirty="0"/>
              <a:t> </a:t>
            </a:r>
            <a:r>
              <a:rPr lang="ru-RU" b="1" dirty="0" err="1"/>
              <a:t>станції</a:t>
            </a:r>
            <a:r>
              <a:rPr lang="ru-RU" b="1" dirty="0"/>
              <a:t> до домену</a:t>
            </a:r>
            <a:endParaRPr lang="uk-UA" b="1" dirty="0"/>
          </a:p>
        </p:txBody>
      </p:sp>
      <p:pic>
        <p:nvPicPr>
          <p:cNvPr id="5" name="Рисунок 4" descr="https://habrastorage.org/r/w1560/webt/sw/9f/-x/sw9f-xnmcmzkbkbgba-sdpfytk8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36" y="14242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8193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5589239"/>
            <a:ext cx="8805664" cy="1368153"/>
          </a:xfrm>
        </p:spPr>
        <p:txBody>
          <a:bodyPr>
            <a:normAutofit/>
          </a:bodyPr>
          <a:lstStyle/>
          <a:p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властивості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endParaRPr lang="uk-UA" dirty="0"/>
          </a:p>
        </p:txBody>
      </p:sp>
      <p:pic>
        <p:nvPicPr>
          <p:cNvPr id="4" name="Рисунок 3" descr="https://habrastorage.org/r/w1560/webt/ib/gm/bq/ibgmbqva7zndysghum5onwneml4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864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28496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712968" cy="626469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uk-UA" b="1" dirty="0"/>
              <a:t>Підвищення сервера до </a:t>
            </a:r>
            <a:r>
              <a:rPr lang="en-GB" b="1" dirty="0"/>
              <a:t>Domain Controller</a:t>
            </a:r>
          </a:p>
          <a:p>
            <a:pPr marL="0" indent="0">
              <a:buNone/>
            </a:pPr>
            <a:r>
              <a:rPr lang="uk-UA" dirty="0"/>
              <a:t>Після завершення встановлення з’явиться сповіщення в </a:t>
            </a:r>
            <a:r>
              <a:rPr lang="uk-UA" b="1" i="1" dirty="0"/>
              <a:t>“</a:t>
            </a:r>
            <a:r>
              <a:rPr lang="en-GB" b="1" i="1" dirty="0"/>
              <a:t>Server Manager”</a:t>
            </a:r>
            <a:r>
              <a:rPr lang="en-GB" dirty="0"/>
              <a:t> </a:t>
            </a:r>
            <a:r>
              <a:rPr lang="uk-UA" dirty="0"/>
              <a:t>диспетчері сервера. У сповіщенні натиснути </a:t>
            </a:r>
            <a:r>
              <a:rPr lang="uk-UA" b="1" i="1" dirty="0"/>
              <a:t>“</a:t>
            </a:r>
            <a:r>
              <a:rPr lang="en-GB" b="1" i="1" dirty="0"/>
              <a:t>Promote this server to a domain controller” (</a:t>
            </a:r>
            <a:r>
              <a:rPr lang="uk-UA" b="1" i="1" dirty="0"/>
              <a:t>Підвищити цей сервер до контролера домену)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Після натиснення кнопки має відкритися майстер конфігурації служб домену </a:t>
            </a:r>
            <a:r>
              <a:rPr lang="en-GB" dirty="0"/>
              <a:t>Active Directory. </a:t>
            </a:r>
            <a:r>
              <a:rPr lang="uk-UA" dirty="0"/>
              <a:t>Спочатку потрібно вказати, чи хоче той, хто налаштовує, додати </a:t>
            </a:r>
            <a:r>
              <a:rPr lang="en-GB" dirty="0"/>
              <a:t>domain controller </a:t>
            </a:r>
            <a:r>
              <a:rPr lang="uk-UA" dirty="0"/>
              <a:t>до наявного домену, додати новий домен до наявного лісу або створити новий ліс. Для цього прикладу потрібно обрати </a:t>
            </a:r>
            <a:r>
              <a:rPr lang="uk-UA" b="1" i="1" dirty="0"/>
              <a:t>“</a:t>
            </a:r>
            <a:r>
              <a:rPr lang="en-GB" b="1" i="1" dirty="0"/>
              <a:t>Add a new forest”(</a:t>
            </a:r>
            <a:r>
              <a:rPr lang="uk-UA" b="1" i="1" dirty="0"/>
              <a:t>Додати новий ліс)</a:t>
            </a:r>
            <a:r>
              <a:rPr lang="uk-UA" dirty="0"/>
              <a:t>, ввести ім’я для кореневого домену та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Обрати функціональні рівні для лісу та його кореневого домену, додати можливості, такі як </a:t>
            </a:r>
            <a:r>
              <a:rPr lang="en-GB" dirty="0"/>
              <a:t>DNS, </a:t>
            </a:r>
            <a:r>
              <a:rPr lang="uk-UA" dirty="0"/>
              <a:t>і встановити пароль для режиму </a:t>
            </a:r>
            <a:r>
              <a:rPr lang="uk-UA" b="1" i="1" dirty="0"/>
              <a:t>“</a:t>
            </a:r>
            <a:r>
              <a:rPr lang="en-GB" b="1" i="1" dirty="0"/>
              <a:t>Directory Services Restore Mode (DSRM)” (</a:t>
            </a:r>
            <a:r>
              <a:rPr lang="uk-UA" b="1" i="1" dirty="0"/>
              <a:t>відновлення служб каталогу)</a:t>
            </a:r>
            <a:r>
              <a:rPr lang="uk-UA" dirty="0"/>
              <a:t>. Потрібно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 для продовження.</a:t>
            </a:r>
          </a:p>
          <a:p>
            <a:pPr marL="0" indent="0">
              <a:buNone/>
            </a:pPr>
            <a:r>
              <a:rPr lang="uk-UA" dirty="0"/>
              <a:t>Якщо було обрано опцію </a:t>
            </a:r>
            <a:r>
              <a:rPr lang="en-GB" dirty="0"/>
              <a:t>DNS, </a:t>
            </a:r>
            <a:r>
              <a:rPr lang="uk-UA" dirty="0"/>
              <a:t>на сторінці </a:t>
            </a:r>
            <a:r>
              <a:rPr lang="uk-UA" b="1" i="1" dirty="0"/>
              <a:t>“</a:t>
            </a:r>
            <a:r>
              <a:rPr lang="en-GB" b="1" i="1" dirty="0"/>
              <a:t>DNS Options”(</a:t>
            </a:r>
            <a:r>
              <a:rPr lang="uk-UA" b="1" i="1" dirty="0"/>
              <a:t>Параметри </a:t>
            </a:r>
            <a:r>
              <a:rPr lang="en-GB" b="1" i="1" dirty="0"/>
              <a:t>DNS)</a:t>
            </a:r>
            <a:r>
              <a:rPr lang="en-GB" dirty="0"/>
              <a:t> </a:t>
            </a:r>
            <a:r>
              <a:rPr lang="uk-UA" dirty="0"/>
              <a:t>може з’явитися попередження. Так як створюється новий ліс, це попередження можна безпечно проігнорувати. Потрібно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 для продовження.</a:t>
            </a:r>
          </a:p>
          <a:p>
            <a:pPr marL="0" indent="0">
              <a:buNone/>
            </a:pPr>
            <a:r>
              <a:rPr lang="uk-UA" dirty="0"/>
              <a:t>Майстер автоматично знайде мережу в домені та призначить ім’я домену </a:t>
            </a:r>
            <a:r>
              <a:rPr lang="en-GB" dirty="0"/>
              <a:t>NetBIOS. </a:t>
            </a:r>
            <a:r>
              <a:rPr lang="uk-UA" dirty="0"/>
              <a:t>Ім’я можна змінити за потреби. Потрібно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 для продовження.</a:t>
            </a:r>
          </a:p>
          <a:p>
            <a:pPr marL="0" indent="0">
              <a:buNone/>
            </a:pPr>
            <a:r>
              <a:rPr lang="uk-UA" dirty="0"/>
              <a:t>На сторінці </a:t>
            </a:r>
            <a:r>
              <a:rPr lang="uk-UA" b="1" i="1" dirty="0"/>
              <a:t>“</a:t>
            </a:r>
            <a:r>
              <a:rPr lang="en-GB" b="1" i="1" dirty="0"/>
              <a:t>Paths”(</a:t>
            </a:r>
            <a:r>
              <a:rPr lang="uk-UA" b="1" i="1" dirty="0"/>
              <a:t>Шляхи)</a:t>
            </a:r>
            <a:r>
              <a:rPr lang="uk-UA" dirty="0"/>
              <a:t> вказати місце розташування бази даних </a:t>
            </a:r>
            <a:r>
              <a:rPr lang="en-GB" dirty="0"/>
              <a:t>AD DS, </a:t>
            </a:r>
            <a:r>
              <a:rPr lang="uk-UA" dirty="0"/>
              <a:t>журналів і файлів </a:t>
            </a:r>
            <a:r>
              <a:rPr lang="en-GB" dirty="0"/>
              <a:t>SYSVOL. </a:t>
            </a:r>
            <a:r>
              <a:rPr lang="uk-UA" dirty="0"/>
              <a:t>Можна змінити стандартне розташування. У великих середовищах рекомендується зберігати їх на окремому диску для можливості відновлення </a:t>
            </a:r>
            <a:r>
              <a:rPr lang="en-GB" dirty="0"/>
              <a:t>Active Directory, </a:t>
            </a:r>
            <a:r>
              <a:rPr lang="uk-UA" dirty="0"/>
              <a:t>якщо системний диск буде пошкоджено. Потрібно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 для продовження.</a:t>
            </a:r>
          </a:p>
          <a:p>
            <a:pPr marL="0" indent="0">
              <a:buNone/>
            </a:pPr>
            <a:r>
              <a:rPr lang="uk-UA" dirty="0"/>
              <a:t>Необхідно переглянути все, що було обрано до цього і натиснути </a:t>
            </a:r>
            <a:r>
              <a:rPr lang="uk-UA" b="1" i="1" dirty="0"/>
              <a:t>“</a:t>
            </a:r>
            <a:r>
              <a:rPr lang="en-GB" b="1" i="1" dirty="0"/>
              <a:t>Next”(</a:t>
            </a:r>
            <a:r>
              <a:rPr lang="uk-UA" b="1" i="1" dirty="0"/>
              <a:t>Далі)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Майстер перевірить, чи комп’ютер відповідає вимогам. Після підтвердження потрібно натиснути </a:t>
            </a:r>
            <a:r>
              <a:rPr lang="uk-UA" b="1" i="1" dirty="0"/>
              <a:t>“</a:t>
            </a:r>
            <a:r>
              <a:rPr lang="en-GB" b="1" i="1" dirty="0"/>
              <a:t>Install”(</a:t>
            </a:r>
            <a:r>
              <a:rPr lang="uk-UA" b="1" i="1" dirty="0"/>
              <a:t>Встановити)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Після завершення встановлення сервер автоматично перезавантажиться. Після перезавантаження сервер стане </a:t>
            </a:r>
            <a:r>
              <a:rPr lang="en-GB" dirty="0"/>
              <a:t>domain controller </a:t>
            </a:r>
            <a:r>
              <a:rPr lang="uk-UA" dirty="0"/>
              <a:t>з встановленими службами домену </a:t>
            </a:r>
            <a:r>
              <a:rPr lang="en-GB" dirty="0"/>
              <a:t>Active Directory.</a:t>
            </a:r>
          </a:p>
          <a:p>
            <a:pPr marL="0" indent="0">
              <a:buNone/>
            </a:pPr>
            <a:r>
              <a:rPr lang="uk-UA" dirty="0"/>
              <a:t>Для того, аби перевірити, чи була створена структура домену, потрібно відкрити </a:t>
            </a:r>
            <a:r>
              <a:rPr lang="en-GB" dirty="0"/>
              <a:t>Server Manager, </a:t>
            </a:r>
            <a:r>
              <a:rPr lang="uk-UA" dirty="0"/>
              <a:t>натиснути </a:t>
            </a:r>
            <a:r>
              <a:rPr lang="uk-UA" b="1" i="1" dirty="0"/>
              <a:t>“</a:t>
            </a:r>
            <a:r>
              <a:rPr lang="en-GB" b="1" i="1" dirty="0"/>
              <a:t>Tools”(</a:t>
            </a:r>
            <a:r>
              <a:rPr lang="uk-UA" b="1" i="1" dirty="0"/>
              <a:t>Інструменти)</a:t>
            </a:r>
            <a:r>
              <a:rPr lang="uk-UA" dirty="0"/>
              <a:t> та обрати </a:t>
            </a:r>
            <a:r>
              <a:rPr lang="uk-UA" b="1" i="1" dirty="0"/>
              <a:t>“</a:t>
            </a:r>
            <a:r>
              <a:rPr lang="en-GB" b="1" i="1" dirty="0"/>
              <a:t>Active Directory Users and Computers”(</a:t>
            </a:r>
            <a:r>
              <a:rPr lang="uk-UA" b="1" i="1" dirty="0"/>
              <a:t>Користувачі та комп’ютери </a:t>
            </a:r>
            <a:r>
              <a:rPr lang="en-GB" b="1" i="1" dirty="0"/>
              <a:t>Active Directory)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95749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65760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Active Directory </a:t>
            </a:r>
            <a:r>
              <a:rPr lang="uk-UA" dirty="0"/>
              <a:t>складається з чотирьох основних служб, які дозволяють йому забезпечувати </a:t>
            </a:r>
            <a:r>
              <a:rPr lang="uk-UA" b="1" dirty="0">
                <a:hlinkClick r:id="rId2"/>
              </a:rPr>
              <a:t>керування ідентифікацією та доступом</a:t>
            </a:r>
            <a:r>
              <a:rPr lang="uk-UA" dirty="0"/>
              <a:t> :</a:t>
            </a:r>
          </a:p>
          <a:p>
            <a:pPr marL="0" indent="0">
              <a:buNone/>
            </a:pPr>
            <a:r>
              <a:rPr lang="uk-UA" dirty="0"/>
              <a:t>Служби доменів </a:t>
            </a:r>
            <a:r>
              <a:rPr lang="en-GB" dirty="0"/>
              <a:t>Active Directory (AD DS)</a:t>
            </a:r>
          </a:p>
          <a:p>
            <a:pPr marL="0" indent="0">
              <a:buNone/>
            </a:pPr>
            <a:r>
              <a:rPr lang="uk-UA" dirty="0"/>
              <a:t>Це головна служба в протоколі </a:t>
            </a:r>
            <a:r>
              <a:rPr lang="en-GB" dirty="0"/>
              <a:t>Active Directory. </a:t>
            </a:r>
            <a:r>
              <a:rPr lang="uk-UA" dirty="0"/>
              <a:t>Окрім зберігання інформації про каталоги, вона також контролює, які користувачі можуть отримувати доступ до кожного корпоративного ресурсу та групових політик. </a:t>
            </a:r>
            <a:r>
              <a:rPr lang="en-GB" b="1" dirty="0">
                <a:hlinkClick r:id="rId3"/>
              </a:rPr>
              <a:t>AD DS</a:t>
            </a:r>
            <a:r>
              <a:rPr lang="en-GB" dirty="0"/>
              <a:t> </a:t>
            </a:r>
            <a:r>
              <a:rPr lang="uk-UA" dirty="0"/>
              <a:t>використовує багаторівневу структуру, що включає домени, дерева та ліси, для координації мережевих ресурсів.</a:t>
            </a:r>
          </a:p>
          <a:p>
            <a:pPr marL="0" indent="0">
              <a:buNone/>
            </a:pPr>
            <a:r>
              <a:rPr lang="uk-UA" dirty="0"/>
              <a:t>Служби легкого каталогу </a:t>
            </a:r>
            <a:r>
              <a:rPr lang="en-GB" dirty="0"/>
              <a:t>Active Directory (AD LDS)</a:t>
            </a:r>
          </a:p>
          <a:p>
            <a:pPr marL="0" indent="0">
              <a:buNone/>
            </a:pPr>
            <a:r>
              <a:rPr lang="uk-UA" dirty="0"/>
              <a:t>Він має ту саму кодову базу та функціональність, що й </a:t>
            </a:r>
            <a:r>
              <a:rPr lang="en-GB" dirty="0"/>
              <a:t>AD DS. </a:t>
            </a:r>
            <a:r>
              <a:rPr lang="uk-UA" dirty="0"/>
              <a:t>Однак, на відміну від </a:t>
            </a:r>
            <a:r>
              <a:rPr lang="en-GB" dirty="0"/>
              <a:t>AD DS, AD LDS </a:t>
            </a:r>
            <a:r>
              <a:rPr lang="uk-UA" dirty="0"/>
              <a:t>використовує </a:t>
            </a:r>
            <a:r>
              <a:rPr lang="uk-UA" b="1" dirty="0">
                <a:hlinkClick r:id="rId4"/>
              </a:rPr>
              <a:t>протокол </a:t>
            </a:r>
            <a:r>
              <a:rPr lang="en-GB" b="1" dirty="0">
                <a:hlinkClick r:id="rId4"/>
              </a:rPr>
              <a:t>LDAP (Lightweight Directory Access Protocol</a:t>
            </a:r>
            <a:r>
              <a:rPr lang="en-GB" dirty="0"/>
              <a:t> ), </a:t>
            </a:r>
            <a:r>
              <a:rPr lang="uk-UA" dirty="0"/>
              <a:t>що дозволяє йому запускатися на кількох екземплярах на одному сервері. </a:t>
            </a:r>
          </a:p>
          <a:p>
            <a:pPr marL="0" indent="0">
              <a:buNone/>
            </a:pPr>
            <a:r>
              <a:rPr lang="uk-UA" dirty="0"/>
              <a:t>Служби федерації </a:t>
            </a:r>
            <a:r>
              <a:rPr lang="en-GB" dirty="0"/>
              <a:t>Active Directory (AD FS)</a:t>
            </a:r>
          </a:p>
          <a:p>
            <a:pPr marL="0" indent="0">
              <a:buNone/>
            </a:pPr>
            <a:r>
              <a:rPr lang="uk-UA" dirty="0"/>
              <a:t>Як випливає з назви, </a:t>
            </a:r>
            <a:r>
              <a:rPr lang="en-GB" b="1" dirty="0">
                <a:hlinkClick r:id="rId5"/>
              </a:rPr>
              <a:t>AD FS</a:t>
            </a:r>
            <a:r>
              <a:rPr lang="en-GB" dirty="0"/>
              <a:t> – </a:t>
            </a:r>
            <a:r>
              <a:rPr lang="uk-UA" dirty="0"/>
              <a:t>це федеративна служба ідентифікації, яка надає можливості </a:t>
            </a:r>
            <a:r>
              <a:rPr lang="uk-UA" b="1" dirty="0">
                <a:hlinkClick r:id="rId6"/>
              </a:rPr>
              <a:t>єдиного входу</a:t>
            </a:r>
            <a:r>
              <a:rPr lang="uk-UA" dirty="0"/>
              <a:t> (</a:t>
            </a:r>
            <a:r>
              <a:rPr lang="en-GB" dirty="0"/>
              <a:t>SSO). </a:t>
            </a:r>
            <a:r>
              <a:rPr lang="uk-UA" dirty="0"/>
              <a:t>Вона використовує багато популярних протоколів, таких як </a:t>
            </a:r>
            <a:r>
              <a:rPr lang="en-GB" b="1" dirty="0">
                <a:hlinkClick r:id="rId7"/>
              </a:rPr>
              <a:t>OAuth</a:t>
            </a:r>
            <a:r>
              <a:rPr lang="en-GB" dirty="0"/>
              <a:t> , </a:t>
            </a:r>
            <a:r>
              <a:rPr lang="en-GB" b="1" dirty="0" err="1">
                <a:hlinkClick r:id="rId8"/>
              </a:rPr>
              <a:t>OpenID</a:t>
            </a:r>
            <a:r>
              <a:rPr lang="en-GB" dirty="0"/>
              <a:t> </a:t>
            </a:r>
            <a:r>
              <a:rPr lang="uk-UA" dirty="0"/>
              <a:t>та </a:t>
            </a:r>
            <a:r>
              <a:rPr lang="uk-UA" b="1" dirty="0">
                <a:hlinkClick r:id="rId9"/>
              </a:rPr>
              <a:t>мова розмітки безпечних тверджень</a:t>
            </a:r>
            <a:r>
              <a:rPr lang="uk-UA" dirty="0"/>
              <a:t> (</a:t>
            </a:r>
            <a:r>
              <a:rPr lang="en-GB" dirty="0"/>
              <a:t>SAML), </a:t>
            </a:r>
            <a:r>
              <a:rPr lang="uk-UA" dirty="0"/>
              <a:t>для передачі облікових даних між різними постачальниками ідентифікаційних даних. </a:t>
            </a:r>
            <a:r>
              <a:rPr lang="en-GB" dirty="0"/>
              <a:t>AD FS </a:t>
            </a:r>
            <a:r>
              <a:rPr lang="uk-UA" dirty="0"/>
              <a:t>залишається підтримкою, але більш сучасні функції та деякі можливості </a:t>
            </a:r>
            <a:r>
              <a:rPr lang="en-GB" dirty="0"/>
              <a:t>AD FS </a:t>
            </a:r>
            <a:r>
              <a:rPr lang="uk-UA" dirty="0"/>
              <a:t>тепер включені до хмарних служб передплати на каталоги </a:t>
            </a:r>
            <a:r>
              <a:rPr lang="en-GB" dirty="0"/>
              <a:t>Microsoft </a:t>
            </a:r>
            <a:r>
              <a:rPr lang="en-GB" dirty="0" err="1"/>
              <a:t>Entra</a:t>
            </a:r>
            <a:r>
              <a:rPr lang="en-GB" dirty="0"/>
              <a:t> ID.</a:t>
            </a:r>
          </a:p>
          <a:p>
            <a:pPr marL="0" indent="0">
              <a:buNone/>
            </a:pPr>
            <a:r>
              <a:rPr lang="uk-UA" dirty="0"/>
              <a:t>Служби сертифікації </a:t>
            </a:r>
            <a:r>
              <a:rPr lang="en-GB" dirty="0"/>
              <a:t>Active Directory (AD CS)</a:t>
            </a:r>
          </a:p>
          <a:p>
            <a:pPr marL="0" indent="0">
              <a:buNone/>
            </a:pPr>
            <a:r>
              <a:rPr lang="uk-UA" dirty="0"/>
              <a:t>Це сервіс, який створює локальну </a:t>
            </a:r>
            <a:r>
              <a:rPr lang="uk-UA" b="1" dirty="0">
                <a:hlinkClick r:id="rId10"/>
              </a:rPr>
              <a:t>інфраструктуру відкритих ключів (</a:t>
            </a:r>
            <a:r>
              <a:rPr lang="en-GB" b="1" dirty="0">
                <a:hlinkClick r:id="rId10"/>
              </a:rPr>
              <a:t>PKI)</a:t>
            </a:r>
            <a:r>
              <a:rPr lang="en-GB" dirty="0"/>
              <a:t> , </a:t>
            </a:r>
            <a:r>
              <a:rPr lang="uk-UA" dirty="0"/>
              <a:t>що дозволяє організаціям створювати, перевіряти та скасовувати сертифікати для внутрішнього використання. Для цієї мети </a:t>
            </a:r>
            <a:r>
              <a:rPr lang="en-GB" dirty="0"/>
              <a:t>Microsoft </a:t>
            </a:r>
            <a:r>
              <a:rPr lang="uk-UA" dirty="0"/>
              <a:t>тепер пропонує додаткову платну послугу підписки до своєї лінійки продуктів </a:t>
            </a:r>
            <a:r>
              <a:rPr lang="en-GB" dirty="0"/>
              <a:t>Intune.</a:t>
            </a:r>
          </a:p>
        </p:txBody>
      </p:sp>
    </p:spTree>
    <p:extLst>
      <p:ext uri="{BB962C8B-B14F-4D97-AF65-F5344CB8AC3E}">
        <p14:creationId xmlns:p14="http://schemas.microsoft.com/office/powerpoint/2010/main" val="11527910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65760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uk-UA" b="1" dirty="0"/>
              <a:t>Підвищення сервера до </a:t>
            </a:r>
            <a:r>
              <a:rPr lang="uk-UA" b="1" dirty="0" err="1"/>
              <a:t>Domain</a:t>
            </a:r>
            <a:r>
              <a:rPr lang="uk-UA" b="1" dirty="0"/>
              <a:t> </a:t>
            </a:r>
            <a:r>
              <a:rPr lang="uk-UA" b="1" dirty="0" err="1"/>
              <a:t>Controller</a:t>
            </a:r>
            <a:endParaRPr lang="uk-UA" b="1" dirty="0"/>
          </a:p>
          <a:p>
            <a:pPr marL="0" lvl="0" indent="0">
              <a:buNone/>
            </a:pPr>
            <a:r>
              <a:rPr lang="uk-UA" dirty="0"/>
              <a:t>Після завершення встановлення з’явиться сповіщення в </a:t>
            </a:r>
            <a:r>
              <a:rPr lang="uk-UA" b="1" i="1" dirty="0"/>
              <a:t>“Server </a:t>
            </a:r>
            <a:r>
              <a:rPr lang="uk-UA" b="1" i="1" dirty="0" err="1"/>
              <a:t>Manager</a:t>
            </a:r>
            <a:r>
              <a:rPr lang="uk-UA" b="1" i="1" dirty="0"/>
              <a:t>”</a:t>
            </a:r>
            <a:r>
              <a:rPr lang="uk-UA" dirty="0"/>
              <a:t> диспетчері сервера. У сповіщенні натиснути </a:t>
            </a:r>
            <a:r>
              <a:rPr lang="uk-UA" b="1" i="1" dirty="0"/>
              <a:t>“</a:t>
            </a:r>
            <a:r>
              <a:rPr lang="uk-UA" b="1" i="1" dirty="0" err="1"/>
              <a:t>Promote</a:t>
            </a:r>
            <a:r>
              <a:rPr lang="uk-UA" b="1" i="1" dirty="0"/>
              <a:t> </a:t>
            </a:r>
            <a:r>
              <a:rPr lang="uk-UA" b="1" i="1" dirty="0" err="1"/>
              <a:t>this</a:t>
            </a:r>
            <a:r>
              <a:rPr lang="uk-UA" b="1" i="1" dirty="0"/>
              <a:t> </a:t>
            </a:r>
            <a:r>
              <a:rPr lang="uk-UA" b="1" i="1" dirty="0" err="1"/>
              <a:t>server</a:t>
            </a:r>
            <a:r>
              <a:rPr lang="uk-UA" b="1" i="1" dirty="0"/>
              <a:t> </a:t>
            </a:r>
            <a:r>
              <a:rPr lang="uk-UA" b="1" i="1" dirty="0" err="1"/>
              <a:t>to</a:t>
            </a:r>
            <a:r>
              <a:rPr lang="uk-UA" b="1" i="1" dirty="0"/>
              <a:t> a </a:t>
            </a:r>
            <a:r>
              <a:rPr lang="uk-UA" b="1" i="1" dirty="0" err="1"/>
              <a:t>domain</a:t>
            </a:r>
            <a:r>
              <a:rPr lang="uk-UA" b="1" i="1" dirty="0"/>
              <a:t> </a:t>
            </a:r>
            <a:r>
              <a:rPr lang="uk-UA" b="1" i="1" dirty="0" err="1"/>
              <a:t>controller</a:t>
            </a:r>
            <a:r>
              <a:rPr lang="uk-UA" b="1" i="1" dirty="0"/>
              <a:t>” (Підвищити цей сервер до контролера домену)</a:t>
            </a:r>
            <a:r>
              <a:rPr lang="uk-UA" dirty="0"/>
              <a:t>.</a:t>
            </a:r>
          </a:p>
          <a:p>
            <a:pPr marL="0" lvl="0" indent="0">
              <a:buNone/>
            </a:pPr>
            <a:r>
              <a:rPr lang="uk-UA" dirty="0"/>
              <a:t>Після натиснення кнопки має відкритися майстер конфігурації служб домену </a:t>
            </a:r>
            <a:r>
              <a:rPr lang="uk-UA" dirty="0" err="1"/>
              <a:t>Active</a:t>
            </a:r>
            <a:r>
              <a:rPr lang="uk-UA" dirty="0"/>
              <a:t> </a:t>
            </a:r>
            <a:r>
              <a:rPr lang="uk-UA" dirty="0" err="1"/>
              <a:t>Directory</a:t>
            </a:r>
            <a:r>
              <a:rPr lang="uk-UA" dirty="0"/>
              <a:t>. Спочатку потрібно вказати, чи хоче той, хто налаштовує, додати </a:t>
            </a:r>
            <a:r>
              <a:rPr lang="uk-UA" dirty="0" err="1"/>
              <a:t>domain</a:t>
            </a:r>
            <a:r>
              <a:rPr lang="uk-UA" dirty="0"/>
              <a:t> </a:t>
            </a:r>
            <a:r>
              <a:rPr lang="uk-UA" dirty="0" err="1"/>
              <a:t>controller</a:t>
            </a:r>
            <a:r>
              <a:rPr lang="uk-UA" dirty="0"/>
              <a:t> до наявного домену, додати новий домен до наявного лісу або створити новий ліс. Для цього прикладу потрібно обрати </a:t>
            </a:r>
            <a:r>
              <a:rPr lang="uk-UA" b="1" i="1" dirty="0"/>
              <a:t>“</a:t>
            </a:r>
            <a:r>
              <a:rPr lang="uk-UA" b="1" i="1" dirty="0" err="1"/>
              <a:t>Add</a:t>
            </a:r>
            <a:r>
              <a:rPr lang="uk-UA" b="1" i="1" dirty="0"/>
              <a:t> a </a:t>
            </a:r>
            <a:r>
              <a:rPr lang="uk-UA" b="1" i="1" dirty="0" err="1"/>
              <a:t>new</a:t>
            </a:r>
            <a:r>
              <a:rPr lang="uk-UA" b="1" i="1" dirty="0"/>
              <a:t> </a:t>
            </a:r>
            <a:r>
              <a:rPr lang="uk-UA" b="1" i="1" dirty="0" err="1"/>
              <a:t>forest</a:t>
            </a:r>
            <a:r>
              <a:rPr lang="uk-UA" b="1" i="1" dirty="0"/>
              <a:t>”(Додати новий ліс)</a:t>
            </a:r>
            <a:r>
              <a:rPr lang="uk-UA" dirty="0"/>
              <a:t>, ввести ім’я для кореневого домену та натиснути </a:t>
            </a:r>
            <a:r>
              <a:rPr lang="uk-UA" b="1" i="1" dirty="0"/>
              <a:t>“</a:t>
            </a:r>
            <a:r>
              <a:rPr lang="uk-UA" b="1" i="1" dirty="0" err="1"/>
              <a:t>Next</a:t>
            </a:r>
            <a:r>
              <a:rPr lang="uk-UA" b="1" i="1" dirty="0"/>
              <a:t>”(Далі)</a:t>
            </a:r>
            <a:r>
              <a:rPr lang="uk-UA" dirty="0"/>
              <a:t>.</a:t>
            </a:r>
          </a:p>
          <a:p>
            <a:pPr marL="0" lvl="0" indent="0">
              <a:buNone/>
            </a:pPr>
            <a:r>
              <a:rPr lang="uk-UA" dirty="0"/>
              <a:t>Обрати функціональні рівні для лісу та його кореневого домену, додати можливості, такі як DNS, і встановити пароль для режиму </a:t>
            </a:r>
            <a:r>
              <a:rPr lang="uk-UA" b="1" i="1" dirty="0"/>
              <a:t>“</a:t>
            </a:r>
            <a:r>
              <a:rPr lang="uk-UA" b="1" i="1" dirty="0" err="1"/>
              <a:t>Directory</a:t>
            </a:r>
            <a:r>
              <a:rPr lang="uk-UA" b="1" i="1" dirty="0"/>
              <a:t> </a:t>
            </a:r>
            <a:r>
              <a:rPr lang="uk-UA" b="1" i="1" dirty="0" err="1"/>
              <a:t>Services</a:t>
            </a:r>
            <a:r>
              <a:rPr lang="uk-UA" b="1" i="1" dirty="0"/>
              <a:t> </a:t>
            </a:r>
            <a:r>
              <a:rPr lang="uk-UA" b="1" i="1" dirty="0" err="1"/>
              <a:t>Restore</a:t>
            </a:r>
            <a:r>
              <a:rPr lang="uk-UA" b="1" i="1" dirty="0"/>
              <a:t> </a:t>
            </a:r>
            <a:r>
              <a:rPr lang="uk-UA" b="1" i="1" dirty="0" err="1"/>
              <a:t>Mode</a:t>
            </a:r>
            <a:r>
              <a:rPr lang="uk-UA" b="1" i="1" dirty="0"/>
              <a:t> (DSRM)” (відновлення служб каталогу)</a:t>
            </a:r>
            <a:r>
              <a:rPr lang="uk-UA" dirty="0"/>
              <a:t>. Потрібно натиснути </a:t>
            </a:r>
            <a:r>
              <a:rPr lang="uk-UA" b="1" i="1" dirty="0"/>
              <a:t>“</a:t>
            </a:r>
            <a:r>
              <a:rPr lang="uk-UA" b="1" i="1" dirty="0" err="1"/>
              <a:t>Next</a:t>
            </a:r>
            <a:r>
              <a:rPr lang="uk-UA" b="1" i="1" dirty="0"/>
              <a:t>”(Далі)</a:t>
            </a:r>
            <a:r>
              <a:rPr lang="uk-UA" dirty="0"/>
              <a:t> для продовження.</a:t>
            </a:r>
          </a:p>
          <a:p>
            <a:pPr marL="0" lvl="0" indent="0">
              <a:buNone/>
            </a:pPr>
            <a:r>
              <a:rPr lang="uk-UA" dirty="0"/>
              <a:t>Якщо було обрано опцію DNS, на сторінці </a:t>
            </a:r>
            <a:r>
              <a:rPr lang="uk-UA" b="1" i="1" dirty="0"/>
              <a:t>“DNS </a:t>
            </a:r>
            <a:r>
              <a:rPr lang="uk-UA" b="1" i="1" dirty="0" err="1"/>
              <a:t>Options</a:t>
            </a:r>
            <a:r>
              <a:rPr lang="uk-UA" b="1" i="1" dirty="0"/>
              <a:t>”(Параметри DNS)</a:t>
            </a:r>
            <a:r>
              <a:rPr lang="uk-UA" dirty="0"/>
              <a:t> може з’явитися попередження. Так як створюється новий ліс, це попередження можна безпечно проігнорувати. Потрібно натиснути </a:t>
            </a:r>
            <a:r>
              <a:rPr lang="uk-UA" b="1" i="1" dirty="0"/>
              <a:t>“</a:t>
            </a:r>
            <a:r>
              <a:rPr lang="uk-UA" b="1" i="1" dirty="0" err="1"/>
              <a:t>Next</a:t>
            </a:r>
            <a:r>
              <a:rPr lang="uk-UA" b="1" i="1" dirty="0"/>
              <a:t>”(Далі)</a:t>
            </a:r>
            <a:r>
              <a:rPr lang="uk-UA" dirty="0"/>
              <a:t> для продовження.</a:t>
            </a:r>
          </a:p>
          <a:p>
            <a:pPr marL="0" lvl="0" indent="0">
              <a:buNone/>
            </a:pPr>
            <a:r>
              <a:rPr lang="uk-UA" dirty="0"/>
              <a:t>Майстер автоматично знайде мережу в домені та призначить ім’я домену </a:t>
            </a:r>
            <a:r>
              <a:rPr lang="uk-UA" dirty="0" err="1"/>
              <a:t>NetBIOS</a:t>
            </a:r>
            <a:r>
              <a:rPr lang="uk-UA" dirty="0"/>
              <a:t>. Ім’я можна змінити за потреби. Потрібно натиснути </a:t>
            </a:r>
            <a:r>
              <a:rPr lang="uk-UA" b="1" i="1" dirty="0"/>
              <a:t>“</a:t>
            </a:r>
            <a:r>
              <a:rPr lang="uk-UA" b="1" i="1" dirty="0" err="1"/>
              <a:t>Next</a:t>
            </a:r>
            <a:r>
              <a:rPr lang="uk-UA" b="1" i="1" dirty="0"/>
              <a:t>”(Далі)</a:t>
            </a:r>
            <a:r>
              <a:rPr lang="uk-UA" dirty="0"/>
              <a:t> для продовження.</a:t>
            </a:r>
          </a:p>
          <a:p>
            <a:pPr marL="0" lvl="0" indent="0">
              <a:buNone/>
            </a:pPr>
            <a:r>
              <a:rPr lang="uk-UA" dirty="0"/>
              <a:t>На сторінці </a:t>
            </a:r>
            <a:r>
              <a:rPr lang="uk-UA" b="1" i="1" dirty="0"/>
              <a:t>“</a:t>
            </a:r>
            <a:r>
              <a:rPr lang="uk-UA" b="1" i="1" dirty="0" err="1"/>
              <a:t>Paths</a:t>
            </a:r>
            <a:r>
              <a:rPr lang="uk-UA" b="1" i="1" dirty="0"/>
              <a:t>”(Шляхи)</a:t>
            </a:r>
            <a:r>
              <a:rPr lang="uk-UA" dirty="0"/>
              <a:t> вказати місце розташування бази даних AD DS, журналів і файлів SYSVOL. Можна змінити стандартне розташування. У великих середовищах рекомендується зберігати їх на окремому диску для можливості відновлення </a:t>
            </a:r>
            <a:r>
              <a:rPr lang="uk-UA" dirty="0" err="1"/>
              <a:t>Active</a:t>
            </a:r>
            <a:r>
              <a:rPr lang="uk-UA" dirty="0"/>
              <a:t> </a:t>
            </a:r>
            <a:r>
              <a:rPr lang="uk-UA" dirty="0" err="1"/>
              <a:t>Directory</a:t>
            </a:r>
            <a:r>
              <a:rPr lang="uk-UA" dirty="0"/>
              <a:t>, якщо системний диск буде пошкоджено. Потрібно натиснути </a:t>
            </a:r>
            <a:r>
              <a:rPr lang="uk-UA" b="1" i="1" dirty="0"/>
              <a:t>“</a:t>
            </a:r>
            <a:r>
              <a:rPr lang="uk-UA" b="1" i="1" dirty="0" err="1"/>
              <a:t>Next</a:t>
            </a:r>
            <a:r>
              <a:rPr lang="uk-UA" b="1" i="1" dirty="0"/>
              <a:t>”(Далі)</a:t>
            </a:r>
            <a:r>
              <a:rPr lang="uk-UA" dirty="0"/>
              <a:t> для продовження.</a:t>
            </a:r>
          </a:p>
          <a:p>
            <a:pPr marL="0" lvl="0" indent="0">
              <a:buNone/>
            </a:pPr>
            <a:r>
              <a:rPr lang="uk-UA" dirty="0"/>
              <a:t>Необхідно переглянути все, що було обрано до цього і натиснути </a:t>
            </a:r>
            <a:r>
              <a:rPr lang="uk-UA" b="1" i="1" dirty="0"/>
              <a:t>“</a:t>
            </a:r>
            <a:r>
              <a:rPr lang="uk-UA" b="1" i="1" dirty="0" err="1"/>
              <a:t>Next</a:t>
            </a:r>
            <a:r>
              <a:rPr lang="uk-UA" b="1" i="1" dirty="0"/>
              <a:t>”(Далі)</a:t>
            </a:r>
            <a:r>
              <a:rPr lang="uk-UA" dirty="0"/>
              <a:t>.</a:t>
            </a:r>
          </a:p>
          <a:p>
            <a:pPr marL="0" lvl="0" indent="0">
              <a:buNone/>
            </a:pPr>
            <a:r>
              <a:rPr lang="uk-UA" dirty="0"/>
              <a:t>Майстер перевірить, чи комп’ютер відповідає вимогам. Після підтвердження потрібно натиснути </a:t>
            </a:r>
            <a:r>
              <a:rPr lang="uk-UA" b="1" i="1" dirty="0"/>
              <a:t>“</a:t>
            </a:r>
            <a:r>
              <a:rPr lang="uk-UA" b="1" i="1" dirty="0" err="1"/>
              <a:t>Install</a:t>
            </a:r>
            <a:r>
              <a:rPr lang="uk-UA" b="1" i="1" dirty="0"/>
              <a:t>”(Встановити)</a:t>
            </a:r>
            <a:r>
              <a:rPr lang="uk-UA" dirty="0"/>
              <a:t>.</a:t>
            </a:r>
          </a:p>
          <a:p>
            <a:pPr marL="0" lvl="0" indent="0">
              <a:buNone/>
            </a:pPr>
            <a:r>
              <a:rPr lang="uk-UA" dirty="0"/>
              <a:t>Після завершення встановлення сервер автоматично перезавантажиться. Після перезавантаження сервер стане </a:t>
            </a:r>
            <a:r>
              <a:rPr lang="uk-UA" dirty="0" err="1"/>
              <a:t>domain</a:t>
            </a:r>
            <a:r>
              <a:rPr lang="uk-UA" dirty="0"/>
              <a:t> </a:t>
            </a:r>
            <a:r>
              <a:rPr lang="uk-UA" dirty="0" err="1"/>
              <a:t>controller</a:t>
            </a:r>
            <a:r>
              <a:rPr lang="uk-UA" dirty="0"/>
              <a:t> з встановленими службами домену </a:t>
            </a:r>
            <a:r>
              <a:rPr lang="uk-UA" dirty="0" err="1"/>
              <a:t>Active</a:t>
            </a:r>
            <a:r>
              <a:rPr lang="uk-UA" dirty="0"/>
              <a:t> </a:t>
            </a:r>
            <a:r>
              <a:rPr lang="uk-UA" dirty="0" err="1"/>
              <a:t>Directory</a:t>
            </a:r>
            <a:r>
              <a:rPr lang="uk-UA" dirty="0"/>
              <a:t>.</a:t>
            </a:r>
          </a:p>
          <a:p>
            <a:pPr marL="0" lvl="0" indent="0">
              <a:buNone/>
            </a:pPr>
            <a:r>
              <a:rPr lang="uk-UA" dirty="0"/>
              <a:t>Для того, аби перевірити, чи була створена структура домену, потрібно відкрити Server </a:t>
            </a:r>
            <a:r>
              <a:rPr lang="uk-UA" dirty="0" err="1"/>
              <a:t>Manager</a:t>
            </a:r>
            <a:r>
              <a:rPr lang="uk-UA" dirty="0"/>
              <a:t>, натиснути </a:t>
            </a:r>
            <a:r>
              <a:rPr lang="uk-UA" b="1" i="1" dirty="0"/>
              <a:t>“</a:t>
            </a:r>
            <a:r>
              <a:rPr lang="uk-UA" b="1" i="1" dirty="0" err="1"/>
              <a:t>Tools</a:t>
            </a:r>
            <a:r>
              <a:rPr lang="uk-UA" b="1" i="1" dirty="0"/>
              <a:t>”(Інструменти)</a:t>
            </a:r>
            <a:r>
              <a:rPr lang="uk-UA" dirty="0"/>
              <a:t> та обрати </a:t>
            </a:r>
            <a:r>
              <a:rPr lang="uk-UA" b="1" i="1" dirty="0"/>
              <a:t>“</a:t>
            </a:r>
            <a:r>
              <a:rPr lang="uk-UA" b="1" i="1" dirty="0" err="1"/>
              <a:t>Active</a:t>
            </a:r>
            <a:r>
              <a:rPr lang="uk-UA" b="1" i="1" dirty="0"/>
              <a:t> </a:t>
            </a:r>
            <a:r>
              <a:rPr lang="uk-UA" b="1" i="1" dirty="0" err="1"/>
              <a:t>Directory</a:t>
            </a:r>
            <a:r>
              <a:rPr lang="uk-UA" b="1" i="1" dirty="0"/>
              <a:t> </a:t>
            </a:r>
            <a:r>
              <a:rPr lang="uk-UA" b="1" i="1" dirty="0" err="1"/>
              <a:t>Users</a:t>
            </a:r>
            <a:r>
              <a:rPr lang="uk-UA" b="1" i="1" dirty="0"/>
              <a:t> </a:t>
            </a:r>
            <a:r>
              <a:rPr lang="uk-UA" b="1" i="1" dirty="0" err="1"/>
              <a:t>and</a:t>
            </a:r>
            <a:r>
              <a:rPr lang="uk-UA" b="1" i="1" dirty="0"/>
              <a:t> </a:t>
            </a:r>
            <a:r>
              <a:rPr lang="uk-UA" b="1" i="1" dirty="0" err="1"/>
              <a:t>Computers</a:t>
            </a:r>
            <a:r>
              <a:rPr lang="uk-UA" b="1" i="1" dirty="0"/>
              <a:t>”(Користувачі та комп’ютери </a:t>
            </a:r>
            <a:r>
              <a:rPr lang="uk-UA" b="1" i="1" dirty="0" err="1"/>
              <a:t>Active</a:t>
            </a:r>
            <a:r>
              <a:rPr lang="uk-UA" b="1" i="1" dirty="0"/>
              <a:t> </a:t>
            </a:r>
            <a:r>
              <a:rPr lang="uk-UA" b="1" i="1" dirty="0" err="1"/>
              <a:t>Directory</a:t>
            </a:r>
            <a:r>
              <a:rPr lang="uk-UA" b="1" i="1" dirty="0"/>
              <a:t>)</a:t>
            </a:r>
            <a:r>
              <a:rPr lang="uk-U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67364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65760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uk-UA" b="1" dirty="0"/>
              <a:t>Контролер домену</a:t>
            </a:r>
            <a:r>
              <a:rPr lang="uk-UA" dirty="0"/>
              <a:t>: Перевірка та автентифікація</a:t>
            </a:r>
          </a:p>
          <a:p>
            <a:pPr marL="0" indent="0">
              <a:buNone/>
            </a:pPr>
            <a:r>
              <a:rPr lang="uk-UA" dirty="0"/>
              <a:t>Контролер домену — це сервер, який обробляє запити автентифікації користувачів у певному домені в корпоративній мережі. Хоча контролери домену в основному використовуються в доменах </a:t>
            </a:r>
            <a:r>
              <a:rPr lang="en-GB" dirty="0"/>
              <a:t>AD, </a:t>
            </a:r>
            <a:r>
              <a:rPr lang="uk-UA" dirty="0"/>
              <a:t>їх також можна використовувати з іншими системами </a:t>
            </a:r>
            <a:r>
              <a:rPr lang="en-GB" dirty="0"/>
              <a:t>IAM, </a:t>
            </a:r>
            <a:r>
              <a:rPr lang="uk-UA" dirty="0"/>
              <a:t>відмінними від </a:t>
            </a:r>
            <a:r>
              <a:rPr lang="en-GB" dirty="0"/>
              <a:t>Windows, </a:t>
            </a:r>
            <a:r>
              <a:rPr lang="uk-UA" dirty="0"/>
              <a:t>такими як </a:t>
            </a:r>
            <a:r>
              <a:rPr lang="en-GB" b="1" dirty="0">
                <a:hlinkClick r:id="rId2"/>
              </a:rPr>
              <a:t>Samba</a:t>
            </a:r>
            <a:r>
              <a:rPr lang="en-GB" dirty="0"/>
              <a:t> </a:t>
            </a:r>
            <a:r>
              <a:rPr lang="uk-UA" dirty="0"/>
              <a:t>та </a:t>
            </a:r>
            <a:r>
              <a:rPr lang="en-GB" b="1" dirty="0" err="1">
                <a:hlinkClick r:id="rId3"/>
              </a:rPr>
              <a:t>FreeIPA</a:t>
            </a:r>
            <a:r>
              <a:rPr lang="en-GB" dirty="0"/>
              <a:t> .</a:t>
            </a:r>
          </a:p>
          <a:p>
            <a:pPr marL="0" indent="0">
              <a:buNone/>
            </a:pPr>
            <a:r>
              <a:rPr lang="uk-UA" dirty="0"/>
              <a:t>Контролер домену обмежує доступ до корпоративних ресурсів у межах певного домену, автентифікацію та авторизацію користувачів на основі їхніх облікових даних для входу. Наприклад, у доменах </a:t>
            </a:r>
            <a:r>
              <a:rPr lang="en-GB" dirty="0"/>
              <a:t>Windows </a:t>
            </a:r>
            <a:r>
              <a:rPr lang="uk-UA" dirty="0"/>
              <a:t>контролер домену отримує інформацію для автентифікації облікових записів користувачів з </a:t>
            </a:r>
            <a:r>
              <a:rPr lang="en-GB" dirty="0"/>
              <a:t>Active Directory. </a:t>
            </a:r>
          </a:p>
          <a:p>
            <a:pPr marL="0" indent="0">
              <a:buNone/>
            </a:pPr>
            <a:r>
              <a:rPr lang="uk-UA" dirty="0"/>
              <a:t>Хоча контролери домену можуть працювати як окремі системи, вони часто реалізуються в кластерах для забезпечення високої доступності (</a:t>
            </a:r>
            <a:r>
              <a:rPr lang="en-GB" dirty="0"/>
              <a:t>HA) </a:t>
            </a:r>
            <a:r>
              <a:rPr lang="uk-UA" dirty="0"/>
              <a:t>та надійності послуг. Наприклад, у </a:t>
            </a:r>
            <a:r>
              <a:rPr lang="en-GB" dirty="0"/>
              <a:t>Windows Active Directory </a:t>
            </a:r>
            <a:r>
              <a:rPr lang="uk-UA" dirty="0"/>
              <a:t>кожен кластер може складатися з основного контролера домену (</a:t>
            </a:r>
            <a:r>
              <a:rPr lang="en-GB" dirty="0"/>
              <a:t>PDC) </a:t>
            </a:r>
            <a:r>
              <a:rPr lang="uk-UA" dirty="0"/>
              <a:t>та резервного контролера домену (</a:t>
            </a:r>
            <a:r>
              <a:rPr lang="en-GB" dirty="0"/>
              <a:t>BDC). </a:t>
            </a:r>
            <a:r>
              <a:rPr lang="uk-UA" dirty="0"/>
              <a:t>В екосистемах </a:t>
            </a:r>
            <a:r>
              <a:rPr lang="en-GB" dirty="0"/>
              <a:t>Unix </a:t>
            </a:r>
            <a:r>
              <a:rPr lang="uk-UA" dirty="0"/>
              <a:t>та </a:t>
            </a:r>
            <a:r>
              <a:rPr lang="en-GB" dirty="0"/>
              <a:t>Linux </a:t>
            </a:r>
            <a:r>
              <a:rPr lang="uk-UA" dirty="0"/>
              <a:t>репліки контролерів домену копіюють бази даних автентифікації з </a:t>
            </a:r>
            <a:r>
              <a:rPr lang="en-GB" dirty="0"/>
              <a:t>PDC.</a:t>
            </a:r>
          </a:p>
          <a:p>
            <a:pPr marL="0" indent="0">
              <a:buNone/>
            </a:pPr>
            <a:r>
              <a:rPr lang="en-GB" dirty="0"/>
              <a:t>Active Directory </a:t>
            </a:r>
            <a:r>
              <a:rPr lang="uk-UA" dirty="0"/>
              <a:t>проти контролера домену</a:t>
            </a:r>
          </a:p>
          <a:p>
            <a:pPr marL="0" indent="0">
              <a:buNone/>
            </a:pPr>
            <a:r>
              <a:rPr lang="uk-UA" dirty="0"/>
              <a:t>Зазвичай вважається, що терміни </a:t>
            </a:r>
            <a:r>
              <a:rPr lang="en-GB" dirty="0"/>
              <a:t>Active Directory </a:t>
            </a:r>
            <a:r>
              <a:rPr lang="uk-UA" dirty="0"/>
              <a:t>та контролер домену є синонімами. Це пояснюється тим, що керування доменом є функцією в </a:t>
            </a:r>
            <a:r>
              <a:rPr lang="en-GB" dirty="0"/>
              <a:t>Active Directory </a:t>
            </a:r>
            <a:r>
              <a:rPr lang="uk-UA" dirty="0"/>
              <a:t>від </a:t>
            </a:r>
            <a:r>
              <a:rPr lang="en-GB" dirty="0"/>
              <a:t>Microsoft, </a:t>
            </a:r>
            <a:r>
              <a:rPr lang="uk-UA" dirty="0"/>
              <a:t>а контролери домену – це сервери, які використовують </a:t>
            </a:r>
            <a:r>
              <a:rPr lang="en-GB" dirty="0"/>
              <a:t>AD </a:t>
            </a:r>
            <a:r>
              <a:rPr lang="uk-UA" dirty="0"/>
              <a:t>для перевірки та відповіді на запити автентифікації. </a:t>
            </a:r>
          </a:p>
          <a:p>
            <a:pPr marL="0" indent="0">
              <a:buNone/>
            </a:pPr>
            <a:r>
              <a:rPr lang="uk-UA" dirty="0"/>
              <a:t>Однак ці терміни не є взаємозамінними. </a:t>
            </a:r>
            <a:r>
              <a:rPr lang="en-GB" dirty="0"/>
              <a:t>Active Directory – </a:t>
            </a:r>
            <a:r>
              <a:rPr lang="uk-UA" dirty="0"/>
              <a:t>це база даних, яка зберігає та впорядковує корпоративні ресурси як об’єкти. Ви можете уявляти </a:t>
            </a:r>
            <a:r>
              <a:rPr lang="en-GB" dirty="0"/>
              <a:t>Active Directory </a:t>
            </a:r>
            <a:r>
              <a:rPr lang="uk-UA" dirty="0"/>
              <a:t>як базу даних, яка зберігає користувачів та конфігурації пристроїв у </a:t>
            </a:r>
            <a:r>
              <a:rPr lang="en-GB" dirty="0"/>
              <a:t>AD DS. </a:t>
            </a:r>
            <a:r>
              <a:rPr lang="uk-UA" dirty="0"/>
              <a:t>Контролер домену, навпаки, – це просто сервер, на якому працює </a:t>
            </a:r>
            <a:r>
              <a:rPr lang="en-GB" dirty="0"/>
              <a:t>Active Directory, </a:t>
            </a:r>
            <a:r>
              <a:rPr lang="uk-UA" dirty="0"/>
              <a:t>який </a:t>
            </a:r>
            <a:r>
              <a:rPr lang="uk-UA" dirty="0" err="1"/>
              <a:t>автентифікує</a:t>
            </a:r>
            <a:r>
              <a:rPr lang="uk-UA" dirty="0"/>
              <a:t> користувачів та пристрої. У цьому відношенні ви можете уявляти контролер домену як зберігача, посередника або </a:t>
            </a:r>
            <a:r>
              <a:rPr lang="uk-UA" dirty="0" err="1"/>
              <a:t>хоста</a:t>
            </a:r>
            <a:r>
              <a:rPr lang="uk-UA" dirty="0"/>
              <a:t> </a:t>
            </a:r>
            <a:r>
              <a:rPr lang="en-GB" dirty="0"/>
              <a:t>Active Directory. </a:t>
            </a:r>
          </a:p>
          <a:p>
            <a:pPr marL="0" indent="0">
              <a:buNone/>
            </a:pPr>
            <a:r>
              <a:rPr lang="uk-UA" dirty="0"/>
              <a:t>Оскільки контролери домену опосередковують весь доступ до мережевих ресурсів, важливо захистити їх за допомогою додаткових механізмів безпеки, таких як брандмауери, протоколи шифрування та рішення для пришвидшеного налаштування та керування виправленнями.</a:t>
            </a:r>
          </a:p>
        </p:txBody>
      </p:sp>
    </p:spTree>
    <p:extLst>
      <p:ext uri="{BB962C8B-B14F-4D97-AF65-F5344CB8AC3E}">
        <p14:creationId xmlns:p14="http://schemas.microsoft.com/office/powerpoint/2010/main" val="34524425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65760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uk-UA" b="1" dirty="0"/>
              <a:t>Встановлення інструментів адміністрування віддаленого сервера (</a:t>
            </a:r>
            <a:r>
              <a:rPr lang="en-GB" b="1" dirty="0"/>
              <a:t>RSAT) </a:t>
            </a:r>
            <a:r>
              <a:rPr lang="uk-UA" b="1" dirty="0"/>
              <a:t>для управління </a:t>
            </a:r>
            <a:r>
              <a:rPr lang="en-GB" b="1" dirty="0"/>
              <a:t>AD</a:t>
            </a:r>
          </a:p>
          <a:p>
            <a:pPr marL="0" indent="0">
              <a:buNone/>
            </a:pPr>
            <a:r>
              <a:rPr lang="uk-UA" dirty="0"/>
              <a:t>Щоб керувати </a:t>
            </a:r>
            <a:r>
              <a:rPr lang="en-GB" dirty="0"/>
              <a:t>Active Directory, </a:t>
            </a:r>
            <a:r>
              <a:rPr lang="uk-UA" dirty="0"/>
              <a:t>необхідно встановити адміністративні інструменти на клієнтську машину (</a:t>
            </a:r>
            <a:r>
              <a:rPr lang="en-GB" dirty="0"/>
              <a:t>client machine). </a:t>
            </a:r>
            <a:r>
              <a:rPr lang="uk-UA" dirty="0"/>
              <a:t>Щоб встановити </a:t>
            </a:r>
            <a:r>
              <a:rPr lang="en-GB" dirty="0"/>
              <a:t>RSAT </a:t>
            </a:r>
            <a:r>
              <a:rPr lang="uk-UA" dirty="0"/>
              <a:t>на </a:t>
            </a:r>
            <a:r>
              <a:rPr lang="en-GB" dirty="0"/>
              <a:t>Windows 11, </a:t>
            </a:r>
            <a:r>
              <a:rPr lang="uk-UA" dirty="0"/>
              <a:t>необхідно виконати наступні кроки:</a:t>
            </a:r>
          </a:p>
          <a:p>
            <a:pPr marL="0" indent="0">
              <a:buNone/>
            </a:pPr>
            <a:r>
              <a:rPr lang="uk-UA" dirty="0"/>
              <a:t>Відкрити </a:t>
            </a:r>
            <a:r>
              <a:rPr lang="uk-UA" b="1" i="1" dirty="0"/>
              <a:t>“</a:t>
            </a:r>
            <a:r>
              <a:rPr lang="en-GB" b="1" i="1" dirty="0"/>
              <a:t>Settings” (</a:t>
            </a:r>
            <a:r>
              <a:rPr lang="uk-UA" b="1" i="1" dirty="0"/>
              <a:t>Налаштування)</a:t>
            </a:r>
            <a:r>
              <a:rPr lang="uk-UA" dirty="0"/>
              <a:t>, натиснути </a:t>
            </a:r>
            <a:r>
              <a:rPr lang="uk-UA" b="1" i="1" dirty="0"/>
              <a:t>“</a:t>
            </a:r>
            <a:r>
              <a:rPr lang="en-GB" b="1" i="1" dirty="0"/>
              <a:t>Apps” (</a:t>
            </a:r>
            <a:r>
              <a:rPr lang="uk-UA" b="1" i="1" dirty="0"/>
              <a:t>Додатки)</a:t>
            </a:r>
            <a:r>
              <a:rPr lang="uk-UA" dirty="0"/>
              <a:t> у лівій бічній панелі, а потім </a:t>
            </a:r>
            <a:r>
              <a:rPr lang="uk-UA" b="1" i="1" dirty="0"/>
              <a:t>“</a:t>
            </a:r>
            <a:r>
              <a:rPr lang="en-GB" b="1" i="1" dirty="0"/>
              <a:t>Optional features” (</a:t>
            </a:r>
            <a:r>
              <a:rPr lang="uk-UA" b="1" i="1" dirty="0"/>
              <a:t>Додаткові функції)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Натиснути </a:t>
            </a:r>
            <a:r>
              <a:rPr lang="uk-UA" b="1" i="1" dirty="0"/>
              <a:t>“</a:t>
            </a:r>
            <a:r>
              <a:rPr lang="en-GB" b="1" i="1" dirty="0"/>
              <a:t>View features” (</a:t>
            </a:r>
            <a:r>
              <a:rPr lang="uk-UA" b="1" i="1" dirty="0"/>
              <a:t>Переглянути функції)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Знайти </a:t>
            </a:r>
            <a:r>
              <a:rPr lang="uk-UA" b="1" i="1" dirty="0"/>
              <a:t>“</a:t>
            </a:r>
            <a:r>
              <a:rPr lang="en-GB" b="1" i="1" dirty="0"/>
              <a:t>RSAT” (</a:t>
            </a:r>
            <a:r>
              <a:rPr lang="uk-UA" b="1" i="1" dirty="0"/>
              <a:t>або просто прокрутити вниз)</a:t>
            </a:r>
            <a:r>
              <a:rPr lang="uk-UA" dirty="0"/>
              <a:t> і поставити галочку біля </a:t>
            </a:r>
            <a:r>
              <a:rPr lang="uk-UA" b="1" i="1" dirty="0"/>
              <a:t>“</a:t>
            </a:r>
            <a:r>
              <a:rPr lang="en-GB" b="1" i="1" dirty="0"/>
              <a:t>RSAT: Active Directory Domain Services and Lightweight Directory Services Tools”</a:t>
            </a:r>
            <a:r>
              <a:rPr lang="en-GB" dirty="0"/>
              <a:t>. </a:t>
            </a:r>
            <a:r>
              <a:rPr lang="uk-UA" dirty="0"/>
              <a:t>Потім натиснути </a:t>
            </a:r>
            <a:r>
              <a:rPr lang="uk-UA" b="1" i="1" dirty="0"/>
              <a:t>“</a:t>
            </a:r>
            <a:r>
              <a:rPr lang="en-GB" b="1" i="1" dirty="0"/>
              <a:t>Next” (</a:t>
            </a:r>
            <a:r>
              <a:rPr lang="uk-UA" b="1" i="1" dirty="0"/>
              <a:t>Далі)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dirty="0"/>
              <a:t>Натиснути кнопку </a:t>
            </a:r>
            <a:r>
              <a:rPr lang="uk-UA" b="1" i="1" dirty="0"/>
              <a:t>“</a:t>
            </a:r>
            <a:r>
              <a:rPr lang="en-GB" b="1" i="1" dirty="0"/>
              <a:t>Install” (</a:t>
            </a:r>
            <a:r>
              <a:rPr lang="uk-UA" b="1" i="1" dirty="0"/>
              <a:t>Встановити)</a:t>
            </a:r>
            <a:r>
              <a:rPr lang="uk-UA" dirty="0"/>
              <a:t>, щоб розпочати процес встановлення.</a:t>
            </a:r>
          </a:p>
          <a:p>
            <a:pPr marL="0" indent="0">
              <a:buNone/>
            </a:pPr>
            <a:r>
              <a:rPr lang="uk-UA" dirty="0"/>
              <a:t>Дочекатися завершення встановлення, що може зайняти кілька хвилин. Після перезавантаження комп’ютера можна перевірити встановлення </a:t>
            </a:r>
            <a:r>
              <a:rPr lang="en-GB" dirty="0"/>
              <a:t>RSAT, </a:t>
            </a:r>
            <a:r>
              <a:rPr lang="uk-UA" dirty="0"/>
              <a:t>шукаючи будь-який з інструментів </a:t>
            </a:r>
            <a:r>
              <a:rPr lang="en-GB" dirty="0"/>
              <a:t>RSAT, </a:t>
            </a:r>
            <a:r>
              <a:rPr lang="uk-UA" dirty="0"/>
              <a:t>таких як </a:t>
            </a:r>
            <a:r>
              <a:rPr lang="uk-UA" b="1" i="1" dirty="0"/>
              <a:t>“</a:t>
            </a:r>
            <a:r>
              <a:rPr lang="en-GB" b="1" i="1" dirty="0"/>
              <a:t>Active Directory Users and Computers” (</a:t>
            </a:r>
            <a:r>
              <a:rPr lang="uk-UA" b="1" i="1" dirty="0"/>
              <a:t>Користувачі та комп’ютери </a:t>
            </a:r>
            <a:r>
              <a:rPr lang="en-GB" b="1" i="1" dirty="0"/>
              <a:t>Active Directory)</a:t>
            </a:r>
            <a:r>
              <a:rPr lang="en-GB" dirty="0"/>
              <a:t>, </a:t>
            </a:r>
            <a:r>
              <a:rPr lang="uk-UA" dirty="0"/>
              <a:t>у меню </a:t>
            </a:r>
            <a:r>
              <a:rPr lang="uk-UA" b="1" i="1" dirty="0"/>
              <a:t>“</a:t>
            </a:r>
            <a:r>
              <a:rPr lang="en-GB" b="1" i="1" dirty="0"/>
              <a:t>Start” (</a:t>
            </a:r>
            <a:r>
              <a:rPr lang="uk-UA" b="1" i="1" dirty="0"/>
              <a:t>Пуск)</a:t>
            </a:r>
            <a:r>
              <a:rPr lang="uk-UA" dirty="0"/>
              <a:t>.</a:t>
            </a:r>
          </a:p>
          <a:p>
            <a:pPr marL="0" indent="0">
              <a:buNone/>
            </a:pPr>
            <a:r>
              <a:rPr lang="uk-UA" b="1" dirty="0"/>
              <a:t>Події </a:t>
            </a:r>
            <a:r>
              <a:rPr lang="en-GB" b="1" dirty="0"/>
              <a:t>Active Directory </a:t>
            </a:r>
            <a:r>
              <a:rPr lang="uk-UA" b="1" dirty="0"/>
              <a:t>для моніторингу</a:t>
            </a:r>
          </a:p>
          <a:p>
            <a:pPr marL="0" indent="0">
              <a:buNone/>
            </a:pPr>
            <a:r>
              <a:rPr lang="en-GB" dirty="0"/>
              <a:t>Active Directory </a:t>
            </a:r>
            <a:r>
              <a:rPr lang="uk-UA" dirty="0"/>
              <a:t>надає можливість ведення журналів для підтримки безпеки, цілісності та продуктивності служби каталогів. Моніторинг цих подій за допомогою таких інструментів, як </a:t>
            </a:r>
            <a:r>
              <a:rPr lang="en-GB" dirty="0"/>
              <a:t>Windows Event Viewer, </a:t>
            </a:r>
            <a:r>
              <a:rPr lang="uk-UA" dirty="0"/>
              <a:t>допомагає виявляти підозрілу активність, щоб можна було </a:t>
            </a:r>
            <a:r>
              <a:rPr lang="uk-UA" dirty="0" err="1"/>
              <a:t>оперативно</a:t>
            </a:r>
            <a:r>
              <a:rPr lang="uk-UA" dirty="0"/>
              <a:t> розв’язувати проблеми та реагувати на порушення безпеки. Нижче наведено деякі загальні події, які варто контролювати:</a:t>
            </a:r>
          </a:p>
          <a:p>
            <a:pPr marL="0" indent="0">
              <a:buNone/>
            </a:pPr>
            <a:r>
              <a:rPr lang="uk-UA" b="1" dirty="0"/>
              <a:t>Управління обліковими записами користувачів:</a:t>
            </a:r>
          </a:p>
          <a:p>
            <a:pPr marL="0" indent="0">
              <a:buNone/>
            </a:pPr>
            <a:r>
              <a:rPr lang="uk-UA" b="1" dirty="0"/>
              <a:t>Створення облікового запису:</a:t>
            </a:r>
            <a:r>
              <a:rPr lang="uk-UA" dirty="0"/>
              <a:t> </a:t>
            </a:r>
            <a:r>
              <a:rPr lang="en-GB" dirty="0"/>
              <a:t>Event ID 4720</a:t>
            </a:r>
          </a:p>
          <a:p>
            <a:pPr marL="0" indent="0">
              <a:buNone/>
            </a:pPr>
            <a:r>
              <a:rPr lang="uk-UA" b="1" dirty="0"/>
              <a:t>Видалення облікового запису:</a:t>
            </a:r>
            <a:r>
              <a:rPr lang="uk-UA" dirty="0"/>
              <a:t> </a:t>
            </a:r>
            <a:r>
              <a:rPr lang="en-GB" dirty="0"/>
              <a:t>Event ID 4726</a:t>
            </a:r>
          </a:p>
          <a:p>
            <a:pPr marL="0" indent="0">
              <a:buNone/>
            </a:pPr>
            <a:r>
              <a:rPr lang="uk-UA" b="1" dirty="0"/>
              <a:t>Увімкнення/вимкнення облікового запису: </a:t>
            </a:r>
            <a:r>
              <a:rPr lang="en-GB" dirty="0"/>
              <a:t>Event IDs 4722, 4725</a:t>
            </a:r>
          </a:p>
          <a:p>
            <a:pPr marL="0" indent="0">
              <a:buNone/>
            </a:pPr>
            <a:r>
              <a:rPr lang="uk-UA" b="1" dirty="0"/>
              <a:t>Зміни/скидання пароля:</a:t>
            </a:r>
            <a:r>
              <a:rPr lang="uk-UA" dirty="0"/>
              <a:t> </a:t>
            </a:r>
            <a:r>
              <a:rPr lang="en-GB" dirty="0"/>
              <a:t>Event IDs 4723, 4724, 4725</a:t>
            </a:r>
          </a:p>
          <a:p>
            <a:pPr marL="0" indent="0">
              <a:buNone/>
            </a:pPr>
            <a:r>
              <a:rPr lang="uk-UA" b="1" dirty="0"/>
              <a:t>Блокування облікових записів:</a:t>
            </a:r>
            <a:r>
              <a:rPr lang="uk-UA" dirty="0"/>
              <a:t> </a:t>
            </a:r>
            <a:r>
              <a:rPr lang="en-GB" dirty="0"/>
              <a:t>Event ID 4740</a:t>
            </a:r>
          </a:p>
          <a:p>
            <a:pPr marL="0" indent="0">
              <a:buNone/>
            </a:pPr>
            <a:r>
              <a:rPr lang="uk-UA" b="1" dirty="0"/>
              <a:t>Управління групами:</a:t>
            </a:r>
          </a:p>
          <a:p>
            <a:pPr marL="0" indent="0">
              <a:buNone/>
            </a:pPr>
            <a:r>
              <a:rPr lang="uk-UA" b="1" dirty="0"/>
              <a:t>Створення/видалення груп:</a:t>
            </a:r>
            <a:r>
              <a:rPr lang="uk-UA" dirty="0"/>
              <a:t> </a:t>
            </a:r>
            <a:r>
              <a:rPr lang="en-GB" dirty="0"/>
              <a:t>Event IDs 4727, 4731</a:t>
            </a:r>
          </a:p>
          <a:p>
            <a:pPr marL="0" indent="0">
              <a:buNone/>
            </a:pPr>
            <a:r>
              <a:rPr lang="uk-UA" b="1" dirty="0"/>
              <a:t>Зміни членства в групах: </a:t>
            </a:r>
            <a:r>
              <a:rPr lang="en-GB" dirty="0"/>
              <a:t>Event IDs 4728, 4729, 4732, 4733</a:t>
            </a:r>
          </a:p>
          <a:p>
            <a:pPr marL="0" indent="0">
              <a:buNone/>
            </a:pPr>
            <a:r>
              <a:rPr lang="uk-UA" b="1" dirty="0"/>
              <a:t>Реплікація </a:t>
            </a:r>
            <a:r>
              <a:rPr lang="en-GB" b="1" dirty="0"/>
              <a:t>Active Directory:</a:t>
            </a:r>
          </a:p>
          <a:p>
            <a:pPr marL="0" indent="0">
              <a:buNone/>
            </a:pPr>
            <a:r>
              <a:rPr lang="uk-UA" b="1" dirty="0"/>
              <a:t>Успішність/неуспішність реплікації:</a:t>
            </a:r>
            <a:r>
              <a:rPr lang="uk-UA" dirty="0"/>
              <a:t> </a:t>
            </a:r>
            <a:r>
              <a:rPr lang="en-GB" dirty="0"/>
              <a:t>Event IDs 4928, 4929, 4932, 4933</a:t>
            </a:r>
          </a:p>
          <a:p>
            <a:pPr marL="0" indent="0">
              <a:buNone/>
            </a:pPr>
            <a:r>
              <a:rPr lang="uk-UA" b="1" dirty="0"/>
              <a:t>Операції </a:t>
            </a:r>
            <a:r>
              <a:rPr lang="en-GB" b="1" dirty="0"/>
              <a:t>domain controller:</a:t>
            </a:r>
          </a:p>
          <a:p>
            <a:pPr marL="0" indent="0">
              <a:buNone/>
            </a:pPr>
            <a:r>
              <a:rPr lang="uk-UA" b="1" dirty="0"/>
              <a:t>Запуск/вимкнення контролера домену/систем:</a:t>
            </a:r>
            <a:r>
              <a:rPr lang="uk-UA" dirty="0"/>
              <a:t> </a:t>
            </a:r>
            <a:r>
              <a:rPr lang="en-GB" dirty="0"/>
              <a:t>Event IDs 6005, 6006, 6008, 1074</a:t>
            </a:r>
          </a:p>
          <a:p>
            <a:pPr marL="0" indent="0">
              <a:buNone/>
            </a:pPr>
            <a:r>
              <a:rPr lang="uk-UA" b="1" dirty="0"/>
              <a:t>Доступ до служби каталогу:</a:t>
            </a:r>
            <a:r>
              <a:rPr lang="uk-UA" dirty="0"/>
              <a:t> </a:t>
            </a:r>
            <a:r>
              <a:rPr lang="en-GB" dirty="0"/>
              <a:t>Event IDs 2889, 2887</a:t>
            </a:r>
          </a:p>
          <a:p>
            <a:pPr marL="0" indent="0">
              <a:buNone/>
            </a:pPr>
            <a:r>
              <a:rPr lang="uk-UA" b="1" dirty="0"/>
              <a:t>Автентифікація та авторизація:</a:t>
            </a:r>
          </a:p>
          <a:p>
            <a:pPr marL="0" indent="0">
              <a:buNone/>
            </a:pPr>
            <a:r>
              <a:rPr lang="uk-UA" b="1" dirty="0"/>
              <a:t>Успішні входи:</a:t>
            </a:r>
            <a:r>
              <a:rPr lang="uk-UA" dirty="0"/>
              <a:t> </a:t>
            </a:r>
            <a:r>
              <a:rPr lang="en-GB" dirty="0"/>
              <a:t>Event IDs 4624, 4648, 4768</a:t>
            </a:r>
          </a:p>
          <a:p>
            <a:pPr marL="0" indent="0">
              <a:buNone/>
            </a:pPr>
            <a:r>
              <a:rPr lang="uk-UA" b="1" dirty="0"/>
              <a:t>Невдалі входи:</a:t>
            </a:r>
            <a:r>
              <a:rPr lang="uk-UA" dirty="0"/>
              <a:t> </a:t>
            </a:r>
            <a:r>
              <a:rPr lang="en-GB" dirty="0"/>
              <a:t>Event IDs 4625</a:t>
            </a:r>
          </a:p>
          <a:p>
            <a:pPr marL="0" indent="0">
              <a:buNone/>
            </a:pPr>
            <a:r>
              <a:rPr lang="uk-UA" b="1" dirty="0"/>
              <a:t>Привілейований доступ: </a:t>
            </a:r>
            <a:r>
              <a:rPr lang="en-GB" dirty="0"/>
              <a:t>Event IDs 4672</a:t>
            </a:r>
          </a:p>
          <a:p>
            <a:pPr marL="0" indent="0">
              <a:buNone/>
            </a:pPr>
            <a:r>
              <a:rPr lang="uk-UA" b="1" dirty="0"/>
              <a:t>Зміни в службі каталогу:</a:t>
            </a:r>
          </a:p>
          <a:p>
            <a:pPr marL="0" indent="0">
              <a:buNone/>
            </a:pPr>
            <a:r>
              <a:rPr lang="uk-UA" b="1" dirty="0"/>
              <a:t>Зміни </a:t>
            </a:r>
            <a:r>
              <a:rPr lang="en-GB" b="1" dirty="0"/>
              <a:t>LDAP: </a:t>
            </a:r>
            <a:r>
              <a:rPr lang="en-GB" dirty="0"/>
              <a:t>Event IDs 5136, 5137, 5138</a:t>
            </a:r>
          </a:p>
          <a:p>
            <a:pPr marL="0" indent="0">
              <a:buNone/>
            </a:pPr>
            <a:r>
              <a:rPr lang="uk-UA" b="1" dirty="0"/>
              <a:t>Зміни схеми: </a:t>
            </a:r>
            <a:r>
              <a:rPr lang="en-GB" dirty="0"/>
              <a:t>Event ID 5139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280124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6576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uk-UA" dirty="0"/>
              <a:t>Визначення того, що вам потрібно для каталогу та контролера домену</a:t>
            </a:r>
          </a:p>
          <a:p>
            <a:pPr marL="0" indent="0">
              <a:buNone/>
            </a:pPr>
            <a:r>
              <a:rPr lang="uk-UA" dirty="0"/>
              <a:t>Багато організацій прагнуть впровадити </a:t>
            </a:r>
            <a:r>
              <a:rPr lang="uk-UA" b="1" dirty="0">
                <a:hlinkClick r:id="rId2"/>
              </a:rPr>
              <a:t>рішення </a:t>
            </a:r>
            <a:r>
              <a:rPr lang="en-GB" b="1" dirty="0">
                <a:hlinkClick r:id="rId2"/>
              </a:rPr>
              <a:t>SSO</a:t>
            </a:r>
            <a:r>
              <a:rPr lang="en-GB" dirty="0"/>
              <a:t> , </a:t>
            </a:r>
            <a:r>
              <a:rPr lang="uk-UA" dirty="0"/>
              <a:t>які дозволять їхнім співробітникам легко отримувати доступ до всіх локальних та хмарних програм. </a:t>
            </a:r>
          </a:p>
          <a:p>
            <a:pPr marL="0" indent="0">
              <a:buNone/>
            </a:pPr>
            <a:r>
              <a:rPr lang="uk-UA" dirty="0"/>
              <a:t>У недавньому минулому </a:t>
            </a:r>
            <a:r>
              <a:rPr lang="uk-UA" dirty="0" err="1"/>
              <a:t>життєво</a:t>
            </a:r>
            <a:r>
              <a:rPr lang="uk-UA" dirty="0"/>
              <a:t> важливою вимогою цих рішень був контролер домену, який дозволяв підключати програми до </a:t>
            </a:r>
            <a:r>
              <a:rPr lang="en-GB" dirty="0"/>
              <a:t>Active Directory </a:t>
            </a:r>
            <a:r>
              <a:rPr lang="uk-UA" dirty="0"/>
              <a:t>як єдиного джерела достовірної інформації. Організації використовували </a:t>
            </a:r>
            <a:r>
              <a:rPr lang="en-GB" dirty="0"/>
              <a:t>AD FS </a:t>
            </a:r>
            <a:r>
              <a:rPr lang="uk-UA" dirty="0"/>
              <a:t>як рішення для інтеграції </a:t>
            </a:r>
            <a:r>
              <a:rPr lang="en-GB" dirty="0"/>
              <a:t>Active Directory </a:t>
            </a:r>
            <a:r>
              <a:rPr lang="uk-UA" dirty="0"/>
              <a:t>у хмарні програми. Однак, хоча </a:t>
            </a:r>
            <a:r>
              <a:rPr lang="en-GB" dirty="0"/>
              <a:t>Microsoft </a:t>
            </a:r>
            <a:r>
              <a:rPr lang="uk-UA" dirty="0"/>
              <a:t>рекламує </a:t>
            </a:r>
            <a:r>
              <a:rPr lang="en-GB" dirty="0"/>
              <a:t>AD FS </a:t>
            </a:r>
            <a:r>
              <a:rPr lang="uk-UA" dirty="0"/>
              <a:t>як «безкоштовне» рішення, існує багато прихованих витрат, включаючи придбання обладнання, розгортання та постійне обслуговування, з якими вам доведеться мати справу. </a:t>
            </a:r>
          </a:p>
          <a:p>
            <a:pPr marL="0" indent="0">
              <a:buNone/>
            </a:pPr>
            <a:r>
              <a:rPr lang="uk-UA" dirty="0"/>
              <a:t>Але сьогодні поняття комплексного рішення </a:t>
            </a:r>
            <a:r>
              <a:rPr lang="en-GB" dirty="0"/>
              <a:t>IAM </a:t>
            </a:r>
            <a:r>
              <a:rPr lang="uk-UA" dirty="0"/>
              <a:t>зовсім не схоже на те, що воно собою являє. Таке рішення має забезпечувати автоматичне виділення ресурсів, управління життєвим циклом, управління мобільними пристроями ( </a:t>
            </a:r>
            <a:r>
              <a:rPr lang="en-GB" b="1" dirty="0">
                <a:hlinkClick r:id="rId3"/>
              </a:rPr>
              <a:t>MDM</a:t>
            </a:r>
            <a:r>
              <a:rPr lang="en-GB" dirty="0"/>
              <a:t> ) </a:t>
            </a:r>
            <a:r>
              <a:rPr lang="uk-UA" dirty="0"/>
              <a:t>та звітність з єдиної консолі. Рішення </a:t>
            </a:r>
            <a:r>
              <a:rPr lang="en-GB" dirty="0"/>
              <a:t>IAM </a:t>
            </a:r>
            <a:r>
              <a:rPr lang="uk-UA" dirty="0"/>
              <a:t>також має бути залежним від постачальника, на відміну від </a:t>
            </a:r>
            <a:r>
              <a:rPr lang="en-GB" dirty="0"/>
              <a:t>Active Directory, </a:t>
            </a:r>
            <a:r>
              <a:rPr lang="uk-UA" dirty="0"/>
              <a:t>яка чудово справляється з керуванням доступом до локальних ОС на базі </a:t>
            </a:r>
            <a:r>
              <a:rPr lang="en-GB" dirty="0"/>
              <a:t>Windows. </a:t>
            </a:r>
            <a:r>
              <a:rPr lang="uk-UA" dirty="0"/>
              <a:t>Сучасні ІТ-середовища просто вже не виглядають так.</a:t>
            </a:r>
          </a:p>
          <a:p>
            <a:pPr marL="0" indent="0">
              <a:buNone/>
            </a:pPr>
            <a:r>
              <a:rPr lang="en-GB" dirty="0" err="1"/>
              <a:t>JumpCloud</a:t>
            </a:r>
            <a:r>
              <a:rPr lang="en-GB" dirty="0"/>
              <a:t> Directory Platform </a:t>
            </a:r>
            <a:r>
              <a:rPr lang="en-GB" baseline="30000" dirty="0"/>
              <a:t>®</a:t>
            </a:r>
            <a:r>
              <a:rPr lang="en-GB" dirty="0"/>
              <a:t> — </a:t>
            </a:r>
            <a:r>
              <a:rPr lang="uk-UA" dirty="0"/>
              <a:t>це хмарне рішення для керування каталогами, яке спрощує інтеграцію </a:t>
            </a:r>
            <a:r>
              <a:rPr lang="en-GB" dirty="0"/>
              <a:t>AD, </a:t>
            </a:r>
            <a:r>
              <a:rPr lang="uk-UA" dirty="0"/>
              <a:t>дозволяючи ІТ-командам уніфікувати </a:t>
            </a:r>
            <a:r>
              <a:rPr lang="en-GB" dirty="0"/>
              <a:t>IAM </a:t>
            </a:r>
            <a:r>
              <a:rPr lang="uk-UA" dirty="0"/>
              <a:t>та консолідувати інструменти, одночасно модернізуючи </a:t>
            </a:r>
            <a:r>
              <a:rPr lang="en-GB" dirty="0"/>
              <a:t>Active Directory </a:t>
            </a:r>
            <a:r>
              <a:rPr lang="uk-UA" dirty="0"/>
              <a:t>для підвищення ефективності та гнучкості ІТ. Організації також можуть використовувати </a:t>
            </a:r>
            <a:r>
              <a:rPr lang="en-GB" dirty="0" err="1"/>
              <a:t>JumpCloud</a:t>
            </a:r>
            <a:r>
              <a:rPr lang="en-GB" dirty="0"/>
              <a:t> </a:t>
            </a:r>
            <a:r>
              <a:rPr lang="uk-UA" dirty="0"/>
              <a:t>як інструмент </a:t>
            </a:r>
            <a:r>
              <a:rPr lang="uk-UA" b="1" dirty="0">
                <a:hlinkClick r:id="rId4"/>
              </a:rPr>
              <a:t>заміни </a:t>
            </a:r>
            <a:r>
              <a:rPr lang="en-GB" b="1" dirty="0">
                <a:hlinkClick r:id="rId4"/>
              </a:rPr>
              <a:t>AD</a:t>
            </a:r>
            <a:r>
              <a:rPr lang="en-GB" dirty="0"/>
              <a:t> , </a:t>
            </a:r>
            <a:r>
              <a:rPr lang="uk-UA" dirty="0"/>
              <a:t>зменшуючи кількість локальних серверів, необхідних для налаштування </a:t>
            </a:r>
            <a:r>
              <a:rPr lang="en-GB" dirty="0"/>
              <a:t>AD FS, </a:t>
            </a:r>
            <a:r>
              <a:rPr lang="uk-UA" dirty="0"/>
              <a:t>та </a:t>
            </a:r>
            <a:r>
              <a:rPr lang="uk-UA" b="1" dirty="0">
                <a:hlinkClick r:id="rId5"/>
              </a:rPr>
              <a:t>переходу до бездоменного підприємства</a:t>
            </a:r>
            <a:r>
              <a:rPr lang="uk-UA" dirty="0"/>
              <a:t> .</a:t>
            </a:r>
          </a:p>
        </p:txBody>
      </p:sp>
    </p:spTree>
    <p:extLst>
      <p:ext uri="{BB962C8B-B14F-4D97-AF65-F5344CB8AC3E}">
        <p14:creationId xmlns:p14="http://schemas.microsoft.com/office/powerpoint/2010/main" val="36414985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188640"/>
            <a:ext cx="8496944" cy="665760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uk-UA" dirty="0"/>
              <a:t>Запропонований </a:t>
            </a:r>
            <a:r>
              <a:rPr lang="en-GB" dirty="0"/>
              <a:t>Microsoft </a:t>
            </a:r>
            <a:r>
              <a:rPr lang="uk-UA" dirty="0"/>
              <a:t>шлях модернізації </a:t>
            </a:r>
            <a:r>
              <a:rPr lang="en-GB" dirty="0"/>
              <a:t>AD </a:t>
            </a:r>
            <a:r>
              <a:rPr lang="uk-UA" dirty="0"/>
              <a:t>має кілька суттєвих недоліків.</a:t>
            </a:r>
          </a:p>
          <a:p>
            <a:pPr marL="0" indent="0">
              <a:buNone/>
            </a:pPr>
            <a:r>
              <a:rPr lang="uk-UA" dirty="0"/>
              <a:t>До них належать:</a:t>
            </a:r>
          </a:p>
          <a:p>
            <a:pPr marL="0" indent="0">
              <a:buNone/>
            </a:pPr>
            <a:r>
              <a:rPr lang="uk-UA" dirty="0"/>
              <a:t>Об’єднання малих та середніх підприємств (МСП) (та </a:t>
            </a:r>
            <a:r>
              <a:rPr lang="en-GB" dirty="0"/>
              <a:t>AD) </a:t>
            </a:r>
            <a:r>
              <a:rPr lang="uk-UA" dirty="0"/>
              <a:t>у набір вертикально інтегрованих інструментів.</a:t>
            </a:r>
          </a:p>
          <a:p>
            <a:pPr marL="0" indent="0">
              <a:buNone/>
            </a:pPr>
            <a:r>
              <a:rPr lang="uk-UA" dirty="0"/>
              <a:t>Обмеження свободи вибору щодо використання сучасних передових технологій шляхом поєднання непов'язаних ІТ-послуг з продуктами для управління ІТ.</a:t>
            </a:r>
          </a:p>
          <a:p>
            <a:pPr marL="0" indent="0">
              <a:buNone/>
            </a:pPr>
            <a:r>
              <a:rPr lang="uk-UA" dirty="0"/>
              <a:t>Дотримання рекомендацій </a:t>
            </a:r>
            <a:r>
              <a:rPr lang="en-GB" dirty="0"/>
              <a:t>Microsoft </a:t>
            </a:r>
            <a:r>
              <a:rPr lang="uk-UA" dirty="0"/>
              <a:t>означає співпрацю з постачальниками для впровадження цих послуг та управління змінами. Це робить управління системою складнішим та дорожчим. </a:t>
            </a:r>
          </a:p>
          <a:p>
            <a:pPr marL="0" indent="0">
              <a:buNone/>
            </a:pPr>
            <a:r>
              <a:rPr lang="uk-UA" dirty="0"/>
              <a:t>Відволікання ІТ-відділу від його основної місії шляхом </a:t>
            </a:r>
            <a:r>
              <a:rPr lang="uk-UA" dirty="0" err="1"/>
              <a:t>перенаправлення</a:t>
            </a:r>
            <a:r>
              <a:rPr lang="uk-UA" dirty="0"/>
              <a:t> ресурсів на використання його екосистеми.</a:t>
            </a:r>
          </a:p>
        </p:txBody>
      </p:sp>
    </p:spTree>
    <p:extLst>
      <p:ext uri="{BB962C8B-B14F-4D97-AF65-F5344CB8AC3E}">
        <p14:creationId xmlns:p14="http://schemas.microsoft.com/office/powerpoint/2010/main" val="40208760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712968" cy="626469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uk-U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</a:t>
            </a:r>
            <a:r>
              <a:rPr lang="uk-U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елегування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 </a:t>
            </a:r>
            <a:endParaRPr lang="uk-UA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uk-UA" dirty="0" smtClean="0"/>
              <a:t>Саме </a:t>
            </a:r>
            <a:r>
              <a:rPr lang="uk-UA" b="1" dirty="0"/>
              <a:t>делегування</a:t>
            </a:r>
            <a:r>
              <a:rPr lang="uk-UA" dirty="0"/>
              <a:t> - це передача частини дозволів і контролю від батьківського об'єкта іншого відповідальної стороні. Відомо, що кожна організація має в своєму штабі кілька системних адміністраторів. Різні завдання повинні покладатися на різні плечі. Для того щоб застосовувати зміни, необхідно мати права і дозволами, які діляться на стандартні і особливі. Особливі - застосовні до певного об'єкту, а стандартні представляють собою набір, що складається з існуючих дозволів, які роблять доступними або недоступними окремі функції</a:t>
            </a:r>
            <a:r>
              <a:rPr lang="uk-UA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220630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712968" cy="626469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uk-U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</a:t>
            </a:r>
            <a:r>
              <a:rPr lang="uk-UA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елегування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 </a:t>
            </a:r>
            <a:endParaRPr lang="uk-UA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uk-UA" dirty="0" smtClean="0"/>
              <a:t>Саме </a:t>
            </a:r>
            <a:r>
              <a:rPr lang="uk-UA" b="1" dirty="0"/>
              <a:t>делегування</a:t>
            </a:r>
            <a:r>
              <a:rPr lang="uk-UA" dirty="0"/>
              <a:t> - це передача частини дозволів і контролю від батьківського об'єкта іншого відповідальної стороні. Відомо, що кожна організація має в своєму штабі кілька системних адміністраторів. Різні завдання повинні покладатися на різні плечі. Для того щоб застосовувати зміни, необхідно мати права і дозволами, які діляться на стандартні і особливі. Особливі - застосовні до певного об'єкту, а стандартні представляють собою набір, що складається з існуючих дозволів, які роблять доступними або недоступними окремі функції</a:t>
            </a:r>
            <a:r>
              <a:rPr lang="uk-UA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943816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4581128"/>
            <a:ext cx="8229600" cy="24811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uk-UA" sz="1200" dirty="0"/>
              <a:t>У цьому прикладі </a:t>
            </a:r>
            <a:r>
              <a:rPr lang="uk-UA" sz="1200" dirty="0" smtClean="0"/>
              <a:t>Делегування відбуваються </a:t>
            </a:r>
            <a:r>
              <a:rPr lang="uk-UA" sz="1200" dirty="0"/>
              <a:t>такі події</a:t>
            </a:r>
            <a:r>
              <a:rPr lang="uk-UA" sz="1200" dirty="0" smtClean="0"/>
              <a:t>:</a:t>
            </a:r>
            <a:endParaRPr lang="en-US" sz="1200" dirty="0" smtClean="0"/>
          </a:p>
          <a:p>
            <a:pPr marL="0" indent="0">
              <a:buNone/>
            </a:pPr>
            <a:r>
              <a:rPr lang="uk-UA" sz="1200" dirty="0" smtClean="0"/>
              <a:t>Клієнт </a:t>
            </a:r>
            <a:r>
              <a:rPr lang="uk-UA" sz="1200" dirty="0"/>
              <a:t>надсилає рекурсивний запит до </a:t>
            </a:r>
            <a:r>
              <a:rPr lang="en-GB" sz="1200" dirty="0"/>
              <a:t>DNS-</a:t>
            </a:r>
            <a:r>
              <a:rPr lang="uk-UA" sz="1200" dirty="0"/>
              <a:t>сервера, щоб запросити </a:t>
            </a:r>
            <a:r>
              <a:rPr lang="en-GB" sz="1200" dirty="0"/>
              <a:t>IP-</a:t>
            </a:r>
            <a:r>
              <a:rPr lang="uk-UA" sz="1200" dirty="0"/>
              <a:t>адресу, що відповідає імені </a:t>
            </a:r>
            <a:r>
              <a:rPr lang="en-GB" sz="1200" dirty="0"/>
              <a:t>ftp.contoso.com. </a:t>
            </a:r>
            <a:r>
              <a:rPr lang="uk-UA" sz="1200" dirty="0"/>
              <a:t>Рекурсивний запит вказує на те, що клієнт хоче отримати остаточну відповідь на свій запит. Відповіддю на рекурсивний запит має бути дійсна адреса або повідомлення про те, що адресу неможливо знайти</a:t>
            </a:r>
            <a:r>
              <a:rPr lang="uk-UA" sz="1200" dirty="0" smtClean="0"/>
              <a:t>.</a:t>
            </a:r>
            <a:endParaRPr lang="en-US" sz="1200" dirty="0" smtClean="0"/>
          </a:p>
          <a:p>
            <a:pPr marL="0" indent="0">
              <a:buNone/>
            </a:pPr>
            <a:r>
              <a:rPr lang="uk-UA" sz="1200" dirty="0" smtClean="0"/>
              <a:t>Оскільки </a:t>
            </a:r>
            <a:r>
              <a:rPr lang="en-GB" sz="1200" dirty="0"/>
              <a:t>DNS-</a:t>
            </a:r>
            <a:r>
              <a:rPr lang="uk-UA" sz="1200" dirty="0"/>
              <a:t>сервер не є авторитетним для імені та не має відповіді в своєму кеші, </a:t>
            </a:r>
            <a:r>
              <a:rPr lang="en-GB" sz="1200" dirty="0"/>
              <a:t>DNS-</a:t>
            </a:r>
            <a:r>
              <a:rPr lang="uk-UA" sz="1200" dirty="0"/>
              <a:t>сервер використовує кореневі підказки, щоб знайти </a:t>
            </a:r>
            <a:r>
              <a:rPr lang="en-GB" sz="1200" dirty="0"/>
              <a:t>IP-</a:t>
            </a:r>
            <a:r>
              <a:rPr lang="uk-UA" sz="1200" dirty="0"/>
              <a:t>адресу кореневого </a:t>
            </a:r>
            <a:r>
              <a:rPr lang="en-GB" sz="1200" dirty="0"/>
              <a:t>DNS-</a:t>
            </a:r>
            <a:r>
              <a:rPr lang="uk-UA" sz="1200" dirty="0"/>
              <a:t>сервера.</a:t>
            </a:r>
            <a:r>
              <a:rPr lang="en-GB" sz="1200" dirty="0"/>
              <a:t>DNS-</a:t>
            </a:r>
            <a:r>
              <a:rPr lang="uk-UA" sz="1200" dirty="0"/>
              <a:t>сервер використовує ітеративний запит, щоб попросити кореневий </a:t>
            </a:r>
            <a:r>
              <a:rPr lang="en-GB" sz="1200" dirty="0"/>
              <a:t>DNS-</a:t>
            </a:r>
            <a:r>
              <a:rPr lang="uk-UA" sz="1200" dirty="0"/>
              <a:t>сервер розпізнати ім'я </a:t>
            </a:r>
            <a:r>
              <a:rPr lang="en-GB" sz="1200" dirty="0"/>
              <a:t>ftp.contoso.com. </a:t>
            </a:r>
            <a:r>
              <a:rPr lang="uk-UA" sz="1200" dirty="0"/>
              <a:t>Ітеративний запит вказує, що сервер прийме посилання на інший сервер замість остаточної відповіді на запит. Оскільки ім'я </a:t>
            </a:r>
            <a:r>
              <a:rPr lang="en-GB" sz="1200" dirty="0"/>
              <a:t>ftp.contoso.com </a:t>
            </a:r>
            <a:r>
              <a:rPr lang="uk-UA" sz="1200" dirty="0"/>
              <a:t>закінчується міткою </a:t>
            </a:r>
            <a:r>
              <a:rPr lang="en-GB" sz="1200" dirty="0"/>
              <a:t>com, </a:t>
            </a:r>
            <a:r>
              <a:rPr lang="uk-UA" sz="1200" dirty="0"/>
              <a:t>кореневий </a:t>
            </a:r>
            <a:r>
              <a:rPr lang="en-GB" sz="1200" dirty="0"/>
              <a:t>DNS-</a:t>
            </a:r>
            <a:r>
              <a:rPr lang="uk-UA" sz="1200" dirty="0"/>
              <a:t>сервер повертає посилання на </a:t>
            </a:r>
            <a:r>
              <a:rPr lang="en-GB" sz="1200" dirty="0"/>
              <a:t>Com-</a:t>
            </a:r>
            <a:r>
              <a:rPr lang="uk-UA" sz="1200" dirty="0"/>
              <a:t>сервер, на якому розміщена зона </a:t>
            </a:r>
            <a:r>
              <a:rPr lang="en-GB" sz="1200" dirty="0"/>
              <a:t>com</a:t>
            </a:r>
            <a:r>
              <a:rPr lang="en-GB" sz="1200" dirty="0" smtClean="0"/>
              <a:t>.</a:t>
            </a:r>
          </a:p>
          <a:p>
            <a:pPr marL="0" indent="0">
              <a:buNone/>
            </a:pPr>
            <a:r>
              <a:rPr lang="en-GB" sz="1200" dirty="0" smtClean="0"/>
              <a:t>DNS-</a:t>
            </a:r>
            <a:r>
              <a:rPr lang="uk-UA" sz="1200" dirty="0"/>
              <a:t>сервер використовує ітеративний запит, щоб попросити </a:t>
            </a:r>
            <a:r>
              <a:rPr lang="en-GB" sz="1200" dirty="0"/>
              <a:t>Com-</a:t>
            </a:r>
            <a:r>
              <a:rPr lang="uk-UA" sz="1200" dirty="0"/>
              <a:t>сервер розпізнати ім'я </a:t>
            </a:r>
            <a:r>
              <a:rPr lang="en-GB" sz="1200" dirty="0"/>
              <a:t>ftp.contoso.com. </a:t>
            </a:r>
            <a:r>
              <a:rPr lang="uk-UA" sz="1200" dirty="0"/>
              <a:t>Оскільки ім'я </a:t>
            </a:r>
            <a:r>
              <a:rPr lang="en-GB" sz="1200" dirty="0"/>
              <a:t>ftp.contoso.com </a:t>
            </a:r>
            <a:r>
              <a:rPr lang="uk-UA" sz="1200" dirty="0"/>
              <a:t>закінчується на </a:t>
            </a:r>
            <a:r>
              <a:rPr lang="en-GB" sz="1200" dirty="0"/>
              <a:t>contoso.com, Com-</a:t>
            </a:r>
            <a:r>
              <a:rPr lang="uk-UA" sz="1200" dirty="0"/>
              <a:t>сервер повертає посилання на сервер </a:t>
            </a:r>
            <a:r>
              <a:rPr lang="en-GB" sz="1200" dirty="0"/>
              <a:t>Contoso, </a:t>
            </a:r>
            <a:r>
              <a:rPr lang="uk-UA" sz="1200" dirty="0"/>
              <a:t>на якому розміщена зона </a:t>
            </a:r>
            <a:r>
              <a:rPr lang="en-GB" sz="1200" dirty="0"/>
              <a:t>contoso.com</a:t>
            </a:r>
            <a:r>
              <a:rPr lang="en-GB" sz="1200" dirty="0" smtClean="0"/>
              <a:t>.</a:t>
            </a:r>
          </a:p>
          <a:p>
            <a:pPr marL="0" indent="0">
              <a:buNone/>
            </a:pPr>
            <a:r>
              <a:rPr lang="en-GB" sz="1200" dirty="0" smtClean="0"/>
              <a:t>DNS-</a:t>
            </a:r>
            <a:r>
              <a:rPr lang="uk-UA" sz="1200" dirty="0"/>
              <a:t>сервер використовує ітеративний запит, щоб попросити сервер </a:t>
            </a:r>
            <a:r>
              <a:rPr lang="en-GB" sz="1200" dirty="0"/>
              <a:t>Contoso </a:t>
            </a:r>
            <a:r>
              <a:rPr lang="uk-UA" sz="1200" dirty="0"/>
              <a:t>розпізнати ім'я </a:t>
            </a:r>
            <a:r>
              <a:rPr lang="en-GB" sz="1200" dirty="0"/>
              <a:t>ftp.contoso.com. </a:t>
            </a:r>
            <a:r>
              <a:rPr lang="uk-UA" sz="1200" dirty="0"/>
              <a:t>Сервер </a:t>
            </a:r>
            <a:r>
              <a:rPr lang="en-GB" sz="1200" dirty="0"/>
              <a:t>Contoso </a:t>
            </a:r>
            <a:r>
              <a:rPr lang="uk-UA" sz="1200" dirty="0"/>
              <a:t>знаходить відповідь у своїх даних зони, а потім повертає її на сервер</a:t>
            </a:r>
            <a:r>
              <a:rPr lang="uk-UA" sz="1200" dirty="0" smtClean="0"/>
              <a:t>.</a:t>
            </a:r>
            <a:endParaRPr lang="en-US" sz="1200" dirty="0" smtClean="0"/>
          </a:p>
          <a:p>
            <a:pPr marL="0" indent="0">
              <a:buNone/>
            </a:pPr>
            <a:r>
              <a:rPr lang="uk-UA" sz="1200" dirty="0" smtClean="0"/>
              <a:t>Потім </a:t>
            </a:r>
            <a:r>
              <a:rPr lang="uk-UA" sz="1200" dirty="0"/>
              <a:t>сервер повертає результат клієнту.</a:t>
            </a:r>
          </a:p>
        </p:txBody>
      </p:sp>
      <p:pic>
        <p:nvPicPr>
          <p:cNvPr id="1026" name="Picture 2" descr="https://learn.microsoft.com/en-us/previous-versions/windows/it-pro/windows-server-2008-r2-and-2008/images/cc731879.0c24b576-d41a-4e5d-ad3d-6be81e095835(ws.10)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2655"/>
            <a:ext cx="3024336" cy="38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1867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5301208"/>
            <a:ext cx="8229600" cy="1761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200" dirty="0"/>
              <a:t>Розв'язання імен за допомогою кореневих </a:t>
            </a:r>
            <a:r>
              <a:rPr lang="uk-UA" sz="1200" dirty="0" smtClean="0"/>
              <a:t>підказок</a:t>
            </a:r>
          </a:p>
          <a:p>
            <a:pPr marL="0" indent="0">
              <a:buNone/>
            </a:pPr>
            <a:r>
              <a:rPr lang="uk-UA" sz="1200" dirty="0" smtClean="0"/>
              <a:t>Кореневі </a:t>
            </a:r>
            <a:r>
              <a:rPr lang="uk-UA" sz="1200" dirty="0"/>
              <a:t>підказки дозволяють будь-якому </a:t>
            </a:r>
            <a:r>
              <a:rPr lang="en-GB" sz="1200" dirty="0"/>
              <a:t>DNS-</a:t>
            </a:r>
            <a:r>
              <a:rPr lang="uk-UA" sz="1200" dirty="0"/>
              <a:t>серверу знаходити кореневі сервери </a:t>
            </a:r>
            <a:r>
              <a:rPr lang="en-GB" sz="1200" dirty="0"/>
              <a:t>DNS. </a:t>
            </a:r>
            <a:r>
              <a:rPr lang="uk-UA" sz="1200" dirty="0"/>
              <a:t>Після того, як </a:t>
            </a:r>
            <a:r>
              <a:rPr lang="en-GB" sz="1200" dirty="0"/>
              <a:t>DNS-</a:t>
            </a:r>
            <a:r>
              <a:rPr lang="uk-UA" sz="1200" dirty="0"/>
              <a:t>сервер знайде кореневий сервер </a:t>
            </a:r>
            <a:r>
              <a:rPr lang="en-GB" sz="1200" dirty="0"/>
              <a:t>DNS, </a:t>
            </a:r>
            <a:r>
              <a:rPr lang="uk-UA" sz="1200" dirty="0"/>
              <a:t>він може розв'язати будь-який запит для цього простору імен. На наступній ілюстрації показано, як </a:t>
            </a:r>
            <a:r>
              <a:rPr lang="en-GB" sz="1200" dirty="0"/>
              <a:t>DNS </a:t>
            </a:r>
            <a:r>
              <a:rPr lang="uk-UA" sz="1200" dirty="0"/>
              <a:t>розв'язує ім'я за допомогою кореневих підказок.</a:t>
            </a:r>
          </a:p>
        </p:txBody>
      </p:sp>
      <p:pic>
        <p:nvPicPr>
          <p:cNvPr id="2050" name="Picture 2" descr="https://learn.microsoft.com/en-us/previous-versions/windows/it-pro/windows-server-2008-r2-and-2008/images/cc731879.1c044845-b104-4262-a7af-474ba3558a85(ws.10)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07608"/>
            <a:ext cx="3744416" cy="405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9823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5301208"/>
            <a:ext cx="8229600" cy="1761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200" dirty="0"/>
              <a:t>Розв’язання імен за допомогою </a:t>
            </a:r>
            <a:r>
              <a:rPr lang="uk-UA" sz="1200" dirty="0" smtClean="0"/>
              <a:t>переадресації</a:t>
            </a:r>
          </a:p>
          <a:p>
            <a:pPr marL="0" indent="0">
              <a:buNone/>
            </a:pPr>
            <a:r>
              <a:rPr lang="uk-UA" sz="1200" dirty="0" smtClean="0"/>
              <a:t>Переадресація </a:t>
            </a:r>
            <a:r>
              <a:rPr lang="uk-UA" sz="1200" dirty="0"/>
              <a:t>дозволяє </a:t>
            </a:r>
            <a:r>
              <a:rPr lang="uk-UA" sz="1200" dirty="0" err="1"/>
              <a:t>маршрутизувати</a:t>
            </a:r>
            <a:r>
              <a:rPr lang="uk-UA" sz="1200" dirty="0"/>
              <a:t> розв’язання імен через певні сервери замість використання кореневих підказок. На наступній ілюстрації показано, як </a:t>
            </a:r>
            <a:r>
              <a:rPr lang="en-GB" sz="1200" dirty="0"/>
              <a:t>DNS </a:t>
            </a:r>
            <a:r>
              <a:rPr lang="uk-UA" sz="1200" dirty="0"/>
              <a:t>розв’язує ім’я за допомогою переадресації.</a:t>
            </a:r>
          </a:p>
        </p:txBody>
      </p:sp>
      <p:pic>
        <p:nvPicPr>
          <p:cNvPr id="3074" name="Picture 2" descr="https://learn.microsoft.com/en-us/previous-versions/windows/it-pro/windows-server-2008-r2-and-2008/images/cc731879.05bc2eb0-1033-4e53-ae30-244fa247d000(ws.10)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315" y="620688"/>
            <a:ext cx="4772025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4425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23528" y="5301208"/>
            <a:ext cx="8229600" cy="1761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200" dirty="0"/>
              <a:t>Щоб редагувати цей параметр групової політики для вашого середовища, перейдіть за таким шляхом</a:t>
            </a:r>
            <a:r>
              <a:rPr lang="uk-UA" sz="1200" dirty="0" smtClean="0"/>
              <a:t>:</a:t>
            </a:r>
          </a:p>
          <a:p>
            <a:pPr marL="0" indent="0">
              <a:buNone/>
            </a:pPr>
            <a:r>
              <a:rPr lang="en-US" sz="1200" dirty="0"/>
              <a:t>Computer Configuration\Administrative Templates\System\Kerberos\Enable Delegated Managed Service Account logons</a:t>
            </a:r>
            <a:endParaRPr lang="uk-UA" sz="1200" dirty="0"/>
          </a:p>
        </p:txBody>
      </p:sp>
      <p:pic>
        <p:nvPicPr>
          <p:cNvPr id="4098" name="Picture 2" descr="A screenshot of the &quot;Enable Delegated Managed Service Account logons&quot; group policy setting set to enable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0"/>
            <a:ext cx="4811316" cy="477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9873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07504" y="274638"/>
            <a:ext cx="8229600" cy="4123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200" b="1" dirty="0"/>
              <a:t>Необхідні </a:t>
            </a:r>
            <a:r>
              <a:rPr lang="uk-UA" sz="1200" b="1" dirty="0" smtClean="0"/>
              <a:t>умови</a:t>
            </a:r>
          </a:p>
          <a:p>
            <a:pPr marL="0" indent="0">
              <a:buNone/>
            </a:pPr>
            <a:r>
              <a:rPr lang="uk-UA" sz="1200" dirty="0" smtClean="0"/>
              <a:t>Роль </a:t>
            </a:r>
            <a:r>
              <a:rPr lang="uk-UA" sz="1200" dirty="0"/>
              <a:t>служб доменів </a:t>
            </a:r>
            <a:r>
              <a:rPr lang="en-GB" sz="1200" dirty="0"/>
              <a:t>Active Directory </a:t>
            </a:r>
            <a:r>
              <a:rPr lang="uk-UA" sz="1200" dirty="0"/>
              <a:t>має бути інстальована на вашому пристрої або на будь-якому іншому пристрої, якщо використовуються інструменти віддаленого керування. Щоб дізнатися більше, див. розділ Інсталяція або видалення ролей, служб ролей або функцій</a:t>
            </a:r>
            <a:r>
              <a:rPr lang="uk-UA" sz="1200" dirty="0" smtClean="0"/>
              <a:t>.</a:t>
            </a:r>
          </a:p>
          <a:p>
            <a:pPr marL="0" indent="0">
              <a:buNone/>
            </a:pPr>
            <a:r>
              <a:rPr lang="uk-UA" sz="1200" dirty="0" smtClean="0"/>
              <a:t>Після </a:t>
            </a:r>
            <a:r>
              <a:rPr lang="uk-UA" sz="1200" dirty="0"/>
              <a:t>інсталяції ролі ваш пристрій має бути підвищений до контролера домену (</a:t>
            </a:r>
            <a:r>
              <a:rPr lang="en-GB" sz="1200" dirty="0"/>
              <a:t>DC). </a:t>
            </a:r>
            <a:r>
              <a:rPr lang="uk-UA" sz="1200" dirty="0"/>
              <a:t>У диспетчері серверів значок прапорця відображає нове сповіщення. Виберіть «Підвищити цей сервер до контролера домену», а потім виконайте необхідні дії</a:t>
            </a:r>
            <a:r>
              <a:rPr lang="uk-UA" sz="1200" dirty="0" smtClean="0"/>
              <a:t>.</a:t>
            </a:r>
          </a:p>
          <a:p>
            <a:pPr marL="0" indent="0">
              <a:buNone/>
            </a:pPr>
            <a:r>
              <a:rPr lang="uk-UA" sz="1200" dirty="0" smtClean="0"/>
              <a:t>Ви </a:t>
            </a:r>
            <a:r>
              <a:rPr lang="uk-UA" sz="1200" dirty="0"/>
              <a:t>повинні бути членом групи адміністраторів домену або адміністраторів підприємства або мати еквівалентні дозволи </a:t>
            </a:r>
            <a:r>
              <a:rPr lang="en-GB" sz="1200" dirty="0"/>
              <a:t>AD, </a:t>
            </a:r>
            <a:r>
              <a:rPr lang="uk-UA" sz="1200" dirty="0"/>
              <a:t>щоб створити або перенести до </a:t>
            </a:r>
            <a:r>
              <a:rPr lang="en-GB" sz="1200" dirty="0" err="1"/>
              <a:t>dMSA</a:t>
            </a:r>
            <a:r>
              <a:rPr lang="en-GB" sz="1200" dirty="0" smtClean="0"/>
              <a:t>.</a:t>
            </a:r>
            <a:endParaRPr lang="uk-UA" sz="1200" dirty="0" smtClean="0"/>
          </a:p>
          <a:p>
            <a:pPr marL="0" indent="0">
              <a:buNone/>
            </a:pPr>
            <a:r>
              <a:rPr lang="uk-UA" sz="1200" dirty="0" smtClean="0"/>
              <a:t>Переконайтеся</a:t>
            </a:r>
            <a:r>
              <a:rPr lang="uk-UA" sz="1200" dirty="0"/>
              <a:t>, що між відповідними лісами </a:t>
            </a:r>
            <a:r>
              <a:rPr lang="en-GB" sz="1200" dirty="0"/>
              <a:t>AD </a:t>
            </a:r>
            <a:r>
              <a:rPr lang="uk-UA" sz="1200" dirty="0"/>
              <a:t>встановлено двосторонню довіру лісу для підтримки автентифікації для </a:t>
            </a:r>
            <a:r>
              <a:rPr lang="uk-UA" sz="1200" dirty="0" err="1"/>
              <a:t>міждоменних</a:t>
            </a:r>
            <a:r>
              <a:rPr lang="uk-UA" sz="1200" dirty="0"/>
              <a:t> та </a:t>
            </a:r>
            <a:r>
              <a:rPr lang="uk-UA" sz="1200" dirty="0" err="1"/>
              <a:t>міжлісових</a:t>
            </a:r>
            <a:r>
              <a:rPr lang="uk-UA" sz="1200" dirty="0"/>
              <a:t> сценаріїв з </a:t>
            </a:r>
            <a:r>
              <a:rPr lang="en-GB" sz="1200" dirty="0" err="1"/>
              <a:t>dMSA</a:t>
            </a:r>
            <a:r>
              <a:rPr lang="en-GB" sz="1200" dirty="0" smtClean="0"/>
              <a:t>.</a:t>
            </a:r>
            <a:endParaRPr lang="uk-UA" sz="1200" dirty="0" smtClean="0"/>
          </a:p>
          <a:p>
            <a:pPr marL="0" indent="0">
              <a:buNone/>
            </a:pPr>
            <a:r>
              <a:rPr lang="uk-UA" sz="1200" dirty="0" smtClean="0"/>
              <a:t>Кореневий </a:t>
            </a:r>
            <a:r>
              <a:rPr lang="uk-UA" sz="1200" dirty="0"/>
              <a:t>ключ </a:t>
            </a:r>
            <a:r>
              <a:rPr lang="en-GB" sz="1200" dirty="0"/>
              <a:t>KDS </a:t>
            </a:r>
            <a:r>
              <a:rPr lang="uk-UA" sz="1200" dirty="0"/>
              <a:t>має бути згенерований на контролері домену перед створенням або перенесенням </a:t>
            </a:r>
            <a:r>
              <a:rPr lang="en-GB" sz="1200" dirty="0" err="1"/>
              <a:t>dMSA</a:t>
            </a:r>
            <a:r>
              <a:rPr lang="en-GB" sz="1200" dirty="0"/>
              <a:t>. </a:t>
            </a:r>
            <a:endParaRPr lang="uk-UA" sz="1200" dirty="0" smtClean="0"/>
          </a:p>
          <a:p>
            <a:pPr marL="0" indent="0">
              <a:buNone/>
            </a:pPr>
            <a:r>
              <a:rPr lang="uk-UA" sz="1200" dirty="0" smtClean="0"/>
              <a:t>Виконайте </a:t>
            </a:r>
            <a:r>
              <a:rPr lang="en-GB" sz="1200" dirty="0"/>
              <a:t>Get-</a:t>
            </a:r>
            <a:r>
              <a:rPr lang="en-GB" sz="1200" dirty="0" err="1"/>
              <a:t>KdsRootKey</a:t>
            </a:r>
            <a:r>
              <a:rPr lang="en-GB" sz="1200" dirty="0"/>
              <a:t> </a:t>
            </a:r>
            <a:r>
              <a:rPr lang="uk-UA" sz="1200" dirty="0"/>
              <a:t>у </a:t>
            </a:r>
            <a:r>
              <a:rPr lang="en-GB" sz="1200" dirty="0"/>
              <a:t>PowerShell, </a:t>
            </a:r>
            <a:r>
              <a:rPr lang="uk-UA" sz="1200" dirty="0"/>
              <a:t>щоб перевірити, чи доступний ключ. </a:t>
            </a:r>
            <a:endParaRPr lang="uk-UA" sz="1200" dirty="0" smtClean="0"/>
          </a:p>
          <a:p>
            <a:pPr marL="0" indent="0">
              <a:buNone/>
            </a:pPr>
            <a:r>
              <a:rPr lang="uk-UA" sz="1200" dirty="0" smtClean="0"/>
              <a:t>Якщо </a:t>
            </a:r>
            <a:r>
              <a:rPr lang="uk-UA" sz="1200" dirty="0"/>
              <a:t>ключ недоступний, його можна додати, виконавши команду </a:t>
            </a:r>
            <a:r>
              <a:rPr lang="en-GB" sz="1200" dirty="0"/>
              <a:t>Add-</a:t>
            </a:r>
            <a:r>
              <a:rPr lang="en-GB" sz="1200" dirty="0" err="1"/>
              <a:t>KdsRootKey</a:t>
            </a:r>
            <a:r>
              <a:rPr lang="en-GB" sz="1200" dirty="0"/>
              <a:t> –</a:t>
            </a:r>
            <a:r>
              <a:rPr lang="en-GB" sz="1200" dirty="0" err="1"/>
              <a:t>EffectiveTime</a:t>
            </a:r>
            <a:r>
              <a:rPr lang="en-GB" sz="1200" dirty="0"/>
              <a:t>((get-date).</a:t>
            </a:r>
            <a:r>
              <a:rPr lang="en-GB" sz="1200" dirty="0" err="1"/>
              <a:t>addhours</a:t>
            </a:r>
            <a:r>
              <a:rPr lang="en-GB" sz="1200" dirty="0"/>
              <a:t>(-10)).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239285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79512" y="1628800"/>
            <a:ext cx="8229600" cy="48965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Setting up delegated Managed Service Accounts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params</a:t>
            </a:r>
            <a:r>
              <a:rPr lang="en-US" dirty="0"/>
              <a:t> = @{</a:t>
            </a:r>
          </a:p>
          <a:p>
            <a:pPr marL="0" indent="0">
              <a:buNone/>
            </a:pPr>
            <a:r>
              <a:rPr lang="en-US" dirty="0"/>
              <a:t> Path = "HKLM:\SOFTWARE\Microsoft\Windows\</a:t>
            </a:r>
            <a:r>
              <a:rPr lang="en-US" dirty="0" err="1"/>
              <a:t>CurrentVersion</a:t>
            </a:r>
            <a:r>
              <a:rPr lang="en-US" dirty="0"/>
              <a:t>\Policies\System\Kerberos\Parameters"</a:t>
            </a:r>
          </a:p>
          <a:p>
            <a:pPr marL="0" indent="0">
              <a:buNone/>
            </a:pPr>
            <a:r>
              <a:rPr lang="en-US" dirty="0"/>
              <a:t> Name = "</a:t>
            </a:r>
            <a:r>
              <a:rPr lang="en-US" dirty="0" err="1"/>
              <a:t>DelegatedMSAEnabled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Value = 1</a:t>
            </a:r>
          </a:p>
          <a:p>
            <a:pPr marL="0" indent="0">
              <a:buNone/>
            </a:pPr>
            <a:r>
              <a:rPr lang="en-US" dirty="0"/>
              <a:t> Type = "DWORD"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Set-</a:t>
            </a:r>
            <a:r>
              <a:rPr lang="en-US" dirty="0" err="1"/>
              <a:t>ItemProperty</a:t>
            </a:r>
            <a:r>
              <a:rPr lang="en-US" dirty="0"/>
              <a:t> @</a:t>
            </a:r>
            <a:r>
              <a:rPr lang="en-US" dirty="0" err="1"/>
              <a:t>params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26195770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14202"/>
          </a:xfrm>
        </p:spPr>
        <p:txBody>
          <a:bodyPr>
            <a:noAutofit/>
          </a:bodyPr>
          <a:lstStyle/>
          <a:p>
            <a:r>
              <a:rPr lang="uk-UA" sz="2400" dirty="0"/>
              <a:t>Створення окремого </a:t>
            </a:r>
            <a:r>
              <a:rPr lang="en-GB" sz="2400" dirty="0" err="1" smtClean="0"/>
              <a:t>dMSA</a:t>
            </a:r>
            <a:r>
              <a:rPr lang="uk-UA" sz="2400" dirty="0" smtClean="0"/>
              <a:t/>
            </a:r>
            <a:br>
              <a:rPr lang="uk-UA" sz="2400" dirty="0" smtClean="0"/>
            </a:br>
            <a:r>
              <a:rPr lang="uk-UA" sz="2400" dirty="0" smtClean="0"/>
              <a:t>Наведені </a:t>
            </a:r>
            <a:r>
              <a:rPr lang="uk-UA" sz="2400" dirty="0"/>
              <a:t>нижче інструкції дозволяють користувачам створювати новий </a:t>
            </a:r>
            <a:r>
              <a:rPr lang="en-GB" sz="2400" dirty="0" err="1"/>
              <a:t>dMSA</a:t>
            </a:r>
            <a:r>
              <a:rPr lang="en-GB" sz="2400" dirty="0"/>
              <a:t> </a:t>
            </a:r>
            <a:r>
              <a:rPr lang="uk-UA" sz="2400" dirty="0"/>
              <a:t>без міграції з традиційного облікового запису служби</a:t>
            </a:r>
            <a:r>
              <a:rPr lang="uk-UA" sz="2400" dirty="0" smtClean="0"/>
              <a:t>.</a:t>
            </a:r>
            <a:br>
              <a:rPr lang="uk-UA" sz="2400" dirty="0" smtClean="0"/>
            </a:br>
            <a:r>
              <a:rPr lang="uk-UA" sz="2400" dirty="0" smtClean="0"/>
              <a:t>Відкрийте </a:t>
            </a:r>
            <a:r>
              <a:rPr lang="uk-UA" sz="2400" dirty="0"/>
              <a:t>сеанс </a:t>
            </a:r>
            <a:r>
              <a:rPr lang="en-GB" sz="2400" dirty="0"/>
              <a:t>PowerShell </a:t>
            </a:r>
            <a:r>
              <a:rPr lang="uk-UA" sz="2400" dirty="0"/>
              <a:t>з правами адміністратора та виконайте команду: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79512" y="2132856"/>
            <a:ext cx="8229600" cy="4392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$</a:t>
            </a:r>
            <a:r>
              <a:rPr lang="en-US" b="1" dirty="0" err="1"/>
              <a:t>params</a:t>
            </a:r>
            <a:r>
              <a:rPr lang="en-US" b="1" dirty="0"/>
              <a:t> = @{</a:t>
            </a:r>
          </a:p>
          <a:p>
            <a:pPr marL="0" indent="0">
              <a:buNone/>
            </a:pPr>
            <a:r>
              <a:rPr lang="en-US" b="1" dirty="0"/>
              <a:t> Name = "</a:t>
            </a:r>
            <a:r>
              <a:rPr lang="en-US" b="1" dirty="0" err="1"/>
              <a:t>ServiceAccountName</a:t>
            </a:r>
            <a:r>
              <a:rPr lang="en-US" b="1" dirty="0"/>
              <a:t>"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/>
              <a:t>DNSHostName</a:t>
            </a:r>
            <a:r>
              <a:rPr lang="en-US" b="1" dirty="0"/>
              <a:t> = "</a:t>
            </a:r>
            <a:r>
              <a:rPr lang="en-US" b="1" dirty="0" err="1"/>
              <a:t>DNSHostName</a:t>
            </a:r>
            <a:r>
              <a:rPr lang="en-US" b="1" dirty="0"/>
              <a:t>"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/>
              <a:t>CreateDelegatedServiceAccount</a:t>
            </a:r>
            <a:r>
              <a:rPr lang="en-US" b="1" dirty="0"/>
              <a:t> = $true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/>
              <a:t>KerberosEncryptionType</a:t>
            </a:r>
            <a:r>
              <a:rPr lang="en-US" b="1" dirty="0"/>
              <a:t> = "AES256"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b="1" dirty="0"/>
              <a:t>New-</a:t>
            </a:r>
            <a:r>
              <a:rPr lang="en-US" b="1" dirty="0" err="1"/>
              <a:t>ADServiceAccount</a:t>
            </a:r>
            <a:r>
              <a:rPr lang="en-US" b="1" dirty="0"/>
              <a:t> @</a:t>
            </a:r>
            <a:r>
              <a:rPr lang="en-US" b="1" dirty="0" err="1"/>
              <a:t>params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4732935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79512" y="260648"/>
            <a:ext cx="8229600" cy="6264696"/>
          </a:xfrm>
        </p:spPr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r>
              <a:rPr lang="uk-UA" dirty="0" err="1"/>
              <a:t>Grant</a:t>
            </a:r>
            <a:r>
              <a:rPr lang="uk-UA" dirty="0"/>
              <a:t> </a:t>
            </a:r>
            <a:r>
              <a:rPr lang="uk-UA" dirty="0" err="1"/>
              <a:t>permission</a:t>
            </a:r>
            <a:r>
              <a:rPr lang="uk-UA" dirty="0"/>
              <a:t> </a:t>
            </a:r>
            <a:r>
              <a:rPr lang="uk-UA" dirty="0" err="1"/>
              <a:t>to</a:t>
            </a:r>
            <a:r>
              <a:rPr lang="uk-UA" dirty="0"/>
              <a:t> </a:t>
            </a:r>
            <a:r>
              <a:rPr lang="uk-UA" dirty="0" err="1"/>
              <a:t>the</a:t>
            </a:r>
            <a:r>
              <a:rPr lang="uk-UA" dirty="0"/>
              <a:t> </a:t>
            </a:r>
            <a:r>
              <a:rPr lang="uk-UA" dirty="0" err="1"/>
              <a:t>specific</a:t>
            </a:r>
            <a:r>
              <a:rPr lang="uk-UA" dirty="0"/>
              <a:t> </a:t>
            </a:r>
            <a:r>
              <a:rPr lang="uk-UA" dirty="0" err="1"/>
              <a:t>device</a:t>
            </a:r>
            <a:r>
              <a:rPr lang="uk-UA" dirty="0"/>
              <a:t> </a:t>
            </a:r>
            <a:r>
              <a:rPr lang="uk-UA" dirty="0" err="1"/>
              <a:t>to</a:t>
            </a:r>
            <a:r>
              <a:rPr lang="uk-UA" dirty="0"/>
              <a:t> </a:t>
            </a:r>
            <a:r>
              <a:rPr lang="uk-UA" dirty="0" err="1"/>
              <a:t>retrieve</a:t>
            </a:r>
            <a:r>
              <a:rPr lang="uk-UA" dirty="0"/>
              <a:t> </a:t>
            </a:r>
            <a:r>
              <a:rPr lang="uk-UA" dirty="0" err="1"/>
              <a:t>the</a:t>
            </a:r>
            <a:r>
              <a:rPr lang="uk-UA" dirty="0"/>
              <a:t> </a:t>
            </a:r>
            <a:r>
              <a:rPr lang="uk-UA" dirty="0" err="1"/>
              <a:t>password</a:t>
            </a:r>
            <a:r>
              <a:rPr lang="uk-UA" dirty="0"/>
              <a:t> </a:t>
            </a:r>
            <a:r>
              <a:rPr lang="uk-UA" dirty="0" err="1"/>
              <a:t>for</a:t>
            </a:r>
            <a:r>
              <a:rPr lang="uk-UA" dirty="0"/>
              <a:t> </a:t>
            </a:r>
            <a:r>
              <a:rPr lang="uk-UA" dirty="0" err="1"/>
              <a:t>the</a:t>
            </a:r>
            <a:r>
              <a:rPr lang="uk-UA" dirty="0"/>
              <a:t> </a:t>
            </a:r>
            <a:r>
              <a:rPr lang="uk-UA" dirty="0" err="1"/>
              <a:t>service</a:t>
            </a:r>
            <a:r>
              <a:rPr lang="uk-UA" dirty="0"/>
              <a:t> </a:t>
            </a:r>
            <a:r>
              <a:rPr lang="uk-UA" dirty="0" err="1"/>
              <a:t>account</a:t>
            </a:r>
            <a:r>
              <a:rPr lang="uk-UA" dirty="0"/>
              <a:t> </a:t>
            </a:r>
            <a:r>
              <a:rPr lang="uk-UA" dirty="0" err="1"/>
              <a:t>in</a:t>
            </a:r>
            <a:r>
              <a:rPr lang="uk-UA" dirty="0"/>
              <a:t> AD:</a:t>
            </a:r>
          </a:p>
          <a:p>
            <a:pPr marL="0" indent="0">
              <a:buNone/>
            </a:pPr>
            <a:r>
              <a:rPr lang="uk-UA" dirty="0" err="1"/>
              <a:t>PowerShellCopy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$</a:t>
            </a:r>
            <a:r>
              <a:rPr lang="uk-UA" dirty="0" err="1"/>
              <a:t>params</a:t>
            </a:r>
            <a:r>
              <a:rPr lang="uk-UA" dirty="0"/>
              <a:t> = @{</a:t>
            </a:r>
          </a:p>
          <a:p>
            <a:pPr marL="0" indent="0">
              <a:buNone/>
            </a:pPr>
            <a:r>
              <a:rPr lang="uk-UA" dirty="0"/>
              <a:t> </a:t>
            </a:r>
            <a:r>
              <a:rPr lang="uk-UA" dirty="0" err="1"/>
              <a:t>Identity</a:t>
            </a:r>
            <a:r>
              <a:rPr lang="uk-UA" dirty="0"/>
              <a:t> = "DMSA </a:t>
            </a:r>
            <a:r>
              <a:rPr lang="uk-UA" dirty="0" err="1"/>
              <a:t>Name</a:t>
            </a:r>
            <a:r>
              <a:rPr lang="uk-UA" dirty="0"/>
              <a:t>"</a:t>
            </a:r>
          </a:p>
          <a:p>
            <a:pPr marL="0" indent="0">
              <a:buNone/>
            </a:pPr>
            <a:r>
              <a:rPr lang="uk-UA" dirty="0"/>
              <a:t> </a:t>
            </a:r>
            <a:r>
              <a:rPr lang="uk-UA" dirty="0" err="1"/>
              <a:t>PrincipalsAllowedToRetrieveManagedPassword</a:t>
            </a:r>
            <a:r>
              <a:rPr lang="uk-UA" dirty="0"/>
              <a:t> = "</a:t>
            </a:r>
            <a:r>
              <a:rPr lang="uk-UA" dirty="0" err="1"/>
              <a:t>Machine</a:t>
            </a:r>
            <a:r>
              <a:rPr lang="uk-UA" dirty="0"/>
              <a:t>$"</a:t>
            </a:r>
          </a:p>
          <a:p>
            <a:pPr marL="0" indent="0">
              <a:buNone/>
            </a:pPr>
            <a:r>
              <a:rPr lang="uk-UA" dirty="0"/>
              <a:t>}</a:t>
            </a:r>
          </a:p>
          <a:p>
            <a:pPr marL="0" indent="0">
              <a:buNone/>
            </a:pPr>
            <a:r>
              <a:rPr lang="uk-UA" dirty="0" err="1"/>
              <a:t>Set-ADServiceAccount</a:t>
            </a:r>
            <a:r>
              <a:rPr lang="uk-UA" dirty="0"/>
              <a:t> @</a:t>
            </a:r>
            <a:r>
              <a:rPr lang="uk-UA" dirty="0" err="1"/>
              <a:t>params</a:t>
            </a:r>
            <a:endParaRPr lang="uk-UA" dirty="0"/>
          </a:p>
          <a:p>
            <a:pPr marL="0" lvl="0" indent="0">
              <a:buNone/>
            </a:pPr>
            <a:r>
              <a:rPr lang="uk-UA" dirty="0" err="1"/>
              <a:t>The</a:t>
            </a:r>
            <a:r>
              <a:rPr lang="uk-UA" dirty="0"/>
              <a:t> </a:t>
            </a:r>
            <a:r>
              <a:rPr lang="uk-UA" b="1" dirty="0" err="1"/>
              <a:t>msDS-DelegatedMSAState</a:t>
            </a:r>
            <a:r>
              <a:rPr lang="uk-UA" dirty="0"/>
              <a:t> </a:t>
            </a:r>
            <a:r>
              <a:rPr lang="uk-UA" dirty="0" err="1"/>
              <a:t>property</a:t>
            </a:r>
            <a:r>
              <a:rPr lang="uk-UA" dirty="0"/>
              <a:t> </a:t>
            </a:r>
            <a:r>
              <a:rPr lang="uk-UA" dirty="0" err="1"/>
              <a:t>value</a:t>
            </a:r>
            <a:r>
              <a:rPr lang="uk-UA" dirty="0"/>
              <a:t> </a:t>
            </a:r>
            <a:r>
              <a:rPr lang="uk-UA" dirty="0" err="1"/>
              <a:t>for</a:t>
            </a:r>
            <a:r>
              <a:rPr lang="uk-UA" dirty="0"/>
              <a:t> </a:t>
            </a:r>
            <a:r>
              <a:rPr lang="uk-UA" dirty="0" err="1"/>
              <a:t>the</a:t>
            </a:r>
            <a:r>
              <a:rPr lang="uk-UA" dirty="0"/>
              <a:t> </a:t>
            </a:r>
            <a:r>
              <a:rPr lang="uk-UA" dirty="0" err="1"/>
              <a:t>dMSA</a:t>
            </a:r>
            <a:r>
              <a:rPr lang="uk-UA" dirty="0"/>
              <a:t> </a:t>
            </a:r>
            <a:r>
              <a:rPr lang="uk-UA" dirty="0" err="1"/>
              <a:t>must</a:t>
            </a:r>
            <a:r>
              <a:rPr lang="uk-UA" dirty="0"/>
              <a:t> </a:t>
            </a:r>
            <a:r>
              <a:rPr lang="uk-UA" dirty="0" err="1"/>
              <a:t>be</a:t>
            </a:r>
            <a:r>
              <a:rPr lang="uk-UA" dirty="0"/>
              <a:t> </a:t>
            </a:r>
            <a:r>
              <a:rPr lang="uk-UA" dirty="0" err="1"/>
              <a:t>set</a:t>
            </a:r>
            <a:r>
              <a:rPr lang="uk-UA" dirty="0"/>
              <a:t> </a:t>
            </a:r>
            <a:r>
              <a:rPr lang="uk-UA" dirty="0" err="1"/>
              <a:t>to</a:t>
            </a:r>
            <a:r>
              <a:rPr lang="uk-UA" dirty="0"/>
              <a:t> </a:t>
            </a:r>
            <a:r>
              <a:rPr lang="uk-UA" b="1" dirty="0"/>
              <a:t>3</a:t>
            </a:r>
            <a:r>
              <a:rPr lang="uk-UA" dirty="0"/>
              <a:t>. </a:t>
            </a:r>
            <a:r>
              <a:rPr lang="uk-UA" dirty="0" err="1"/>
              <a:t>To</a:t>
            </a:r>
            <a:r>
              <a:rPr lang="uk-UA" dirty="0"/>
              <a:t> </a:t>
            </a:r>
            <a:r>
              <a:rPr lang="uk-UA" dirty="0" err="1"/>
              <a:t>view</a:t>
            </a:r>
            <a:r>
              <a:rPr lang="uk-UA" dirty="0"/>
              <a:t> </a:t>
            </a:r>
            <a:r>
              <a:rPr lang="uk-UA" dirty="0" err="1"/>
              <a:t>the</a:t>
            </a:r>
            <a:r>
              <a:rPr lang="uk-UA" dirty="0"/>
              <a:t> </a:t>
            </a:r>
            <a:r>
              <a:rPr lang="uk-UA" dirty="0" err="1"/>
              <a:t>current</a:t>
            </a:r>
            <a:r>
              <a:rPr lang="uk-UA" dirty="0"/>
              <a:t> </a:t>
            </a:r>
            <a:r>
              <a:rPr lang="uk-UA" dirty="0" err="1"/>
              <a:t>property</a:t>
            </a:r>
            <a:r>
              <a:rPr lang="uk-UA" dirty="0"/>
              <a:t> </a:t>
            </a:r>
            <a:r>
              <a:rPr lang="uk-UA" dirty="0" err="1"/>
              <a:t>value</a:t>
            </a:r>
            <a:r>
              <a:rPr lang="uk-UA" dirty="0"/>
              <a:t>, </a:t>
            </a:r>
            <a:r>
              <a:rPr lang="uk-UA" dirty="0" err="1"/>
              <a:t>run</a:t>
            </a:r>
            <a:r>
              <a:rPr lang="uk-UA" dirty="0"/>
              <a:t>:</a:t>
            </a:r>
          </a:p>
          <a:p>
            <a:pPr marL="0" indent="0">
              <a:buNone/>
            </a:pPr>
            <a:r>
              <a:rPr lang="uk-UA" dirty="0" err="1"/>
              <a:t>PowerShellCopy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$</a:t>
            </a:r>
            <a:r>
              <a:rPr lang="uk-UA" dirty="0" err="1"/>
              <a:t>params</a:t>
            </a:r>
            <a:r>
              <a:rPr lang="uk-UA" dirty="0"/>
              <a:t> = @{</a:t>
            </a:r>
          </a:p>
          <a:p>
            <a:pPr marL="0" indent="0">
              <a:buNone/>
            </a:pPr>
            <a:r>
              <a:rPr lang="uk-UA" dirty="0"/>
              <a:t> </a:t>
            </a:r>
            <a:r>
              <a:rPr lang="uk-UA" dirty="0" err="1"/>
              <a:t>Identity</a:t>
            </a:r>
            <a:r>
              <a:rPr lang="uk-UA" dirty="0"/>
              <a:t> = "</a:t>
            </a:r>
            <a:r>
              <a:rPr lang="uk-UA" dirty="0" err="1"/>
              <a:t>dMSAsnmp</a:t>
            </a:r>
            <a:r>
              <a:rPr lang="uk-UA" dirty="0"/>
              <a:t>"</a:t>
            </a:r>
          </a:p>
          <a:p>
            <a:pPr marL="0" indent="0">
              <a:buNone/>
            </a:pPr>
            <a:r>
              <a:rPr lang="uk-UA" dirty="0"/>
              <a:t> </a:t>
            </a:r>
            <a:r>
              <a:rPr lang="uk-UA" dirty="0" err="1"/>
              <a:t>Properties</a:t>
            </a:r>
            <a:r>
              <a:rPr lang="uk-UA" dirty="0"/>
              <a:t> = "</a:t>
            </a:r>
            <a:r>
              <a:rPr lang="uk-UA" dirty="0" err="1"/>
              <a:t>msDS-DelegatedMSAState</a:t>
            </a:r>
            <a:r>
              <a:rPr lang="uk-UA" dirty="0"/>
              <a:t>"</a:t>
            </a:r>
          </a:p>
          <a:p>
            <a:pPr marL="0" indent="0">
              <a:buNone/>
            </a:pPr>
            <a:r>
              <a:rPr lang="uk-UA" dirty="0"/>
              <a:t>}</a:t>
            </a:r>
          </a:p>
          <a:p>
            <a:pPr marL="0" indent="0">
              <a:buNone/>
            </a:pPr>
            <a:r>
              <a:rPr lang="uk-UA" dirty="0" err="1"/>
              <a:t>Get-ADServiceAccount</a:t>
            </a:r>
            <a:r>
              <a:rPr lang="uk-UA" dirty="0"/>
              <a:t> @</a:t>
            </a:r>
            <a:r>
              <a:rPr lang="uk-UA" dirty="0" err="1"/>
              <a:t>params</a:t>
            </a:r>
            <a:endParaRPr lang="uk-UA" dirty="0"/>
          </a:p>
          <a:p>
            <a:pPr marL="0" indent="0">
              <a:buNone/>
            </a:pPr>
            <a:r>
              <a:rPr lang="uk-UA" dirty="0" err="1"/>
              <a:t>To</a:t>
            </a:r>
            <a:r>
              <a:rPr lang="uk-UA" dirty="0"/>
              <a:t> </a:t>
            </a:r>
            <a:r>
              <a:rPr lang="uk-UA" dirty="0" err="1"/>
              <a:t>set</a:t>
            </a:r>
            <a:r>
              <a:rPr lang="uk-UA" dirty="0"/>
              <a:t> </a:t>
            </a:r>
            <a:r>
              <a:rPr lang="uk-UA" dirty="0" err="1"/>
              <a:t>this</a:t>
            </a:r>
            <a:r>
              <a:rPr lang="uk-UA" dirty="0"/>
              <a:t> </a:t>
            </a:r>
            <a:r>
              <a:rPr lang="uk-UA" dirty="0" err="1"/>
              <a:t>value</a:t>
            </a:r>
            <a:r>
              <a:rPr lang="uk-UA" dirty="0"/>
              <a:t> </a:t>
            </a:r>
            <a:r>
              <a:rPr lang="uk-UA" dirty="0" err="1"/>
              <a:t>to</a:t>
            </a:r>
            <a:r>
              <a:rPr lang="uk-UA" dirty="0"/>
              <a:t> </a:t>
            </a:r>
            <a:r>
              <a:rPr lang="uk-UA" b="1" dirty="0"/>
              <a:t>3</a:t>
            </a:r>
            <a:r>
              <a:rPr lang="uk-UA" dirty="0"/>
              <a:t>, </a:t>
            </a:r>
            <a:r>
              <a:rPr lang="uk-UA" dirty="0" err="1"/>
              <a:t>run</a:t>
            </a:r>
            <a:r>
              <a:rPr lang="uk-UA" dirty="0"/>
              <a:t>:</a:t>
            </a:r>
          </a:p>
          <a:p>
            <a:pPr marL="0" indent="0">
              <a:buNone/>
            </a:pPr>
            <a:r>
              <a:rPr lang="uk-UA" dirty="0" err="1"/>
              <a:t>PowerShellCopy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$</a:t>
            </a:r>
            <a:r>
              <a:rPr lang="uk-UA" dirty="0" err="1"/>
              <a:t>params</a:t>
            </a:r>
            <a:r>
              <a:rPr lang="uk-UA" dirty="0"/>
              <a:t> = @{</a:t>
            </a:r>
          </a:p>
          <a:p>
            <a:pPr marL="0" indent="0">
              <a:buNone/>
            </a:pPr>
            <a:r>
              <a:rPr lang="uk-UA" dirty="0"/>
              <a:t> </a:t>
            </a:r>
            <a:r>
              <a:rPr lang="uk-UA" dirty="0" err="1"/>
              <a:t>Identity</a:t>
            </a:r>
            <a:r>
              <a:rPr lang="uk-UA" dirty="0"/>
              <a:t> = "</a:t>
            </a:r>
            <a:r>
              <a:rPr lang="uk-UA" dirty="0" err="1"/>
              <a:t>dMSAsnmp</a:t>
            </a:r>
            <a:r>
              <a:rPr lang="uk-UA" dirty="0"/>
              <a:t>"</a:t>
            </a:r>
          </a:p>
          <a:p>
            <a:pPr marL="0" indent="0">
              <a:buNone/>
            </a:pPr>
            <a:r>
              <a:rPr lang="uk-UA" dirty="0"/>
              <a:t> </a:t>
            </a:r>
            <a:r>
              <a:rPr lang="uk-UA" dirty="0" err="1"/>
              <a:t>Properties</a:t>
            </a:r>
            <a:r>
              <a:rPr lang="uk-UA" dirty="0"/>
              <a:t> = @{</a:t>
            </a:r>
          </a:p>
          <a:p>
            <a:pPr marL="0" indent="0">
              <a:buNone/>
            </a:pPr>
            <a:r>
              <a:rPr lang="uk-UA" dirty="0"/>
              <a:t>  "</a:t>
            </a:r>
            <a:r>
              <a:rPr lang="uk-UA" dirty="0" err="1"/>
              <a:t>msDS-DelegatedMSAState</a:t>
            </a:r>
            <a:r>
              <a:rPr lang="uk-UA" dirty="0"/>
              <a:t>" = 3</a:t>
            </a:r>
          </a:p>
          <a:p>
            <a:pPr marL="0" indent="0">
              <a:buNone/>
            </a:pPr>
            <a:r>
              <a:rPr lang="uk-UA" dirty="0"/>
              <a:t> }</a:t>
            </a:r>
          </a:p>
          <a:p>
            <a:pPr marL="0" indent="0">
              <a:buNone/>
            </a:pPr>
            <a:r>
              <a:rPr lang="uk-UA" dirty="0"/>
              <a:t>}</a:t>
            </a:r>
          </a:p>
          <a:p>
            <a:pPr marL="0" indent="0">
              <a:buNone/>
            </a:pPr>
            <a:r>
              <a:rPr lang="uk-UA" dirty="0" err="1"/>
              <a:t>Set-ADServiceAccount</a:t>
            </a:r>
            <a:r>
              <a:rPr lang="uk-UA" dirty="0"/>
              <a:t> @</a:t>
            </a:r>
            <a:r>
              <a:rPr lang="uk-UA" dirty="0" err="1"/>
              <a:t>params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3510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79512" y="260648"/>
            <a:ext cx="8229600" cy="626469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uk-UA" dirty="0" smtClean="0"/>
              <a:t>Використані джерела:</a:t>
            </a:r>
          </a:p>
          <a:p>
            <a:pPr marL="0" lv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uk-UA" dirty="0"/>
              <a:t>https://www.microsoft.com/en-us/windows/ </a:t>
            </a:r>
          </a:p>
          <a:p>
            <a:pPr marL="0" indent="0">
              <a:buNone/>
            </a:pPr>
            <a:r>
              <a:rPr lang="uk-UA" dirty="0"/>
              <a:t>Windows </a:t>
            </a:r>
            <a:r>
              <a:rPr lang="uk-UA" dirty="0" err="1"/>
              <a:t>Commands</a:t>
            </a:r>
            <a:r>
              <a:rPr lang="uk-UA" dirty="0"/>
              <a:t> [Електронний ресурс]. – Режим доступу до ресурсу: </a:t>
            </a:r>
            <a:r>
              <a:rPr lang="uk-UA" u="sng" dirty="0">
                <a:hlinkClick r:id="rId2"/>
              </a:rPr>
              <a:t>https://learn.microsoft.com/en-us/windows-server/administration/windowscommands/windows-commands</a:t>
            </a:r>
            <a:r>
              <a:rPr lang="uk-UA" dirty="0"/>
              <a:t>. </a:t>
            </a:r>
          </a:p>
          <a:p>
            <a:pPr marL="0" lvl="0" indent="0">
              <a:buNone/>
            </a:pPr>
            <a:r>
              <a:rPr lang="en-GB" dirty="0"/>
              <a:t>https://learn.microsoft.com/en-us/windows-server/identity/ad-ds/manage/delegated-managed-service-accounts/delegated-managed-service-accounts-set-up-dmsa</a:t>
            </a:r>
            <a:endParaRPr lang="uk-UA" dirty="0" smtClean="0"/>
          </a:p>
        </p:txBody>
      </p:sp>
    </p:spTree>
    <p:extLst>
      <p:ext uri="{BB962C8B-B14F-4D97-AF65-F5344CB8AC3E}">
        <p14:creationId xmlns:p14="http://schemas.microsoft.com/office/powerpoint/2010/main" val="110303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56" y="836712"/>
            <a:ext cx="8229600" cy="33843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Дякую за увагу!</a:t>
            </a:r>
          </a:p>
          <a:p>
            <a:pPr marL="0" indent="0" algn="ctr">
              <a:buNone/>
            </a:pPr>
            <a:endParaRPr lang="uk-UA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uk-UA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Запитання будь-ласка.</a:t>
            </a:r>
          </a:p>
          <a:p>
            <a:pPr marL="0" indent="0" algn="ctr">
              <a:buNone/>
            </a:pPr>
            <a:endParaRPr lang="uk-UA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for attention</a:t>
            </a:r>
            <a:r>
              <a:rPr lang="uk-UA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683568" y="4725144"/>
            <a:ext cx="7992888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dirty="0" smtClean="0"/>
              <a:t>доцент, </a:t>
            </a:r>
            <a:r>
              <a:rPr lang="uk-UA" dirty="0" err="1" smtClean="0"/>
              <a:t>к.е.н</a:t>
            </a:r>
            <a:r>
              <a:rPr lang="uk-UA" dirty="0" smtClean="0"/>
              <a:t>. </a:t>
            </a:r>
            <a:r>
              <a:rPr lang="uk-UA" dirty="0" err="1" smtClean="0"/>
              <a:t>Белей</a:t>
            </a:r>
            <a:r>
              <a:rPr lang="uk-UA" dirty="0" smtClean="0"/>
              <a:t> Олександр Ігорович</a:t>
            </a: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Oleksandr.I.Belei@lpnu.ua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+38(067)3378560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4163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2560</TotalTime>
  <Words>2241</Words>
  <Application>Microsoft Office PowerPoint</Application>
  <PresentationFormat>Екран (4:3)</PresentationFormat>
  <Paragraphs>329</Paragraphs>
  <Slides>85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Робота з об'єктами Active Directory на Windows Server</vt:lpstr>
      <vt:lpstr>Презентація PowerPoint</vt:lpstr>
      <vt:lpstr>Презентація PowerPoint</vt:lpstr>
      <vt:lpstr>Базові налаштування Windows Server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Адресація комп’ютерів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Особливості установки Active Directory</vt:lpstr>
      <vt:lpstr>Натиснути на кнопку "ОК". Варто зауважити, що подібні значення не є обов'язковими. Можна використовувати IP адреса і DNS зі своєї мережі</vt:lpstr>
      <vt:lpstr>Презентація PowerPoint</vt:lpstr>
      <vt:lpstr>Далі потрібно зайти в меню "Пуск", вибрати "Адміністрування" і ""</vt:lpstr>
      <vt:lpstr>Перейти до пункту "Ролі", вибрати поле " Додати ролі”</vt:lpstr>
      <vt:lpstr>Вибрати пункт "Доменні служби Active Directory" двічі натиснути "Далі", а після "Встановити"</vt:lpstr>
      <vt:lpstr>Дочекатися закінчення установки</vt:lpstr>
      <vt:lpstr>Відкрити меню "Пуск" - " виконати". В поле ввести dcpromo.exe</vt:lpstr>
      <vt:lpstr>Клікнути "Далі".</vt:lpstr>
      <vt:lpstr>Вибрати пункт " Створити новий домен у новому лісі" І знову натиснути "Далі ".</vt:lpstr>
      <vt:lpstr>У наступному вікні ввести назву, натиснути "Далі".</vt:lpstr>
      <vt:lpstr>Вибрати  режим сумісності (Windows Server 8).</vt:lpstr>
      <vt:lpstr>У наступному вікні залишити все за умовчанням.</vt:lpstr>
      <vt:lpstr>Вибрати директорію для установки.</vt:lpstr>
      <vt:lpstr>Для надійності пароль повинен відповідати певним вимогам</vt:lpstr>
      <vt:lpstr>Після того як AD завершить процес налаштування компонентів, необхідно перезавантажити сервер</vt:lpstr>
      <vt:lpstr>Налаштування завершено, оснащення та роль встановлені в систему. Встановити AD можна тільки на Windows сімейства Server</vt:lpstr>
      <vt:lpstr>Презентація PowerPoint</vt:lpstr>
      <vt:lpstr>Презентація PowerPoint</vt:lpstr>
      <vt:lpstr>Зовнішній вигляд вікна Active Directory – користувачі та комп'ютери</vt:lpstr>
      <vt:lpstr>Презентація PowerPoint</vt:lpstr>
      <vt:lpstr>Презентація PowerPoint</vt:lpstr>
      <vt:lpstr>NetBIOS-ім'я</vt:lpstr>
      <vt:lpstr>Розташування бази даних</vt:lpstr>
      <vt:lpstr>Запуск авторизації DHCP-сервера</vt:lpstr>
      <vt:lpstr>Запуск авторизації DHCP-сервера</vt:lpstr>
      <vt:lpstr>Авторизація DHCP-сервера в домені</vt:lpstr>
      <vt:lpstr>Завершення авторизації DHCP-сервера</vt:lpstr>
      <vt:lpstr>Налаштування часу оренди адрес</vt:lpstr>
      <vt:lpstr>Налаштувати додаткові параметри</vt:lpstr>
      <vt:lpstr>Шлюз за замовчуванням</vt:lpstr>
      <vt:lpstr>Процес дозволу мережевих імен Пошук інформації в hosts.txt або у кеші; Спроба знайти ім'я через DNS; Спроба знайти NetBIOS-ім'я у кеші; Спроба знайти NetBIOS ім'я через WINS-сервер; Спроба знайти NetBIOS-ім'я шляхом відправлення широкомовних пакетів до локальної мережі; Спроба знайти NetBIOS-ім'я в файлі LMHOSTS. </vt:lpstr>
      <vt:lpstr>Налаштування DNS</vt:lpstr>
      <vt:lpstr>WINS-сервери</vt:lpstr>
      <vt:lpstr>Активація області</vt:lpstr>
      <vt:lpstr>Створюємо нового користувача в домені AD</vt:lpstr>
      <vt:lpstr>Введення робочої станції до домену</vt:lpstr>
      <vt:lpstr>Нові властивості системи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Створення окремого dMSA Наведені нижче інструкції дозволяють користувачам створювати новий dMSA без міграції з традиційного облікового запису служби. Відкрийте сеанс PowerShell з правами адміністратора та виконайте команду:</vt:lpstr>
      <vt:lpstr>Презентація PowerPoint</vt:lpstr>
      <vt:lpstr>Презентація PowerPoint</vt:lpstr>
      <vt:lpstr>Презентація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Архітектура та інтерфейси операційних систем</dc:title>
  <dc:creator>Cristina Nestor</dc:creator>
  <cp:lastModifiedBy>Oles Beley</cp:lastModifiedBy>
  <cp:revision>97</cp:revision>
  <dcterms:created xsi:type="dcterms:W3CDTF">2020-10-08T05:57:53Z</dcterms:created>
  <dcterms:modified xsi:type="dcterms:W3CDTF">2025-10-12T17:32:46Z</dcterms:modified>
</cp:coreProperties>
</file>