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Вступне слово:</a:t>
            </a:r>
          </a:p>
          <a:p>
            <a:r>
              <a:t>Вітаю колег та викладача. Сьогодні ми розберемо одну з найгарячіших та найбільш контроверсійних тем сучасного геймдеву та комп'ютерної графіки 2026 року — технологію NVIDIA DLSS 5.</a:t>
            </a:r>
          </a:p>
          <a:p>
            <a:r>
              <a:t>Ми розглянемо, як бренд DLSS пройшов шлях від звичайного темпорального апскейлера до повноцінного нейрорендерера, чому він більше НЕ додає безкоштовні кадри, а навпаки «саджає» топові карти, які скандали викликав інцидент з Capcom навколо обличчя Грейс, та чому ентузіасти знову змушені рятувати графіку через ReShade.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Пояснення слайду:</a:t>
            </a:r>
          </a:p>
          <a:p>
            <a:r>
              <a:t>Зверніть увагу аудиторії на еволюцію назви: спочатку 'Super Resolution', потім 'Frame Generation', далі 'Ray Reconstruction', і ось тепер '3D-Guided Neural Rendering'.</a:t>
            </a:r>
          </a:p>
          <a:p>
            <a:r>
              <a:t>Маркетологи NVIDIA зберегли впізнавану абревіатуру DLSS, але під капотом це абсолютно інший процес. Якщо DLSS 2 був способом запустити важку гру на слабкій карті, то DLSS 5 — це режим ультра-якості для власників топових RTX 50, який перетворює відеокарту на генератор фотореалізму.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Технічні деталі:</a:t>
            </a:r>
          </a:p>
          <a:p>
            <a:r>
              <a:t>Чому це не звичайний Stable Diffusion чи Sora? Дифузійні моделі потребують десятків кроків денойзингу, що займає секунди. NVIDIA розробила трансформер прямого проходу (Feed-Forward), який вкладається в суворий бюджет часу кадру — приблизно 8 мілісекунд при 4K.</a:t>
            </a:r>
          </a:p>
          <a:p>
            <a:r>
              <a:t>Ключове слово — '3D-Guided'. Якщо штучний інтелект спробує генерувати кадр лише за описом або 2D-картинкою, персонажі почнуть ковзати по землі, а стіни плавитися. 3D-Guided означає, що полігональна сітка та буфери глибини залишаються нерухомим каркасом, на який нейромережа 'натягує' світло.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Акценти для доповіді:</a:t>
            </a:r>
          </a:p>
          <a:p>
            <a:r>
              <a:t>Коли техно-блогери на YouTube (Digital Foundry, Hardware Unboxed) вперше запустили DLSS 5 у NBA 2K27, коментарі вибухнули: 'Навіщо мені технологія, яка відбирає 100 кадрів на моїй RTX 5090?'.</a:t>
            </a:r>
          </a:p>
          <a:p>
            <a:r>
              <a:t>Але інженери пояснюють: порівнювати DLSS 5 треба не зі звичайною растеризацією, а з повноцінним Path Tracing з 4-ма відскоками світла. Якби ми спробували чесно порахувати таку шкіру та листя через промені, карта видала б 5 FPS і споживала стільки ж енергії. DLSS 5 — це 'розумний компроміс', хоча плата за нього у ватах і градусах є рекордною.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Історична ретроспектива артефактів:</a:t>
            </a:r>
          </a:p>
          <a:p>
            <a:r>
              <a:t>Кожне покоління DLSS мало свій характерний дефект. У 2018 році всі лаяли замилювання. У 2020–2022 роках геймери воювали з примарними шлейфами за літаками та прицілами.</a:t>
            </a:r>
          </a:p>
          <a:p>
            <a:r>
              <a:t>У DLSS 5 проблема інша — це надлишкова 'красивість'. Нейромережа навчена на мільйонах якісних фотографій, тому вона прагне зробити кожне обличчя ідеально освітленим і чистим. У результаті брудний постапокаліпсис чи кривавий горор починають виглядати як фотосесія для інстаграму.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Сюжетний кейс для виступу:</a:t>
            </a:r>
          </a:p>
          <a:p>
            <a:r>
              <a:t>Обов'язково розкажіть історію з Capcom — це чудовий живий приклад. Художники місяцями малювали зморшки, пори та сліди страху на обличчі Грейс, щоб передати атмосферу безвиході. А потім приходить DLSS 5 і перетворює її на модель із глянцевого журналу, бо для моделі 'гарна шкіра' — це гладка шкіра.</a:t>
            </a:r>
          </a:p>
          <a:p>
            <a:r>
              <a:t>Це відкрило широку дискусію: де межа між технологічним апгрейдом графіки та спотворенням художнього задуму авторів?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Аналіз драйверів:</a:t>
            </a:r>
          </a:p>
          <a:p>
            <a:r>
              <a:t>Сьогодні драйвер NVIDIA важить майже гігабайт! Раніше це була невелика утиліта. Тепер разом із драйвером ставляться нейромережеві ваги, середовища виконання TensorRT та фонові демони.</a:t>
            </a:r>
          </a:p>
          <a:p>
            <a:r>
              <a:t>На YouTube-каналах (таких як Gamers Nexus) вийшли розгромні матеріали про гілку 617.xx: NVIDIA заявляє про підтримку нових релізів, а ентузіасти при бінарному порівнянні виявляють, що код взагалі не змінювався. Геймерський сектор відчуває брак уваги, адже вся увага топ-менеджменту прикута до датацентрів та біржових рекордів.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Філософський розбір:</a:t>
            </a:r>
          </a:p>
          <a:p>
            <a:r>
              <a:t>Тут важливо зберегти баланс думок і показати себе зрілим аналітиком.</a:t>
            </a:r>
          </a:p>
          <a:p>
            <a:r>
              <a:t>З одного боку, обурення геймерів абсолютно виправдане: розробники розлінилися, звільняють команди оптимізації і випускають проєкти, які без DLSS видають 25 кадрів на флагманських картах.</a:t>
            </a:r>
          </a:p>
          <a:p>
            <a:r>
              <a:t>З іншого боку, інженери напівпровідників мають рацію: Закон Мура мертвий у своєму первісному вигляді. Ми не можемо просто подвоювати транзистори щодва роки, бо кремній плавиться. Єдиний спосіб отримати картинку нового рівня — це використання нейромережевих статистичних моделей замість прямого лобового прорахунку.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Роль спільноти та відкритих рішень:</a:t>
            </a:r>
          </a:p>
          <a:p>
            <a:r>
              <a:t>Цей слайд демонструє неймовірну силу ПК-модингу. NVIDIA офіційно обмежила DLSS 5 лише кількома новими іграми та найсвіжішими картами. Але коли в серпні стався витік бібліотек, ентузіасти через ReShade та RenoDX довели, що нейрорендер чудово працює і у Відьмаку 3, і в Сталкері 2.</a:t>
            </a:r>
          </a:p>
          <a:p>
            <a:r>
              <a:t>Більше того, моддери додали саме те, про що благали гравці: ручні повзунки масштабування та захист HUD. Це доводить: технологія сама по собі чудова, проблема полягала в її закритій і авторитарній подачі корпорацією.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Заключне слово доповідача:</a:t>
            </a:r>
          </a:p>
          <a:p>
            <a:r>
              <a:t>Підсумовуючи: ми стоїмо на порозі нової ери. Подобається це пуристам чи ні, але епоха прямого прорахунку кожного трикутника та променя добігає кінця. Настає епоха нейромережевої інтерпретації.</a:t>
            </a:r>
          </a:p>
          <a:p>
            <a:r>
              <a:t>Я пропоную перейти до запитань. Особливо цікаво почути думку колег: чи вважаєте ви DLSS 5 рятівним кругом індустрії, чи черговою маркетинговою спробою продати нам кіловатні відеокарти за дві тисячі доларів?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NVIDIA DLSS 5 TECHNICAL REPORT • DECONSTRUCTION &amp; HARDWARE ANALYSIS  |  СЛАЙД 01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840480" cy="292608"/>
          </a:xfrm>
          <a:prstGeom prst="roundRect">
            <a:avLst/>
          </a:prstGeom>
          <a:solidFill>
            <a:srgbClr val="1C2230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50" b="1">
                <a:solidFill>
                  <a:srgbClr val="76B900"/>
                </a:solidFill>
              </a:defRPr>
            </a:pPr>
            <a:r>
              <a:t>●  NVIDIA GRAPHICS RESEARCH &amp; ARCHITECTURE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F9FAFB"/>
                </a:solidFill>
              </a:defRPr>
            </a:pPr>
            <a:r>
              <a:t>DLSS 5: 3D-Guided Neural Rendering</a:t>
            </a:r>
          </a:p>
          <a:p>
            <a:pPr>
              <a:spcAft>
                <a:spcPts val="2800"/>
              </a:spcAft>
              <a:defRPr sz="1700">
                <a:solidFill>
                  <a:srgbClr val="9CA3AF"/>
                </a:solidFill>
              </a:defRPr>
            </a:pPr>
            <a:r>
              <a:t>Від апскейлу роздільності до генеративної фізики світла: Прорив кінематографічного реалізму чи капітуляція оптимізації перед «AI Slop»?</a:t>
            </a:r>
          </a:p>
          <a:p>
            <a:pPr>
              <a:defRPr sz="1100">
                <a:solidFill>
                  <a:srgbClr val="00E5FF"/>
                </a:solidFill>
              </a:defRPr>
            </a:pPr>
            <a:r>
              <a:t>Автор дослідження: студент 2-го курсу  •  Матеріали: аналітика YouTube, витоки бібліотек та бенчмарки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3474720" cy="960120"/>
          </a:xfrm>
          <a:prstGeom prst="roundRect">
            <a:avLst/>
          </a:prstGeom>
          <a:solidFill>
            <a:srgbClr val="151821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spcAft>
                <a:spcPts val="300"/>
              </a:spcAft>
              <a:defRPr sz="850" b="1">
                <a:solidFill>
                  <a:srgbClr val="76B900"/>
                </a:solidFill>
              </a:defRPr>
            </a:pPr>
            <a:r>
              <a:t>АРХІТЕКТУРА</a:t>
            </a:r>
          </a:p>
          <a:p>
            <a:pPr>
              <a:defRPr sz="1200" b="1">
                <a:solidFill>
                  <a:srgbClr val="F9FAFB"/>
                </a:solidFill>
              </a:defRPr>
            </a:pPr>
            <a:r>
              <a:t>Blackwell 5th Gen Tensor Cores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5029200"/>
            <a:ext cx="3474720" cy="960120"/>
          </a:xfrm>
          <a:prstGeom prst="roundRect">
            <a:avLst/>
          </a:prstGeom>
          <a:solidFill>
            <a:srgbClr val="151821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spcAft>
                <a:spcPts val="300"/>
              </a:spcAft>
              <a:defRPr sz="850" b="1">
                <a:solidFill>
                  <a:srgbClr val="FF4D4D"/>
                </a:solidFill>
              </a:defRPr>
            </a:pPr>
            <a:r>
              <a:t>ПАРАДОКС FPS</a:t>
            </a:r>
          </a:p>
          <a:p>
            <a:pPr>
              <a:defRPr sz="1200" b="1">
                <a:solidFill>
                  <a:srgbClr val="F9FAFB"/>
                </a:solidFill>
              </a:defRPr>
            </a:pPr>
            <a:r>
              <a:t>-50%..-70% чистої швидкодії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5029200"/>
            <a:ext cx="3474720" cy="960120"/>
          </a:xfrm>
          <a:prstGeom prst="roundRect">
            <a:avLst/>
          </a:prstGeom>
          <a:solidFill>
            <a:srgbClr val="151821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spcAft>
                <a:spcPts val="300"/>
              </a:spcAft>
              <a:defRPr sz="850" b="1">
                <a:solidFill>
                  <a:srgbClr val="FFAA00"/>
                </a:solidFill>
              </a:defRPr>
            </a:pPr>
            <a:r>
              <a:t>ПІКОВЕ ЖИВЛЕННЯ</a:t>
            </a:r>
          </a:p>
          <a:p>
            <a:pPr>
              <a:defRPr sz="1200" b="1">
                <a:solidFill>
                  <a:srgbClr val="F9FAFB"/>
                </a:solidFill>
              </a:defRPr>
            </a:pPr>
            <a:r>
              <a:t>До 802 Вт на кастомних GPU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NVIDIA DLSS 5 TECHNICAL REPORT • DECONSTRUCTION &amp; HARDWARE ANALYSIS  |  СЛАЙД 02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"/>
            <a:ext cx="2926080" cy="256032"/>
          </a:xfrm>
          <a:prstGeom prst="roundRect">
            <a:avLst/>
          </a:prstGeom>
          <a:solidFill>
            <a:srgbClr val="1C2230"/>
          </a:solidFill>
          <a:ln w="1270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900" b="1">
                <a:solidFill>
                  <a:srgbClr val="76B900"/>
                </a:solidFill>
              </a:defRPr>
            </a:pPr>
            <a:r>
              <a:t>●  АРХІТЕКТУРНИЙ ЗРІЗ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384048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50" b="1">
                <a:solidFill>
                  <a:srgbClr val="6B7280"/>
                </a:solidFill>
              </a:defRPr>
            </a:pPr>
            <a: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49808"/>
            <a:ext cx="1072865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9FAFB"/>
                </a:solidFill>
              </a:defRPr>
            </a:pPr>
            <a:r>
              <a:t>Еволюція бренду DLSS: Від масштабування пікселів до генерації світла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81328"/>
            <a:ext cx="10728655" cy="13716"/>
          </a:xfrm>
          <a:prstGeom prst="rect">
            <a:avLst/>
          </a:prstGeom>
          <a:solidFill>
            <a:srgbClr val="26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2587752" cy="3749039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56232"/>
            <a:ext cx="2185416" cy="34198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76B900"/>
                </a:solidFill>
              </a:defRPr>
            </a:pPr>
            <a:r>
              <a:t>TEMPORAL UPSCALING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DLSS 2 (2020)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Рендер у зниженій роздільності (1080p -&gt; 4K).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Вектори руху (Motion Vectors) + аналіз історії кадрів.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Головний ефект: +50–100% чесного приросту FPS.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691640"/>
            <a:ext cx="2587752" cy="3749039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856232"/>
            <a:ext cx="2185416" cy="34198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76B900"/>
                </a:solidFill>
              </a:defRPr>
            </a:pPr>
            <a:r>
              <a:t>FRAME GENERATION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DLSS 3 (2022)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Оптичний потік (Optical Flow Accelerator Ada Lovelace).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AI-інтерполяція проміжних синтетичних кадрів.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Порятунок від важких упорів у процесор (CPU Bottleneck).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91640"/>
            <a:ext cx="2587752" cy="3749039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856232"/>
            <a:ext cx="2185416" cy="34198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00E5FF"/>
                </a:solidFill>
              </a:defRPr>
            </a:pPr>
            <a:r>
              <a:t>RAY RECONSTRUCTION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DLSS 3.5 (2023)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Заміна ручних евристичних денойзерів на CNN-модель.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Нейромережеве очищення шуму відбиття та променів.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Чіткі текстури й відблиски без суттєвої втрати швидкодії.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691640"/>
            <a:ext cx="2587752" cy="3749039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25128" y="1856232"/>
            <a:ext cx="2185416" cy="34198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FF4D4D"/>
                </a:solidFill>
              </a:defRPr>
            </a:pPr>
            <a:r>
              <a:t>3D-GUIDED NEURAL RENDER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DLSS 5 (2026)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Генеративна фізика світла замість апаратних променів.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Трансформер FP8 генерує Subsurface Scattering та тіні.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Шок для геймерів: Падіння нативного FPS на 50–70%!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77840"/>
            <a:ext cx="10728655" cy="685800"/>
          </a:xfrm>
          <a:prstGeom prst="roundRect">
            <a:avLst/>
          </a:prstGeom>
          <a:solidFill>
            <a:srgbClr val="1C2230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>
              <a:defRPr sz="950" b="1">
                <a:solidFill>
                  <a:srgbClr val="FFAA00"/>
                </a:solidFill>
              </a:defRPr>
            </a:pPr>
            <a:r>
              <a:t>ФУНДАМЕНТАЛЬНИЙ ЗСУВ ПАРАДИГМИ:</a:t>
            </a:r>
          </a:p>
          <a:p>
            <a:pPr>
              <a:defRPr sz="1050">
                <a:solidFill>
                  <a:srgbClr val="F9FAFB"/>
                </a:solidFill>
              </a:defRPr>
            </a:pPr>
            <a:r>
              <a:t>Раніше бренд DLSS сприймався як безкоштовний прискорювач FPS. DLSS 5 кардинально ламає цей стереотип: це надважкий нейрорендер, покликаний замінити неможливий апаратний Path Tracing.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NVIDIA DLSS 5 TECHNICAL REPORT • DECONSTRUCTION &amp; HARDWARE ANALYSIS  |  СЛАЙД 03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"/>
            <a:ext cx="2926080" cy="256032"/>
          </a:xfrm>
          <a:prstGeom prst="roundRect">
            <a:avLst/>
          </a:prstGeom>
          <a:solidFill>
            <a:srgbClr val="1C2230"/>
          </a:solidFill>
          <a:ln w="1270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900" b="1">
                <a:solidFill>
                  <a:srgbClr val="76B900"/>
                </a:solidFill>
              </a:defRPr>
            </a:pPr>
            <a:r>
              <a:t>●  ТЕХНОЛОГІЧНИЙ ПАЙПЛАЙН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384048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50" b="1">
                <a:solidFill>
                  <a:srgbClr val="6B7280"/>
                </a:solidFill>
              </a:defRPr>
            </a:pPr>
            <a:r>
              <a:t>SECTION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49808"/>
            <a:ext cx="1072865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9FAFB"/>
                </a:solidFill>
              </a:defRPr>
            </a:pPr>
            <a:r>
              <a:t>DLSS 5 під капотом: Як працює нейрорендер у реальному часі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81328"/>
            <a:ext cx="10728655" cy="13716"/>
          </a:xfrm>
          <a:prstGeom prst="rect">
            <a:avLst/>
          </a:prstGeom>
          <a:solidFill>
            <a:srgbClr val="26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502152" cy="457200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56232"/>
            <a:ext cx="3099816" cy="4242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76B900"/>
                </a:solidFill>
              </a:defRPr>
            </a:pPr>
            <a:r>
              <a:t>ОБЧИСЛЮВАЛЬНА ОСНОВА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Детермінованість та Швидкість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One-Step Feed-Forward: На відміну від повільних дифузійних моделей генерації відео, результат прораховується за 1 прямий прохід за 8 мс.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FP8 Квантування: Модель із 118–150 млн параметрів оптимізована під 5-те покоління тензорних ядер архітектури Blackwell.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100% Детермінованість: Один і той самий вхідний кадр гарантує математично ідентичний піксельний вихід, що виключає дрижання світла.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502152" cy="457200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56232"/>
            <a:ext cx="3099816" cy="4242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00E5FF"/>
                </a:solidFill>
              </a:defRPr>
            </a:pPr>
            <a:r>
              <a:t>ЗВ'ЯЗОК З РУШІЄМ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3D-Guided Каркас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Ground-Truth геометрія: Положення камери, полігони, глибина (Depth Buffer) та вектори руху надходять напряму з рушія (Rasterization).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Збереження фізики та хітбоксів: ШІ не вигадує об'єкти з нуля — він строго обмежений 3D-буферами гри.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Темпоральний трекінг: Модель знає переміщення кожного пікселя в просторі, що гарантує плавність між сусідніми кадрами.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91640"/>
            <a:ext cx="3502152" cy="457200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856232"/>
            <a:ext cx="3099816" cy="4242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76B900"/>
                </a:solidFill>
              </a:defRPr>
            </a:pPr>
            <a:r>
              <a:t>ГЕНЕРАТИВНЕ СВІТЛО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Що саме синтезує нейромережа?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Subsurface Scattering (SSS): Нейромережа відтворює розсіювання світла крізь шкіру, вуха та листя, ніби прораховано мільярди фотонів.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Contact Shadows &amp; Ambient Occlusion: Глибокі анатомічні тіні у складках одягу та зморшках без шуму рейтрейсингу.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Складні матеріали: Модель навчена на спектрофотометричних базах взаємодії світла з вологими поверхнями, шкірою та металом.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NVIDIA DLSS 5 TECHNICAL REPORT • DECONSTRUCTION &amp; HARDWARE ANALYSIS  |  СЛАЙД 04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"/>
            <a:ext cx="2926080" cy="256032"/>
          </a:xfrm>
          <a:prstGeom prst="roundRect">
            <a:avLst/>
          </a:prstGeom>
          <a:solidFill>
            <a:srgbClr val="1C2230"/>
          </a:solidFill>
          <a:ln w="1270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900" b="1">
                <a:solidFill>
                  <a:srgbClr val="76B900"/>
                </a:solidFill>
              </a:defRPr>
            </a:pPr>
            <a:r>
              <a:t>●  БЕНЧМАРКИ ТА РЕСУРСИ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384048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50" b="1">
                <a:solidFill>
                  <a:srgbClr val="6B7280"/>
                </a:solidFill>
              </a:defRPr>
            </a:pPr>
            <a:r>
              <a:t>SECTION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49808"/>
            <a:ext cx="1072865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9FAFB"/>
                </a:solidFill>
              </a:defRPr>
            </a:pPr>
            <a:r>
              <a:t>Парадокс продуктивності: Чому графіка вимагає до 800 Вт?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81328"/>
            <a:ext cx="10728655" cy="13716"/>
          </a:xfrm>
          <a:prstGeom prst="rect">
            <a:avLst/>
          </a:prstGeom>
          <a:solidFill>
            <a:srgbClr val="26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474720" cy="192024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56232"/>
            <a:ext cx="3108960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3400" b="1">
                <a:solidFill>
                  <a:srgbClr val="FF4D4D"/>
                </a:solidFill>
              </a:defRPr>
            </a:pPr>
            <a:r>
              <a:t>-55% .. -70%</a:t>
            </a:r>
          </a:p>
          <a:p>
            <a:pPr>
              <a:spcAft>
                <a:spcPts val="600"/>
              </a:spcAft>
              <a:defRPr sz="1000" b="1">
                <a:solidFill>
                  <a:srgbClr val="F9FAFB"/>
                </a:solidFill>
              </a:defRPr>
            </a:pPr>
            <a:r>
              <a:t>ПАДІННЯ ЧИСТОГО FPS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Тести у NBA 2K27, Where Winds Meet та Cyberpunk без увімкнення генерації кадрів.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474720" cy="192024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56232"/>
            <a:ext cx="3108960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3400" b="1">
                <a:solidFill>
                  <a:srgbClr val="FFAA00"/>
                </a:solidFill>
              </a:defRPr>
            </a:pPr>
            <a:r>
              <a:t>192 -&gt; 98 FPS</a:t>
            </a:r>
          </a:p>
          <a:p>
            <a:pPr>
              <a:spcAft>
                <a:spcPts val="600"/>
              </a:spcAft>
              <a:defRPr sz="1000" b="1">
                <a:solidFill>
                  <a:srgbClr val="F9FAFB"/>
                </a:solidFill>
              </a:defRPr>
            </a:pPr>
            <a:r>
              <a:t>RTX 5090 У 4K ULTRA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Навіть флагман за $2000 втрачає майже половину швидкодії; RTX 5070 падає до критичних 33 FPS.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691640"/>
            <a:ext cx="3502152" cy="192024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856232"/>
            <a:ext cx="3136392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3400" b="1">
                <a:solidFill>
                  <a:srgbClr val="FF4D4D"/>
                </a:solidFill>
              </a:defRPr>
            </a:pPr>
            <a:r>
              <a:t>720–802 Вт</a:t>
            </a:r>
          </a:p>
          <a:p>
            <a:pPr>
              <a:spcAft>
                <a:spcPts val="600"/>
              </a:spcAft>
              <a:defRPr sz="1000" b="1">
                <a:solidFill>
                  <a:srgbClr val="F9FAFB"/>
                </a:solidFill>
              </a:defRPr>
            </a:pPr>
            <a:r>
              <a:t>ПІКОВЕ СПОЖИВАННЯ GPU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Тензорні ядра під 100% навантаженням; екстремальні сплески живлення на платах рівня MSI Lightning 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257800" cy="246888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59352"/>
            <a:ext cx="4855464" cy="2139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FF4D4D"/>
                </a:solidFill>
              </a:defRPr>
            </a:pPr>
            <a:r>
              <a:t>АПАРАТНІ ОБМЕЖЕННЯ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Бюджетний сегмент і криза VRAM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RTX 5060 (8GB / 12GB): Стикається з катастрофічним переповненням VRAM (Out of Memory) вже у 1440p.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Вага моделі в пам'яті: Розпаковані ваги нейромережі, кеш активностей та 4K буфери вимагають від 6 до 9 ГБ виключно для DLSS 5.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Висновок: Для комфортної гри потрібні карти рівня RTX 5080/5090 з мінімум 16–24 ГБ пам'яті.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94760"/>
            <a:ext cx="5242255" cy="246888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959352"/>
            <a:ext cx="4839919" cy="2139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76B900"/>
                </a:solidFill>
              </a:defRPr>
            </a:pPr>
            <a:r>
              <a:t>ІНЖЕНЕРНИЙ ЗАХИСТ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Чому це все одно вважають тріумфом?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Альтернатива — Чесний Path Tracing: Прорахунок аналогічної оптичної глибини класичним методом трасування шляху посадив би RTX 5090 до 8–12 FPS.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Економія обчислень у 10 разів: Нейромережа апроксимує фізику фотонів експоненційно швидше, ніж симуляція кожного променя.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Нова ієрархія: Гравець обирає не 'більше FPS', а 'кінематографічну якість нового покоління'.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NVIDIA DLSS 5 TECHNICAL REPORT • DECONSTRUCTION &amp; HARDWARE ANALYSIS  |  СЛАЙД 05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"/>
            <a:ext cx="2926080" cy="256032"/>
          </a:xfrm>
          <a:prstGeom prst="roundRect">
            <a:avLst/>
          </a:prstGeom>
          <a:solidFill>
            <a:srgbClr val="1C2230"/>
          </a:solidFill>
          <a:ln w="1270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900" b="1">
                <a:solidFill>
                  <a:srgbClr val="76B900"/>
                </a:solidFill>
              </a:defRPr>
            </a:pPr>
            <a:r>
              <a:t>●  ДЕФЕКТИ ЗОБРАЖЕННЯ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384048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50" b="1">
                <a:solidFill>
                  <a:srgbClr val="6B7280"/>
                </a:solidFill>
              </a:defRPr>
            </a:pPr>
            <a:r>
              <a:t>SECTION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49808"/>
            <a:ext cx="1072865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9FAFB"/>
                </a:solidFill>
              </a:defRPr>
            </a:pPr>
            <a:r>
              <a:t>Хроніка дефектів: Від «мила» до воскової шкіри та «AI Slop»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81328"/>
            <a:ext cx="10728655" cy="13716"/>
          </a:xfrm>
          <a:prstGeom prst="rect">
            <a:avLst/>
          </a:prstGeom>
          <a:solidFill>
            <a:srgbClr val="26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502152" cy="457200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56232"/>
            <a:ext cx="3099816" cy="4242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FF4D4D"/>
                </a:solidFill>
              </a:defRPr>
            </a:pPr>
            <a:r>
              <a:t>ЕПОХА «МИЛА І ВАЗЕЛІНУ»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DLSS 1.0 (2018–2019)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Статичне навчання: Модель тренувалася індивідуально під кожну окрему гру.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Провал у динаміці: Невміння працювати з векторами руху призводило до змазування текстур.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Візуальний ефект: Картинка виглядала так, ніби екран натерли жиром; дрібний шрифт та сітки розмивалися.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502152" cy="457200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56232"/>
            <a:ext cx="3099816" cy="4242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FFAA00"/>
                </a:solidFill>
              </a:defRPr>
            </a:pPr>
            <a:r>
              <a:t>GHOSTING ТА ТРЕМТІННЯ HUD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DLSS 2 &amp; 3 (2020–2023)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Ghosting: Темні напівпрозорі шлейфи за рухомими об'єктами (приціли зброї, птахи, колеса болідів).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Disocclusion: Артефакти піксельної каші при різкій появі нових об'єктів з-за перешкод.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Конфлікт інтерфейсу: Генератор кадрів плутав статичний HUD із 3D-сценою, спричиняючи тремтіння прицілу.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91640"/>
            <a:ext cx="3502152" cy="457200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856232"/>
            <a:ext cx="3099816" cy="4242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FF4D4D"/>
                </a:solidFill>
              </a:defRPr>
            </a:pPr>
            <a:r>
              <a:t>ВОСКОВІ ОБЛИЧЧЯ ТА AI-ГЛАМУР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DLSS 5 (2026)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Ефект Б'юті-фільтра: Модель натягує фотографічний глянець на всіх підряд, знищуючи бруд і пори.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Uncanny Valley: Гіперреалістична фотошкіра у поєднанні зі спрощеними скелетними анімаціями лякає мозок.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Надлишковий шум рефлексів: Поява яскравих відблисків і вологості там, де сцена задумувалася матовою і суровою.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NVIDIA DLSS 5 TECHNICAL REPORT • DECONSTRUCTION &amp; HARDWARE ANALYSIS  |  СЛАЙД 06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"/>
            <a:ext cx="2926080" cy="256032"/>
          </a:xfrm>
          <a:prstGeom prst="roundRect">
            <a:avLst/>
          </a:prstGeom>
          <a:solidFill>
            <a:srgbClr val="1C2230"/>
          </a:solidFill>
          <a:ln w="1270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900" b="1">
                <a:solidFill>
                  <a:srgbClr val="76B900"/>
                </a:solidFill>
              </a:defRPr>
            </a:pPr>
            <a:r>
              <a:t>●  КОНФЛІКТ АРТУ ТА ШІ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384048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50" b="1">
                <a:solidFill>
                  <a:srgbClr val="6B7280"/>
                </a:solidFill>
              </a:defRPr>
            </a:pPr>
            <a:r>
              <a:t>SECTION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49808"/>
            <a:ext cx="1072865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9FAFB"/>
                </a:solidFill>
              </a:defRPr>
            </a:pPr>
            <a:r>
              <a:t>Кейс Capcom: Конфлікт розробників Resident Evil та «AI-макіяжу»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81328"/>
            <a:ext cx="10728655" cy="13716"/>
          </a:xfrm>
          <a:prstGeom prst="rect">
            <a:avLst/>
          </a:prstGeom>
          <a:solidFill>
            <a:srgbClr val="26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57800" cy="356616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56232"/>
            <a:ext cx="4855464" cy="3236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FF4D4D"/>
                </a:solidFill>
              </a:defRPr>
            </a:pPr>
            <a:r>
              <a:t>СКАНДАЛ В ІНДУСТРІЇ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Інцидент на показі Resident Evil Requiem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Неузгоджене промо: NVIDIA використала білд майбутньої гри Capcom для демонстрації фотореалістичного рендерингу людської шкіри.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Шок розробників: Художники Capcom були обурені, побачивши героїню Грейс із 'гламурним ботоксом' замість виснаженого, вкритого потом і пилом обличчя жертви.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Хвиля критики на YouTube: Оглядачі випустили сотні роликів із порівняннями, охрестивши результат 'Hollywood AI Slop'.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Падіння довіри інвесторів: Студії довелося випускати окремий прес-реліз із поясненням своєї політики застосування ШІ.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42255" cy="356616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56232"/>
            <a:ext cx="4839919" cy="3236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00E5FF"/>
                </a:solidFill>
              </a:defRPr>
            </a:pPr>
            <a:r>
              <a:t>ТЕХНІЧНЕ РІШЕННЯ ТА РИЗИКИ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Компроміси SDK: Як повертають контроль авторам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Повзунки Structure &amp; Tone Intensity: Розробники отримали можливість обмежити вплив нейромережі до 30–50%, зберігаючи первинні текстури рушія.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Селективні маски виключення (Exclusion Masks): Дозвіл рендерити оточення через DLSS 5, але залишати обличчя персонажів нативними.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Проблема лінивого впровадження: Чи захочуть звичайні ігрові студії витрачати час на точне ручне налаштування цих масок для кожної сцени?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Загроза стилізованим іграм: Що робити проєктам на кшталт Dishonored або Valheim, чий шарм базується на навмисній грубості арту?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1C2230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>
              <a:defRPr sz="950" b="1">
                <a:solidFill>
                  <a:srgbClr val="FFAA00"/>
                </a:solidFill>
              </a:defRPr>
            </a:pPr>
            <a:r>
              <a:t>КЛЮЧОВЕ ПИТАННЯ ДИЗАЙНУ:</a:t>
            </a:r>
          </a:p>
          <a:p>
            <a:pPr>
              <a:defRPr sz="1100">
                <a:solidFill>
                  <a:srgbClr val="F9FAFB"/>
                </a:solidFill>
              </a:defRPr>
            </a:pPr>
            <a:r>
              <a:t>«Коли алгоритм вирішує, як має виглядати світло на обличчі героя — авторство візуалу більше не належить арт-директору гри. Воно належить датасету, на якому NVIDIA навчала свою модель.»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NVIDIA DLSS 5 TECHNICAL REPORT • DECONSTRUCTION &amp; HARDWARE ANALYSIS  |  СЛАЙД 07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"/>
            <a:ext cx="2926080" cy="256032"/>
          </a:xfrm>
          <a:prstGeom prst="roundRect">
            <a:avLst/>
          </a:prstGeom>
          <a:solidFill>
            <a:srgbClr val="1C2230"/>
          </a:solidFill>
          <a:ln w="1270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900" b="1">
                <a:solidFill>
                  <a:srgbClr val="76B900"/>
                </a:solidFill>
              </a:defRPr>
            </a:pPr>
            <a:r>
              <a:t>●  ПРОГРАМНЕ ЗАБЕЗПЕЧЕННЯ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384048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50" b="1">
                <a:solidFill>
                  <a:srgbClr val="6B7280"/>
                </a:solidFill>
              </a:defRPr>
            </a:pPr>
            <a:r>
              <a:t>SECTION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49808"/>
            <a:ext cx="1072865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9FAFB"/>
                </a:solidFill>
              </a:defRPr>
            </a:pPr>
            <a:r>
              <a:t>Еволюція драйверів: Від транслятора API до важкого AI-комбайна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81328"/>
            <a:ext cx="10728655" cy="13716"/>
          </a:xfrm>
          <a:prstGeom prst="rect">
            <a:avLst/>
          </a:prstGeom>
          <a:solidFill>
            <a:srgbClr val="26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502152" cy="457200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56232"/>
            <a:ext cx="3099816" cy="4242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76B900"/>
                </a:solidFill>
              </a:defRPr>
            </a:pPr>
            <a:r>
              <a:t>АРХІТЕКТУРА СОФТУ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Трансформація ролі драйвера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2000-ні роки (~30 МБ): Пасивний інтерпретатор команд DirectX / OpenGL у низькорівневі інструкції GPU.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2010-ті роки (~300 МБ): Епоха Game Ready. Інженери NVIDIA вручну латали помилки кривого коду ігрових студій під кожен великий реліз.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2026 рік (&gt;850 МБ): Драйвер як автономна AI-платформа з контейнерами ваг моделей, планувальником VRAM під локальні LLM та підтримкою RTX Spark.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502152" cy="457200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56232"/>
            <a:ext cx="3099816" cy="4242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FF4D4D"/>
                </a:solidFill>
              </a:defRPr>
            </a:pPr>
            <a:r>
              <a:t>ЯКІСТЬ РЕЛІЗІВ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Криза гілки 617.xx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Маркетинговий обман: У драйвері 617.42 три з п'яти заявлених 'Game Ready' ігор не отримали жодної нової оптимізаційної стрічки в бінарниках.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Хронічний Flicker-баг: Мерехтіння високогерцових дисплеїв (G-Sync) та збої режиму енергозбереження ігноруються місяцями.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Невдоволення ком'юніті: Геймери масово відкочуються на стабільні старі гілки 580.xx.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91640"/>
            <a:ext cx="3502152" cy="457200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856232"/>
            <a:ext cx="3099816" cy="4242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FFAA00"/>
                </a:solidFill>
              </a:defRPr>
            </a:pPr>
            <a:r>
              <a:t>КОРПОРАТИВНІ ПРІОРИТЕТИ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Куди змістився фокус NVIDIA?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Трильйонна капіталізація: Основний прибуток компанії генерують серверні прискорювачі B200 / Vera Rubin для тренування ШІ гігантів.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Геймери на другому плані: ПЗ для звичайних відеокарт розробляється за залишковим принципом команд підтримки.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Пріоритет мобільного ШІ: Зусилля зосереджені на ноутбуках з локальними AI-агентами та хмарному сервісі GeForce NOW.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NVIDIA DLSS 5 TECHNICAL REPORT • DECONSTRUCTION &amp; HARDWARE ANALYSIS  |  СЛАЙД 08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"/>
            <a:ext cx="2926080" cy="256032"/>
          </a:xfrm>
          <a:prstGeom prst="roundRect">
            <a:avLst/>
          </a:prstGeom>
          <a:solidFill>
            <a:srgbClr val="1C2230"/>
          </a:solidFill>
          <a:ln w="1270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900" b="1">
                <a:solidFill>
                  <a:srgbClr val="76B900"/>
                </a:solidFill>
              </a:defRPr>
            </a:pPr>
            <a:r>
              <a:t>●  ФІЛОСОФІЯ ТА ГЕЙМДЕВ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384048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50" b="1">
                <a:solidFill>
                  <a:srgbClr val="6B7280"/>
                </a:solidFill>
              </a:defRPr>
            </a:pPr>
            <a:r>
              <a:t>SECTION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49808"/>
            <a:ext cx="1072865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9FAFB"/>
                </a:solidFill>
              </a:defRPr>
            </a:pPr>
            <a:r>
              <a:t>Критика індустрії: Лінь розробників чи фізичний глухий кут кремнію?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81328"/>
            <a:ext cx="10728655" cy="13716"/>
          </a:xfrm>
          <a:prstGeom prst="rect">
            <a:avLst/>
          </a:prstGeom>
          <a:solidFill>
            <a:srgbClr val="26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57800" cy="448056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56232"/>
            <a:ext cx="4855464" cy="4151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FF4D4D"/>
                </a:solidFill>
              </a:defRPr>
            </a:pPr>
            <a:r>
              <a:t>СИСТЕМНА КРИЗА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«Милиця» замість класичної оптимізації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Хронічна хвороба релізів: Ігри виходять у стані альфа-версій, бо видавці закладають увімкнений DLSS та Frame Gen у 'рекомендовані системні вимоги'.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Скорочення QA та інженерів рушіїв: Оптимізацію пропускної здатності та алокації пам'яті перекладають на плечі тензорних ядер користувача.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Ціна розробки: Класична ручна оптимізація під десятки конфігурацій коштує мільйони доларів і місяці роботи, тоді як інтеграція DLSS SDK займає лічені тижні.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Результат: Графіка не стає кращою пропорційно зростанню системних вимог.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42255" cy="448056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56232"/>
            <a:ext cx="4839919" cy="4151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00E5FF"/>
                </a:solidFill>
              </a:defRPr>
            </a:pPr>
            <a:r>
              <a:t>ФІЗИКА ТА РИНКОВА РЕАЛЬНІСТЬ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Фізичний глухий кут: Закон Мура вперся в стіну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Кінець дешевих нанометрів: Зменшення транзисторів стало шалено дорогим, а тепловідведення вперлося в бар'єр 600–800 Вт.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Чистих терафлопсів більше не вистачає: Традиційний растровий конвеєр вичерпав можливості масштабування геометричної складності.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ШІ як безальтернативне майбутнє: Як зазначив Дженсен Хуанг, обчислювальна графіка без нейромережевої інтерполяції більше не може розвиватися.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Неминучість компромісу: Геймерам доведеться змиритися з тим, що кожен новий візуальний прорив буде частково 'згенерованим'.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NVIDIA DLSS 5 TECHNICAL REPORT • DECONSTRUCTION &amp; HARDWARE ANALYSIS  |  СЛАЙД 09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"/>
            <a:ext cx="2926080" cy="256032"/>
          </a:xfrm>
          <a:prstGeom prst="roundRect">
            <a:avLst/>
          </a:prstGeom>
          <a:solidFill>
            <a:srgbClr val="1C2230"/>
          </a:solidFill>
          <a:ln w="1270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900" b="1">
                <a:solidFill>
                  <a:srgbClr val="76B900"/>
                </a:solidFill>
              </a:defRPr>
            </a:pPr>
            <a:r>
              <a:t>●  COMMUNITY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384048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50" b="1">
                <a:solidFill>
                  <a:srgbClr val="6B7280"/>
                </a:solidFill>
              </a:defRPr>
            </a:pPr>
            <a:r>
              <a:t>SECTION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49808"/>
            <a:ext cx="1072865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9FAFB"/>
                </a:solidFill>
              </a:defRPr>
            </a:pPr>
            <a:r>
              <a:t>Спільнота бере контроль: Модинг ReShade та інжекція DLSS 5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81328"/>
            <a:ext cx="10728655" cy="13716"/>
          </a:xfrm>
          <a:prstGeom prst="rect">
            <a:avLst/>
          </a:prstGeom>
          <a:solidFill>
            <a:srgbClr val="26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57800" cy="448056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56232"/>
            <a:ext cx="4855464" cy="4151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76B900"/>
                </a:solidFill>
              </a:defRPr>
            </a:pPr>
            <a:r>
              <a:t>РЕВЕРС-ІНЖИНІРИНГ ТА ПРОРИВ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Витік бібліотек та народні модифікації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Серпневий витік бібліотеки 2026: Ентузіасти отримали бінарні модулі nv_dlss5_nr.dll і розпочали реверс-інжиніринг.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Аддони для ReShade 6.8+ та RenDX (RenoDX): Створено фреймворки Addon 5NR та 8.5 Alpha для інжекції моделі у проєкти без нативної підтримки.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Тріумф у культових іграх: Технологію успішно впровадили в The Witcher 3, Cyberpunk 2077, Control, Hogwarts Legacy та S.T.A.L.K.E.R. 2.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Запуск на застарілому залізі: Модери змогли завести нейрорендер навіть на базі RTX 2070 під ОС Linux через емуляційний шар Proton.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42255" cy="448056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56232"/>
            <a:ext cx="4839919" cy="4151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00E5FF"/>
                </a:solidFill>
              </a:defRPr>
            </a:pPr>
            <a:r>
              <a:t>ФАНАТСЬКІ ІННОВАЦІЇ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Гнучкість, яку NVIDIA відмовилася надати офіційно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Resolution Scale моделі (60–75%): Зниження внутрішньої роздільності нейромережі повертає стабільні 60 FPS на картах середнього класу.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Захист інтерфейсу (Keep HUD Mask): Моддери ізолювали шар статичного інтерфейсу, повністю ліквідувавши артефакти розмиття прицілу та карти.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Стилістичні пресети: Перемикання режимів (Grim Realistic, Natural Film, Pure Path Tracing) для збереження автентичного арту гри.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Головний урок: Коли контроль над алгоритмами передають у руки гравців, зникає ефект «AI Slop» і народжується шедевр.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NVIDIA DLSS 5 TECHNICAL REPORT • DECONSTRUCTION &amp; HARDWARE ANALYSIS  |  СЛАЙД 10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"/>
            <a:ext cx="2926080" cy="256032"/>
          </a:xfrm>
          <a:prstGeom prst="roundRect">
            <a:avLst/>
          </a:prstGeom>
          <a:solidFill>
            <a:srgbClr val="1C2230"/>
          </a:solidFill>
          <a:ln w="1270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900" b="1">
                <a:solidFill>
                  <a:srgbClr val="76B900"/>
                </a:solidFill>
              </a:defRPr>
            </a:pPr>
            <a:r>
              <a:t>●  ЗАКЛЮЧНА ЧАСТИНА &amp; ДИСКУСІЯ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384048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50" b="1">
                <a:solidFill>
                  <a:srgbClr val="6B7280"/>
                </a:solidFill>
              </a:defRPr>
            </a:pPr>
            <a:r>
              <a:t>SECTION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49808"/>
            <a:ext cx="1072865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9FAFB"/>
                </a:solidFill>
              </a:defRPr>
            </a:pPr>
            <a:r>
              <a:t>Підсумок: Майбутнє комп'ютерної графіки та відкриті запитання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81328"/>
            <a:ext cx="10728655" cy="13716"/>
          </a:xfrm>
          <a:prstGeom prst="rect">
            <a:avLst/>
          </a:prstGeom>
          <a:solidFill>
            <a:srgbClr val="26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57800" cy="3749039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56232"/>
            <a:ext cx="4855464" cy="34198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76B900"/>
                </a:solidFill>
              </a:defRPr>
            </a:pPr>
            <a:r>
              <a:t>ГОРИЗОНТ ПОДІЙ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Головні виклики найближчих років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1. Головний краш-тест — Реліз GTA VI на ПК: Чи впорається нейрорендер із динамічним тропічним сонцем Вайс-Сіті, складною водою та щільним трафіком без артефактів?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2. Відповідь конкурентів: Очікується дебют AMD FSR 5 (проєкт Scarlet Cortex) на базі нейронних блоків архітектури RDNA 5.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3. Перехід від формул до статистики: Комп'ютерна графіка більше ніколи не повернеться до чистого детермінованого розрахунку фотонів.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42255" cy="3749039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56232"/>
            <a:ext cx="4839919" cy="34198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FFAA00"/>
                </a:solidFill>
              </a:defRPr>
            </a:pPr>
            <a:r>
              <a:t>ПИТАННЯ ДЛЯ ЗАЛУ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</a:defRPr>
            </a:pPr>
            <a:r>
              <a:t>Запитання для дискусії з аудиторією (Q&amp;A)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Питання №1 (Геймерський прагматизм):</a:t>
            </a:r>
            <a:br/>
            <a:r>
              <a:t>«Чи готові ви особисто пожертвувати 50% чистого FPS та змиритися з 800 Вт споживання заради кінематографічної фізики світла на обличчях персонажів?»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Питання №2 (Етика мистецтва та авторства):</a:t>
            </a:r>
            <a:br/>
            <a:r>
              <a:t>«Якщо фінальні пікселі формуються нейромережею на основі фотографій — кому насправді належить візуальний стиль гри: художнику чи алгоритму NVIDIA?»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77840"/>
            <a:ext cx="10728655" cy="685800"/>
          </a:xfrm>
          <a:prstGeom prst="roundRect">
            <a:avLst/>
          </a:prstGeom>
          <a:solidFill>
            <a:srgbClr val="1C223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28016"/>
          <a:lstStyle/>
          <a:p>
            <a:pPr algn="ctr">
              <a:defRPr sz="1200" b="1">
                <a:solidFill>
                  <a:srgbClr val="76B900"/>
                </a:solidFill>
              </a:defRPr>
            </a:pPr>
            <a:r>
              <a:t>ДЯКУЮ ЗА УВАГУ! ЗАПРОШУЮ ДО ЖИВОГО ОБГОВОРЕННЯ ТА ВІДПОВІДЕЙ НА ЗАПИТАННЯ.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